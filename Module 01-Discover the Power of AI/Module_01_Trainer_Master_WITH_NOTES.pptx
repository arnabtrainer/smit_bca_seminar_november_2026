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Purpose: position the programme as practical and approachable.
Suggested words: “AI is not only about coding or complicated robots. We will explore three things it can help us do: learn, create and build. You do not need prior technical knowledge to enjoy this introduction.”
Delivery: begin after the organiser's introduction. Avoid repeating the speaker biography.
Adaptation: use 'participants' rather than identifying a degree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OPENING INTERACTION
Ask: “How many of you have already used AI today—perhaps without noticing it?” Invite a quick show of hands, taking one example. Acknowledge ‘not sure’ as a valid answer.
If the audience is quiet, ask whether anyone watched recommended videos or checked travel time. Do not turn this into a long poll.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EVERYDAY EXAMPLES
Discuss the useful task rather than simply naming apps: recommendations suggest likely-relevant content; navigation predicts traffic and journey times; translation helps across languages.
Emphasise that these outputs can be wrong or unhelpful. Not every component of an app is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AUTOMATION VS AI
Use the contrast between fixed arithmetic instructions and trained pattern recognition. A calculator can compute without learning from examples. A trained classifier can infer likely spam from message features.
Avoid claiming all automatic technology is AI or that ML decisions are perfect. Invite one quick example of ordinary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CONCEPTUAL FOUNDATION
Definition: AI is the broad field. ML is an approach inside AI that learns patterns from data. Generative AI creates text, pictures, audio, video or code; most modern generative tools rely on ML.
Use a connected example: spam classification versus creating a summary of a message.
Avoid deep learning mathematics and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PROMISE OF THE WORKSHOP
“First we will turn information into learning resources, then turn an idea into a video, then see how an idea becomes a useful planner.”
Ask which area is most interesting. This is a quick show of hands, not a separate survey.
The build demonstration may use a pre-built result in shorter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PROMPT QUALITY
Explain that a prompt is a request to an AI system. More context, a precise task and the requested output shape often improve the response. They do not guarantee correctness.
Show vague versus clearer prompt. Emphasise clear communication rather than ‘secret magic keywords.’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LIVE DEMONSTRATION
Open the signed-in assistant in a clean browser window. Paste the full prompt from the public content file. Do only one generation.
Prompt: Explain the idea of an algorithm to someone with no programming background. Use planning a one-day trip. Give four sensible steps, a one-sentence definition and a question about a missed step. Use simple English, no code, fewer than 100 words.
Point out structured steps, plain wording and the check question. If connection is unavailable, go directly to the static illustrative plan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CRITICAL THINKING
Ask: “Does this plan contain everything you need? Which step would you improve?”
Expect route, travel time, destination hours, transport availability, safety, accessibility, weather, and budget.
Clarify the example is deliberately simplified and is not a factual travel prediction. The lesson is to review and refine, not blindly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RESPONSIBLE USE
Say: “Check important answers; protect private and confidential information; practise the skill yourself.”
For professionals, mention internal company data. For students, mention IDs and personal information. Keep spoken framing adapted to the audience, without changing slide text.
Never imply AI is always correct or that generating code removes the need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TRANSITION TO MODULE 2
Transition: “We have seen AI explain a familiar example. Now imagine asking questions about your own documents—and turning those documents into summaries, quizzes, mind maps and audio discussions. Let's explore that next.”
The next learning project uses Google's source-based notebook product (current docs call it Gemini Notebook, formerly NotebookLM). Test the name and UI ahead of the actual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Trainer-only readiness checklist. This slide is hidden from normal slideshow.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Trainer-only run-of-show options. Do not export to audience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details are provided as clickable URLs in Module_01_Trainer_Guide_PRIVATE.md and audience Markdown.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C"/>
        </a:solidFill>
      </p:bgPr>
    </p:bg>
    <p:spTree>
      <p:nvGrpSpPr>
        <p:cNvPr id="1" name=""/>
        <p:cNvGrpSpPr/>
        <p:nvPr/>
      </p:nvGrpSpPr>
      <p:grpSpPr>
        <a:xfrm>
          <a:off x="0" y="0"/>
          <a:ext cx="0" cy="0"/>
          <a:chOff x="0" y="0"/>
          <a:chExt cx="0" cy="0"/>
        </a:xfrm>
      </p:grpSpPr>
      <p:pic>
        <p:nvPicPr>
          <p:cNvPr id="2" name="Image 0" descr="/mnt/data/AI_in_Action_Module_1/visuals/hero.jp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1328">
              <a:alpha val="68000"/>
            </a:srgbClr>
          </a:solidFill>
          <a:ln w="12700">
            <a:solidFill>
              <a:srgbClr val="0B1328">
                <a:alpha val="0"/>
              </a:srgbClr>
            </a:solidFill>
            <a:prstDash val="solid"/>
          </a:ln>
        </p:spPr>
      </p:sp>
      <p:sp>
        <p:nvSpPr>
          <p:cNvPr id="4" name="Shape 1"/>
          <p:cNvSpPr/>
          <p:nvPr/>
        </p:nvSpPr>
        <p:spPr>
          <a:xfrm>
            <a:off x="0" y="0"/>
            <a:ext cx="7086600" cy="6858000"/>
          </a:xfrm>
          <a:prstGeom prst="rect">
            <a:avLst/>
          </a:prstGeom>
          <a:solidFill>
            <a:srgbClr val="0B1328">
              <a:alpha val="82000"/>
            </a:srgbClr>
          </a:solidFill>
          <a:ln w="12700">
            <a:solidFill>
              <a:srgbClr val="0B1328">
                <a:alpha val="0"/>
              </a:srgbClr>
            </a:solidFill>
            <a:prstDash val="solid"/>
          </a:ln>
        </p:spPr>
      </p:sp>
      <p:sp>
        <p:nvSpPr>
          <p:cNvPr id="5" name="Text 2"/>
          <p:cNvSpPr/>
          <p:nvPr/>
        </p:nvSpPr>
        <p:spPr>
          <a:xfrm>
            <a:off x="667512" y="448056"/>
            <a:ext cx="5120640" cy="365760"/>
          </a:xfrm>
          <a:prstGeom prst="rect">
            <a:avLst/>
          </a:prstGeom>
          <a:noFill/>
          <a:ln/>
        </p:spPr>
        <p:txBody>
          <a:bodyPr wrap="square" lIns="0" tIns="0" rIns="0" bIns="0" rtlCol="0" anchor="ctr">
            <a:normAutofit/>
          </a:bodyPr>
          <a:lstStyle/>
          <a:p>
            <a:pPr indent="0" marL="0">
              <a:buNone/>
            </a:pPr>
            <a:r>
              <a:rPr lang="en-US" sz="1400" b="1" spc="200" kern="0" dirty="0">
                <a:solidFill>
                  <a:srgbClr val="20DDC3"/>
                </a:solidFill>
                <a:latin typeface="Aptos" pitchFamily="34" charset="0"/>
                <a:ea typeface="Aptos" pitchFamily="34" charset="-122"/>
                <a:cs typeface="Aptos" pitchFamily="34" charset="-120"/>
              </a:rPr>
              <a:t>✦  AI IN ACTION</a:t>
            </a:r>
            <a:endParaRPr lang="en-US" sz="1400" dirty="0"/>
          </a:p>
        </p:txBody>
      </p:sp>
      <p:sp>
        <p:nvSpPr>
          <p:cNvPr id="6" name="Text 3"/>
          <p:cNvSpPr/>
          <p:nvPr/>
        </p:nvSpPr>
        <p:spPr>
          <a:xfrm>
            <a:off x="658368" y="1444752"/>
            <a:ext cx="9052560" cy="1828800"/>
          </a:xfrm>
          <a:prstGeom prst="rect">
            <a:avLst/>
          </a:prstGeom>
          <a:noFill/>
          <a:ln/>
        </p:spPr>
        <p:txBody>
          <a:bodyPr wrap="square" lIns="0" tIns="0" rIns="0" bIns="0" rtlCol="0" anchor="ctr">
            <a:normAutofit/>
          </a:bodyPr>
          <a:lstStyle/>
          <a:p>
            <a:pPr indent="0" marL="0">
              <a:buNone/>
            </a:pPr>
            <a:r>
              <a:rPr lang="en-US" sz="5200" b="1" dirty="0">
                <a:solidFill>
                  <a:srgbClr val="FFFFFF"/>
                </a:solidFill>
                <a:latin typeface="Aptos Display" pitchFamily="34" charset="0"/>
                <a:ea typeface="Aptos Display" pitchFamily="34" charset="-122"/>
                <a:cs typeface="Aptos Display" pitchFamily="34" charset="-120"/>
              </a:rPr>
              <a:t>Discover the</a:t>
            </a:r>
            <a:endParaRPr lang="en-US" sz="5200" dirty="0"/>
          </a:p>
          <a:p>
            <a:pPr indent="0" marL="0">
              <a:buNone/>
            </a:pPr>
            <a:r>
              <a:rPr lang="en-US" sz="5200" b="1" dirty="0">
                <a:solidFill>
                  <a:srgbClr val="FFFFFF"/>
                </a:solidFill>
                <a:latin typeface="Aptos Display" pitchFamily="34" charset="0"/>
                <a:ea typeface="Aptos Display" pitchFamily="34" charset="-122"/>
                <a:cs typeface="Aptos Display" pitchFamily="34" charset="-120"/>
              </a:rPr>
              <a:t>Power of AI</a:t>
            </a:r>
            <a:endParaRPr lang="en-US" sz="5200" dirty="0"/>
          </a:p>
        </p:txBody>
      </p:sp>
      <p:sp>
        <p:nvSpPr>
          <p:cNvPr id="7" name="Shape 4"/>
          <p:cNvSpPr/>
          <p:nvPr/>
        </p:nvSpPr>
        <p:spPr>
          <a:xfrm>
            <a:off x="704088" y="3685032"/>
            <a:ext cx="768096" cy="73152"/>
          </a:xfrm>
          <a:prstGeom prst="rect">
            <a:avLst>
              <a:gd name="adj" fmla="val 125000"/>
            </a:avLst>
          </a:prstGeom>
          <a:solidFill>
            <a:srgbClr val="20DDC3"/>
          </a:solidFill>
          <a:ln w="12700">
            <a:solidFill>
              <a:srgbClr val="20DDC3">
                <a:alpha val="0"/>
              </a:srgbClr>
            </a:solidFill>
            <a:prstDash val="solid"/>
          </a:ln>
        </p:spPr>
      </p:sp>
      <p:sp>
        <p:nvSpPr>
          <p:cNvPr id="8" name="Text 5"/>
          <p:cNvSpPr/>
          <p:nvPr/>
        </p:nvSpPr>
        <p:spPr>
          <a:xfrm>
            <a:off x="676656" y="4059936"/>
            <a:ext cx="8778240" cy="493776"/>
          </a:xfrm>
          <a:prstGeom prst="rect">
            <a:avLst/>
          </a:prstGeom>
          <a:noFill/>
          <a:ln/>
        </p:spPr>
        <p:txBody>
          <a:bodyPr wrap="square" lIns="0" tIns="0" rIns="0" bIns="0" rtlCol="0" anchor="ctr">
            <a:normAutofit/>
          </a:bodyPr>
          <a:lstStyle/>
          <a:p>
            <a:pPr indent="0" marL="0">
              <a:buNone/>
            </a:pPr>
            <a:r>
              <a:rPr lang="en-US" sz="2250" dirty="0">
                <a:solidFill>
                  <a:srgbClr val="DDE8FC"/>
                </a:solidFill>
                <a:latin typeface="Aptos" pitchFamily="34" charset="0"/>
                <a:ea typeface="Aptos" pitchFamily="34" charset="-122"/>
                <a:cs typeface="Aptos" pitchFamily="34" charset="-120"/>
              </a:rPr>
              <a:t>Artificial Intelligence in Everyday Life</a:t>
            </a:r>
            <a:endParaRPr lang="en-US" sz="2250" dirty="0"/>
          </a:p>
        </p:txBody>
      </p:sp>
      <p:sp>
        <p:nvSpPr>
          <p:cNvPr id="9" name="Text 6"/>
          <p:cNvSpPr/>
          <p:nvPr/>
        </p:nvSpPr>
        <p:spPr>
          <a:xfrm>
            <a:off x="704088" y="4956048"/>
            <a:ext cx="7955280" cy="585216"/>
          </a:xfrm>
          <a:prstGeom prst="rect">
            <a:avLst/>
          </a:prstGeom>
          <a:noFill/>
          <a:ln/>
        </p:spPr>
        <p:txBody>
          <a:bodyPr wrap="square" lIns="0" tIns="0" rIns="0" bIns="0" rtlCol="0" anchor="ctr">
            <a:normAutofit/>
          </a:bodyPr>
          <a:lstStyle/>
          <a:p>
            <a:pPr indent="0" marL="0">
              <a:buNone/>
            </a:pPr>
            <a:r>
              <a:rPr lang="en-US" sz="2350" b="1" dirty="0">
                <a:solidFill>
                  <a:srgbClr val="FFFFFF"/>
                </a:solidFill>
                <a:latin typeface="Aptos" pitchFamily="34" charset="0"/>
                <a:ea typeface="Aptos" pitchFamily="34" charset="-122"/>
                <a:cs typeface="Aptos" pitchFamily="34" charset="-120"/>
              </a:rPr>
              <a:t>Learn  •  Create  •  Build</a:t>
            </a:r>
            <a:endParaRPr lang="en-US" sz="2350" dirty="0"/>
          </a:p>
        </p:txBody>
      </p:sp>
      <p:sp>
        <p:nvSpPr>
          <p:cNvPr id="10" name="Text 7"/>
          <p:cNvSpPr/>
          <p:nvPr/>
        </p:nvSpPr>
        <p:spPr>
          <a:xfrm>
            <a:off x="713232" y="6291072"/>
            <a:ext cx="9144000" cy="292608"/>
          </a:xfrm>
          <a:prstGeom prst="rect">
            <a:avLst/>
          </a:prstGeom>
          <a:noFill/>
          <a:ln/>
        </p:spPr>
        <p:txBody>
          <a:bodyPr wrap="square" lIns="0" tIns="0" rIns="0" bIns="0" rtlCol="0" anchor="ctr">
            <a:normAutofit/>
          </a:bodyPr>
          <a:lstStyle/>
          <a:p>
            <a:pPr indent="0" marL="0">
              <a:buNone/>
            </a:pPr>
            <a:r>
              <a:rPr lang="en-US" sz="1240" b="1" spc="170" kern="0" dirty="0">
                <a:solidFill>
                  <a:srgbClr val="C8D9EE"/>
                </a:solidFill>
                <a:latin typeface="Aptos" pitchFamily="34" charset="0"/>
                <a:ea typeface="Aptos" pitchFamily="34" charset="-122"/>
                <a:cs typeface="Aptos" pitchFamily="34" charset="-120"/>
              </a:rPr>
              <a:t>EXPLORE  •  QUESTION  •  IMAGINE</a:t>
            </a:r>
            <a:endParaRPr lang="en-US" sz="12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p:bgPr>
    </p:bg>
    <p:spTree>
      <p:nvGrpSpPr>
        <p:cNvPr id="1" name=""/>
        <p:cNvGrpSpPr/>
        <p:nvPr/>
      </p:nvGrpSpPr>
      <p:grpSpPr>
        <a:xfrm>
          <a:off x="0" y="0"/>
          <a:ext cx="0" cy="0"/>
          <a:chOff x="0" y="0"/>
          <a:chExt cx="0" cy="0"/>
        </a:xfrm>
      </p:grpSpPr>
      <p:pic>
        <p:nvPicPr>
          <p:cNvPr id="2" name="Image 0" descr="/mnt/data/AI_in_Action_Module_1/visuals/poll.jp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6629400" cy="6858000"/>
          </a:xfrm>
          <a:prstGeom prst="rect">
            <a:avLst/>
          </a:prstGeom>
          <a:solidFill>
            <a:srgbClr val="0B1328">
              <a:alpha val="91000"/>
            </a:srgbClr>
          </a:solidFill>
          <a:ln w="12700">
            <a:solidFill>
              <a:srgbClr val="0B1328">
                <a:alpha val="0"/>
              </a:srgbClr>
            </a:solidFill>
            <a:prstDash val="solid"/>
          </a:ln>
        </p:spPr>
      </p:sp>
      <p:sp>
        <p:nvSpPr>
          <p:cNvPr id="4" name="Shape 1"/>
          <p:cNvSpPr/>
          <p:nvPr/>
        </p:nvSpPr>
        <p:spPr>
          <a:xfrm>
            <a:off x="5760720" y="0"/>
            <a:ext cx="1920240" cy="6858000"/>
          </a:xfrm>
          <a:prstGeom prst="rect">
            <a:avLst/>
          </a:prstGeom>
          <a:solidFill>
            <a:srgbClr val="0B1328">
              <a:alpha val="32000"/>
            </a:srgbClr>
          </a:solidFill>
          <a:ln w="12700">
            <a:solidFill>
              <a:srgbClr val="0B1328">
                <a:alpha val="0"/>
              </a:srgbClr>
            </a:solidFill>
            <a:prstDash val="solid"/>
          </a:ln>
        </p:spPr>
      </p:sp>
      <p:sp>
        <p:nvSpPr>
          <p:cNvPr id="5" name="Text 2"/>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FFFFFF"/>
                </a:solidFill>
                <a:latin typeface="Aptos" pitchFamily="34" charset="0"/>
                <a:ea typeface="Aptos" pitchFamily="34" charset="-122"/>
                <a:cs typeface="Aptos" pitchFamily="34" charset="-120"/>
              </a:rPr>
              <a:t>✦  AI IN ACTION</a:t>
            </a:r>
            <a:endParaRPr lang="en-US" sz="1250" dirty="0"/>
          </a:p>
        </p:txBody>
      </p:sp>
      <p:sp>
        <p:nvSpPr>
          <p:cNvPr id="6" name="Text 3"/>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C7D7ED"/>
                </a:solidFill>
                <a:latin typeface="Aptos" pitchFamily="34" charset="0"/>
                <a:ea typeface="Aptos" pitchFamily="34" charset="-122"/>
                <a:cs typeface="Aptos" pitchFamily="34" charset="-120"/>
              </a:rPr>
              <a:t>START WITH CURIOSITY</a:t>
            </a:r>
            <a:endParaRPr lang="en-US" sz="1080" dirty="0"/>
          </a:p>
        </p:txBody>
      </p:sp>
      <p:sp>
        <p:nvSpPr>
          <p:cNvPr id="7" name="Text 4"/>
          <p:cNvSpPr/>
          <p:nvPr/>
        </p:nvSpPr>
        <p:spPr>
          <a:xfrm>
            <a:off x="612648" y="1307592"/>
            <a:ext cx="6675120" cy="1417320"/>
          </a:xfrm>
          <a:prstGeom prst="rect">
            <a:avLst/>
          </a:prstGeom>
          <a:noFill/>
          <a:ln/>
        </p:spPr>
        <p:txBody>
          <a:bodyPr wrap="square" lIns="0" tIns="0" rIns="0" bIns="0" rtlCol="0" anchor="ctr">
            <a:normAutofit/>
          </a:bodyPr>
          <a:lstStyle/>
          <a:p>
            <a:pPr indent="0" marL="0">
              <a:buNone/>
            </a:pPr>
            <a:r>
              <a:rPr lang="en-US" sz="3950" b="1" dirty="0">
                <a:solidFill>
                  <a:srgbClr val="FFFFFF"/>
                </a:solidFill>
                <a:latin typeface="Aptos Display" pitchFamily="34" charset="0"/>
                <a:ea typeface="Aptos Display" pitchFamily="34" charset="-122"/>
                <a:cs typeface="Aptos Display" pitchFamily="34" charset="-120"/>
              </a:rPr>
              <a:t>Have you already</a:t>
            </a:r>
            <a:endParaRPr lang="en-US" sz="3950" dirty="0"/>
          </a:p>
          <a:p>
            <a:pPr indent="0" marL="0">
              <a:buNone/>
            </a:pPr>
            <a:r>
              <a:rPr lang="en-US" sz="3950" b="1" dirty="0">
                <a:solidFill>
                  <a:srgbClr val="FFFFFF"/>
                </a:solidFill>
                <a:latin typeface="Aptos Display" pitchFamily="34" charset="0"/>
                <a:ea typeface="Aptos Display" pitchFamily="34" charset="-122"/>
                <a:cs typeface="Aptos Display" pitchFamily="34" charset="-120"/>
              </a:rPr>
              <a:t>used AI today?</a:t>
            </a:r>
            <a:endParaRPr lang="en-US" sz="3950" dirty="0"/>
          </a:p>
        </p:txBody>
      </p:sp>
      <p:sp>
        <p:nvSpPr>
          <p:cNvPr id="8" name="Text 5"/>
          <p:cNvSpPr/>
          <p:nvPr/>
        </p:nvSpPr>
        <p:spPr>
          <a:xfrm>
            <a:off x="640080" y="2980944"/>
            <a:ext cx="6126480" cy="548640"/>
          </a:xfrm>
          <a:prstGeom prst="rect">
            <a:avLst/>
          </a:prstGeom>
          <a:noFill/>
          <a:ln/>
        </p:spPr>
        <p:txBody>
          <a:bodyPr wrap="square" lIns="0" tIns="0" rIns="0" bIns="0" rtlCol="0" anchor="ctr">
            <a:normAutofit/>
          </a:bodyPr>
          <a:lstStyle/>
          <a:p>
            <a:pPr indent="0" marL="0">
              <a:buNone/>
            </a:pPr>
            <a:r>
              <a:rPr lang="en-US" sz="2100" dirty="0">
                <a:solidFill>
                  <a:srgbClr val="D9E9F7"/>
                </a:solidFill>
                <a:latin typeface="Aptos" pitchFamily="34" charset="0"/>
                <a:ea typeface="Aptos" pitchFamily="34" charset="-122"/>
                <a:cs typeface="Aptos" pitchFamily="34" charset="-120"/>
              </a:rPr>
              <a:t>Perhaps without even noticing it?</a:t>
            </a:r>
            <a:endParaRPr lang="en-US" sz="2100" dirty="0"/>
          </a:p>
        </p:txBody>
      </p:sp>
      <p:sp>
        <p:nvSpPr>
          <p:cNvPr id="9" name="Shape 6"/>
          <p:cNvSpPr/>
          <p:nvPr/>
        </p:nvSpPr>
        <p:spPr>
          <a:xfrm>
            <a:off x="658368" y="4151376"/>
            <a:ext cx="1280160" cy="429768"/>
          </a:xfrm>
          <a:prstGeom prst="roundRect">
            <a:avLst>
              <a:gd name="adj" fmla="val 21277"/>
            </a:avLst>
          </a:prstGeom>
          <a:solidFill>
            <a:srgbClr val="20DDC3"/>
          </a:solidFill>
          <a:ln w="12700">
            <a:solidFill>
              <a:srgbClr val="20DDC3">
                <a:alpha val="0"/>
              </a:srgbClr>
            </a:solidFill>
            <a:prstDash val="solid"/>
          </a:ln>
        </p:spPr>
      </p:sp>
      <p:sp>
        <p:nvSpPr>
          <p:cNvPr id="10" name="Text 7"/>
          <p:cNvSpPr/>
          <p:nvPr/>
        </p:nvSpPr>
        <p:spPr>
          <a:xfrm>
            <a:off x="749808" y="4206240"/>
            <a:ext cx="1097280" cy="301752"/>
          </a:xfrm>
          <a:prstGeom prst="rect">
            <a:avLst/>
          </a:prstGeom>
          <a:noFill/>
          <a:ln/>
        </p:spPr>
        <p:txBody>
          <a:bodyPr wrap="square" lIns="0" tIns="0" rIns="0" bIns="0" rtlCol="0" anchor="ctr">
            <a:normAutofit/>
          </a:bodyPr>
          <a:lstStyle/>
          <a:p>
            <a:pPr algn="ctr" indent="0" marL="0">
              <a:buNone/>
            </a:pPr>
            <a:r>
              <a:rPr lang="en-US" sz="1350" b="1" dirty="0">
                <a:solidFill>
                  <a:srgbClr val="111B33"/>
                </a:solidFill>
                <a:latin typeface="Aptos" pitchFamily="34" charset="0"/>
                <a:ea typeface="Aptos" pitchFamily="34" charset="-122"/>
                <a:cs typeface="Aptos" pitchFamily="34" charset="-120"/>
              </a:rPr>
              <a:t>YES</a:t>
            </a:r>
            <a:endParaRPr lang="en-US" sz="1350" dirty="0"/>
          </a:p>
        </p:txBody>
      </p:sp>
      <p:sp>
        <p:nvSpPr>
          <p:cNvPr id="11" name="Shape 8"/>
          <p:cNvSpPr/>
          <p:nvPr/>
        </p:nvSpPr>
        <p:spPr>
          <a:xfrm>
            <a:off x="2084832" y="4151376"/>
            <a:ext cx="1600200" cy="429768"/>
          </a:xfrm>
          <a:prstGeom prst="roundRect">
            <a:avLst>
              <a:gd name="adj" fmla="val 21277"/>
            </a:avLst>
          </a:prstGeom>
          <a:solidFill>
            <a:srgbClr val="F5E4BD"/>
          </a:solidFill>
          <a:ln w="12700">
            <a:solidFill>
              <a:srgbClr val="F5E4BD">
                <a:alpha val="0"/>
              </a:srgbClr>
            </a:solidFill>
            <a:prstDash val="solid"/>
          </a:ln>
        </p:spPr>
      </p:sp>
      <p:sp>
        <p:nvSpPr>
          <p:cNvPr id="12" name="Text 9"/>
          <p:cNvSpPr/>
          <p:nvPr/>
        </p:nvSpPr>
        <p:spPr>
          <a:xfrm>
            <a:off x="2176272" y="4206240"/>
            <a:ext cx="1417320" cy="301752"/>
          </a:xfrm>
          <a:prstGeom prst="rect">
            <a:avLst/>
          </a:prstGeom>
          <a:noFill/>
          <a:ln/>
        </p:spPr>
        <p:txBody>
          <a:bodyPr wrap="square" lIns="0" tIns="0" rIns="0" bIns="0" rtlCol="0" anchor="ctr">
            <a:normAutofit/>
          </a:bodyPr>
          <a:lstStyle/>
          <a:p>
            <a:pPr algn="ctr" indent="0" marL="0">
              <a:buNone/>
            </a:pPr>
            <a:r>
              <a:rPr lang="en-US" sz="1350" b="1" dirty="0">
                <a:solidFill>
                  <a:srgbClr val="111B33"/>
                </a:solidFill>
                <a:latin typeface="Aptos" pitchFamily="34" charset="0"/>
                <a:ea typeface="Aptos" pitchFamily="34" charset="-122"/>
                <a:cs typeface="Aptos" pitchFamily="34" charset="-120"/>
              </a:rPr>
              <a:t>MAYBE</a:t>
            </a:r>
            <a:endParaRPr lang="en-US" sz="1350" dirty="0"/>
          </a:p>
        </p:txBody>
      </p:sp>
      <p:sp>
        <p:nvSpPr>
          <p:cNvPr id="13" name="Shape 10"/>
          <p:cNvSpPr/>
          <p:nvPr/>
        </p:nvSpPr>
        <p:spPr>
          <a:xfrm>
            <a:off x="3822192" y="4151376"/>
            <a:ext cx="1975104" cy="429768"/>
          </a:xfrm>
          <a:prstGeom prst="roundRect">
            <a:avLst>
              <a:gd name="adj" fmla="val 21277"/>
            </a:avLst>
          </a:prstGeom>
          <a:solidFill>
            <a:srgbClr val="D1DFFA"/>
          </a:solidFill>
          <a:ln w="12700">
            <a:solidFill>
              <a:srgbClr val="D1DFFA">
                <a:alpha val="0"/>
              </a:srgbClr>
            </a:solidFill>
            <a:prstDash val="solid"/>
          </a:ln>
        </p:spPr>
      </p:sp>
      <p:sp>
        <p:nvSpPr>
          <p:cNvPr id="14" name="Text 11"/>
          <p:cNvSpPr/>
          <p:nvPr/>
        </p:nvSpPr>
        <p:spPr>
          <a:xfrm>
            <a:off x="3913632" y="4206240"/>
            <a:ext cx="1792224" cy="301752"/>
          </a:xfrm>
          <a:prstGeom prst="rect">
            <a:avLst/>
          </a:prstGeom>
          <a:noFill/>
          <a:ln/>
        </p:spPr>
        <p:txBody>
          <a:bodyPr wrap="square" lIns="0" tIns="0" rIns="0" bIns="0" rtlCol="0" anchor="ctr">
            <a:normAutofit/>
          </a:bodyPr>
          <a:lstStyle/>
          <a:p>
            <a:pPr algn="ctr" indent="0" marL="0">
              <a:buNone/>
            </a:pPr>
            <a:r>
              <a:rPr lang="en-US" sz="1350" b="1" dirty="0">
                <a:solidFill>
                  <a:srgbClr val="111B33"/>
                </a:solidFill>
                <a:latin typeface="Aptos" pitchFamily="34" charset="0"/>
                <a:ea typeface="Aptos" pitchFamily="34" charset="-122"/>
                <a:cs typeface="Aptos" pitchFamily="34" charset="-120"/>
              </a:rPr>
              <a:t>NOT SURE</a:t>
            </a:r>
            <a:endParaRPr lang="en-US" sz="1350" dirty="0"/>
          </a:p>
        </p:txBody>
      </p:sp>
      <p:sp>
        <p:nvSpPr>
          <p:cNvPr id="15" name="Text 12"/>
          <p:cNvSpPr/>
          <p:nvPr/>
        </p:nvSpPr>
        <p:spPr>
          <a:xfrm>
            <a:off x="667512" y="5129784"/>
            <a:ext cx="6263640" cy="411480"/>
          </a:xfrm>
          <a:prstGeom prst="rect">
            <a:avLst/>
          </a:prstGeom>
          <a:noFill/>
          <a:ln/>
        </p:spPr>
        <p:txBody>
          <a:bodyPr wrap="square" lIns="0" tIns="0" rIns="0" bIns="0" rtlCol="0" anchor="ctr">
            <a:normAutofit/>
          </a:bodyPr>
          <a:lstStyle/>
          <a:p>
            <a:pPr indent="0" marL="0">
              <a:buNone/>
            </a:pPr>
            <a:r>
              <a:rPr lang="en-US" sz="1600" i="1" dirty="0">
                <a:solidFill>
                  <a:srgbClr val="D5E1F4"/>
                </a:solidFill>
                <a:latin typeface="Aptos" pitchFamily="34" charset="0"/>
                <a:ea typeface="Aptos" pitchFamily="34" charset="-122"/>
                <a:cs typeface="Aptos" pitchFamily="34" charset="-120"/>
              </a:rPr>
              <a:t>There is no wrong starting point.</a:t>
            </a:r>
            <a:endParaRPr lang="en-US" sz="1600" dirty="0"/>
          </a:p>
        </p:txBody>
      </p:sp>
      <p:sp>
        <p:nvSpPr>
          <p:cNvPr id="16" name="Text 13"/>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D0DEEA"/>
                </a:solidFill>
                <a:latin typeface="Aptos" pitchFamily="34" charset="0"/>
                <a:ea typeface="Aptos" pitchFamily="34" charset="-122"/>
                <a:cs typeface="Aptos" pitchFamily="34" charset="-120"/>
              </a:rPr>
              <a:t>LEARN  ·  CREATE  ·  BUILD</a:t>
            </a:r>
            <a:endParaRPr lang="en-US" sz="980" dirty="0"/>
          </a:p>
        </p:txBody>
      </p:sp>
      <p:sp>
        <p:nvSpPr>
          <p:cNvPr id="17" name="Text 14"/>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D0DEEA"/>
                </a:solidFill>
                <a:latin typeface="Aptos" pitchFamily="34" charset="0"/>
                <a:ea typeface="Aptos" pitchFamily="34" charset="-122"/>
                <a:cs typeface="Apto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EVERYDAY INTELLIGENCE</a:t>
            </a:r>
            <a:endParaRPr lang="en-US" sz="1080" dirty="0"/>
          </a:p>
        </p:txBody>
      </p:sp>
      <p:sp>
        <p:nvSpPr>
          <p:cNvPr id="5" name="Text 3"/>
          <p:cNvSpPr/>
          <p:nvPr/>
        </p:nvSpPr>
        <p:spPr>
          <a:xfrm>
            <a:off x="603504" y="859536"/>
            <a:ext cx="10881360" cy="621792"/>
          </a:xfrm>
          <a:prstGeom prst="rect">
            <a:avLst/>
          </a:prstGeom>
          <a:noFill/>
          <a:ln/>
        </p:spPr>
        <p:txBody>
          <a:bodyPr wrap="square" lIns="0" tIns="0" rIns="0" bIns="0" rtlCol="0" anchor="ctr">
            <a:normAutofit/>
          </a:bodyPr>
          <a:lstStyle/>
          <a:p>
            <a:pPr indent="0" marL="0">
              <a:buNone/>
            </a:pPr>
            <a:r>
              <a:rPr lang="en-US" sz="3400" b="1" dirty="0">
                <a:solidFill>
                  <a:srgbClr val="111B33"/>
                </a:solidFill>
                <a:latin typeface="Aptos Display" pitchFamily="34" charset="0"/>
                <a:ea typeface="Aptos Display" pitchFamily="34" charset="-122"/>
                <a:cs typeface="Aptos Display" pitchFamily="34" charset="-120"/>
              </a:rPr>
              <a:t>AI is already around us</a:t>
            </a:r>
            <a:endParaRPr lang="en-US" sz="3400" dirty="0"/>
          </a:p>
        </p:txBody>
      </p:sp>
      <p:pic>
        <p:nvPicPr>
          <p:cNvPr id="6" name="Image 0" descr="/mnt/data/AI_in_Action_Module_1/visuals/everyday.jpg">    </p:cNvPr>
          <p:cNvPicPr>
            <a:picLocks noChangeAspect="1"/>
          </p:cNvPicPr>
          <p:nvPr/>
        </p:nvPicPr>
        <p:blipFill>
          <a:blip r:embed="rId1"/>
          <a:stretch>
            <a:fillRect/>
          </a:stretch>
        </p:blipFill>
        <p:spPr>
          <a:xfrm>
            <a:off x="594360" y="1673352"/>
            <a:ext cx="10991088" cy="2706624"/>
          </a:xfrm>
          <a:prstGeom prst="rect">
            <a:avLst/>
          </a:prstGeom>
        </p:spPr>
      </p:pic>
      <p:sp>
        <p:nvSpPr>
          <p:cNvPr id="7" name="Shape 4"/>
          <p:cNvSpPr/>
          <p:nvPr/>
        </p:nvSpPr>
        <p:spPr>
          <a:xfrm>
            <a:off x="603504" y="4562856"/>
            <a:ext cx="3557016" cy="1280160"/>
          </a:xfrm>
          <a:prstGeom prst="roundRect">
            <a:avLst>
              <a:gd name="adj" fmla="val 7143"/>
            </a:avLst>
          </a:prstGeom>
          <a:solidFill>
            <a:srgbClr val="FFFFFF"/>
          </a:solidFill>
          <a:ln w="12700">
            <a:solidFill>
              <a:srgbClr val="DFE6EF"/>
            </a:solidFill>
            <a:prstDash val="solid"/>
          </a:ln>
        </p:spPr>
      </p:sp>
      <p:sp>
        <p:nvSpPr>
          <p:cNvPr id="8" name="Shape 5"/>
          <p:cNvSpPr/>
          <p:nvPr/>
        </p:nvSpPr>
        <p:spPr>
          <a:xfrm>
            <a:off x="804672" y="4864608"/>
            <a:ext cx="566928" cy="566928"/>
          </a:xfrm>
          <a:prstGeom prst="ellipse">
            <a:avLst/>
          </a:prstGeom>
          <a:solidFill>
            <a:srgbClr val="DDFFF8"/>
          </a:solidFill>
          <a:ln w="12700">
            <a:solidFill>
              <a:srgbClr val="DDFFF8">
                <a:alpha val="0"/>
              </a:srgbClr>
            </a:solidFill>
            <a:prstDash val="solid"/>
          </a:ln>
        </p:spPr>
      </p:sp>
      <p:sp>
        <p:nvSpPr>
          <p:cNvPr id="9" name="Text 6"/>
          <p:cNvSpPr/>
          <p:nvPr/>
        </p:nvSpPr>
        <p:spPr>
          <a:xfrm>
            <a:off x="804672" y="4937760"/>
            <a:ext cx="566928" cy="402336"/>
          </a:xfrm>
          <a:prstGeom prst="rect">
            <a:avLst/>
          </a:prstGeom>
          <a:noFill/>
          <a:ln/>
        </p:spPr>
        <p:txBody>
          <a:bodyPr wrap="square" lIns="0" tIns="0" rIns="0" bIns="0" rtlCol="0" anchor="ctr">
            <a:normAutofit/>
          </a:bodyPr>
          <a:lstStyle/>
          <a:p>
            <a:pPr algn="ctr" indent="0" marL="0">
              <a:buNone/>
            </a:pPr>
            <a:r>
              <a:rPr lang="en-US" sz="2000" b="1" dirty="0">
                <a:solidFill>
                  <a:srgbClr val="111B33"/>
                </a:solidFill>
                <a:latin typeface="Aptos" pitchFamily="34" charset="0"/>
                <a:ea typeface="Aptos" pitchFamily="34" charset="-122"/>
                <a:cs typeface="Aptos" pitchFamily="34" charset="-120"/>
              </a:rPr>
              <a:t>▶</a:t>
            </a:r>
            <a:endParaRPr lang="en-US" sz="2000" dirty="0"/>
          </a:p>
        </p:txBody>
      </p:sp>
      <p:sp>
        <p:nvSpPr>
          <p:cNvPr id="10" name="Text 7"/>
          <p:cNvSpPr/>
          <p:nvPr/>
        </p:nvSpPr>
        <p:spPr>
          <a:xfrm>
            <a:off x="1536192" y="4745736"/>
            <a:ext cx="2423160" cy="320040"/>
          </a:xfrm>
          <a:prstGeom prst="rect">
            <a:avLst/>
          </a:prstGeom>
          <a:noFill/>
          <a:ln/>
        </p:spPr>
        <p:txBody>
          <a:bodyPr wrap="square" lIns="0" tIns="0" rIns="0" bIns="0" rtlCol="0" anchor="ctr">
            <a:normAutofit/>
          </a:bodyPr>
          <a:lstStyle/>
          <a:p>
            <a:pPr indent="0" marL="0">
              <a:buNone/>
            </a:pPr>
            <a:r>
              <a:rPr lang="en-US" sz="1750" b="1" dirty="0">
                <a:solidFill>
                  <a:srgbClr val="111B33"/>
                </a:solidFill>
                <a:latin typeface="Aptos" pitchFamily="34" charset="0"/>
                <a:ea typeface="Aptos" pitchFamily="34" charset="-122"/>
                <a:cs typeface="Aptos" pitchFamily="34" charset="-120"/>
              </a:rPr>
              <a:t>RECOMMEND</a:t>
            </a:r>
            <a:endParaRPr lang="en-US" sz="1750" dirty="0"/>
          </a:p>
        </p:txBody>
      </p:sp>
      <p:sp>
        <p:nvSpPr>
          <p:cNvPr id="11" name="Text 8"/>
          <p:cNvSpPr/>
          <p:nvPr/>
        </p:nvSpPr>
        <p:spPr>
          <a:xfrm>
            <a:off x="1536192" y="5102352"/>
            <a:ext cx="2514600" cy="475488"/>
          </a:xfrm>
          <a:prstGeom prst="rect">
            <a:avLst/>
          </a:prstGeom>
          <a:noFill/>
          <a:ln/>
        </p:spPr>
        <p:txBody>
          <a:bodyPr wrap="square" lIns="0" tIns="0" rIns="0" bIns="0" rtlCol="0" anchor="ctr">
            <a:normAutofit/>
          </a:bodyPr>
          <a:lstStyle/>
          <a:p>
            <a:pPr indent="0" marL="0">
              <a:buNone/>
            </a:pPr>
            <a:r>
              <a:rPr lang="en-US" sz="1320" dirty="0">
                <a:solidFill>
                  <a:srgbClr val="5C6981"/>
                </a:solidFill>
                <a:latin typeface="Aptos" pitchFamily="34" charset="0"/>
                <a:ea typeface="Aptos" pitchFamily="34" charset="-122"/>
                <a:cs typeface="Aptos" pitchFamily="34" charset="-120"/>
              </a:rPr>
              <a:t>Discover content you may like</a:t>
            </a:r>
            <a:endParaRPr lang="en-US" sz="1320" dirty="0"/>
          </a:p>
        </p:txBody>
      </p:sp>
      <p:sp>
        <p:nvSpPr>
          <p:cNvPr id="12" name="Shape 9"/>
          <p:cNvSpPr/>
          <p:nvPr/>
        </p:nvSpPr>
        <p:spPr>
          <a:xfrm>
            <a:off x="4334256" y="4562856"/>
            <a:ext cx="3557016" cy="1280160"/>
          </a:xfrm>
          <a:prstGeom prst="roundRect">
            <a:avLst>
              <a:gd name="adj" fmla="val 7143"/>
            </a:avLst>
          </a:prstGeom>
          <a:solidFill>
            <a:srgbClr val="FFFFFF"/>
          </a:solidFill>
          <a:ln w="12700">
            <a:solidFill>
              <a:srgbClr val="DFE6EF"/>
            </a:solidFill>
            <a:prstDash val="solid"/>
          </a:ln>
        </p:spPr>
      </p:sp>
      <p:sp>
        <p:nvSpPr>
          <p:cNvPr id="13" name="Shape 10"/>
          <p:cNvSpPr/>
          <p:nvPr/>
        </p:nvSpPr>
        <p:spPr>
          <a:xfrm>
            <a:off x="4535424" y="4864608"/>
            <a:ext cx="566928" cy="566928"/>
          </a:xfrm>
          <a:prstGeom prst="ellipse">
            <a:avLst/>
          </a:prstGeom>
          <a:solidFill>
            <a:srgbClr val="ECF5FF"/>
          </a:solidFill>
          <a:ln w="12700">
            <a:solidFill>
              <a:srgbClr val="ECF5FF">
                <a:alpha val="0"/>
              </a:srgbClr>
            </a:solidFill>
            <a:prstDash val="solid"/>
          </a:ln>
        </p:spPr>
      </p:sp>
      <p:sp>
        <p:nvSpPr>
          <p:cNvPr id="14" name="Text 11"/>
          <p:cNvSpPr/>
          <p:nvPr/>
        </p:nvSpPr>
        <p:spPr>
          <a:xfrm>
            <a:off x="4535424" y="4937760"/>
            <a:ext cx="566928" cy="402336"/>
          </a:xfrm>
          <a:prstGeom prst="rect">
            <a:avLst/>
          </a:prstGeom>
          <a:noFill/>
          <a:ln/>
        </p:spPr>
        <p:txBody>
          <a:bodyPr wrap="square" lIns="0" tIns="0" rIns="0" bIns="0" rtlCol="0" anchor="ctr">
            <a:normAutofit/>
          </a:bodyPr>
          <a:lstStyle/>
          <a:p>
            <a:pPr algn="ctr" indent="0" marL="0">
              <a:buNone/>
            </a:pPr>
            <a:r>
              <a:rPr lang="en-US" sz="2000" b="1" dirty="0">
                <a:solidFill>
                  <a:srgbClr val="111B33"/>
                </a:solidFill>
                <a:latin typeface="Aptos" pitchFamily="34" charset="0"/>
                <a:ea typeface="Aptos" pitchFamily="34" charset="-122"/>
                <a:cs typeface="Aptos" pitchFamily="34" charset="-120"/>
              </a:rPr>
              <a:t>⌖</a:t>
            </a:r>
            <a:endParaRPr lang="en-US" sz="2000" dirty="0"/>
          </a:p>
        </p:txBody>
      </p:sp>
      <p:sp>
        <p:nvSpPr>
          <p:cNvPr id="15" name="Text 12"/>
          <p:cNvSpPr/>
          <p:nvPr/>
        </p:nvSpPr>
        <p:spPr>
          <a:xfrm>
            <a:off x="5266944" y="4745736"/>
            <a:ext cx="2423160" cy="320040"/>
          </a:xfrm>
          <a:prstGeom prst="rect">
            <a:avLst/>
          </a:prstGeom>
          <a:noFill/>
          <a:ln/>
        </p:spPr>
        <p:txBody>
          <a:bodyPr wrap="square" lIns="0" tIns="0" rIns="0" bIns="0" rtlCol="0" anchor="ctr">
            <a:normAutofit/>
          </a:bodyPr>
          <a:lstStyle/>
          <a:p>
            <a:pPr indent="0" marL="0">
              <a:buNone/>
            </a:pPr>
            <a:r>
              <a:rPr lang="en-US" sz="1750" b="1" dirty="0">
                <a:solidFill>
                  <a:srgbClr val="111B33"/>
                </a:solidFill>
                <a:latin typeface="Aptos" pitchFamily="34" charset="0"/>
                <a:ea typeface="Aptos" pitchFamily="34" charset="-122"/>
                <a:cs typeface="Aptos" pitchFamily="34" charset="-120"/>
              </a:rPr>
              <a:t>NAVIGATE</a:t>
            </a:r>
            <a:endParaRPr lang="en-US" sz="1750" dirty="0"/>
          </a:p>
        </p:txBody>
      </p:sp>
      <p:sp>
        <p:nvSpPr>
          <p:cNvPr id="16" name="Text 13"/>
          <p:cNvSpPr/>
          <p:nvPr/>
        </p:nvSpPr>
        <p:spPr>
          <a:xfrm>
            <a:off x="5266944" y="5102352"/>
            <a:ext cx="2514600" cy="475488"/>
          </a:xfrm>
          <a:prstGeom prst="rect">
            <a:avLst/>
          </a:prstGeom>
          <a:noFill/>
          <a:ln/>
        </p:spPr>
        <p:txBody>
          <a:bodyPr wrap="square" lIns="0" tIns="0" rIns="0" bIns="0" rtlCol="0" anchor="ctr">
            <a:normAutofit/>
          </a:bodyPr>
          <a:lstStyle/>
          <a:p>
            <a:pPr indent="0" marL="0">
              <a:buNone/>
            </a:pPr>
            <a:r>
              <a:rPr lang="en-US" sz="1320" dirty="0">
                <a:solidFill>
                  <a:srgbClr val="5C6981"/>
                </a:solidFill>
                <a:latin typeface="Aptos" pitchFamily="34" charset="0"/>
                <a:ea typeface="Aptos" pitchFamily="34" charset="-122"/>
                <a:cs typeface="Aptos" pitchFamily="34" charset="-120"/>
              </a:rPr>
              <a:t>Estimate journeys and traffic</a:t>
            </a:r>
            <a:endParaRPr lang="en-US" sz="1320" dirty="0"/>
          </a:p>
        </p:txBody>
      </p:sp>
      <p:sp>
        <p:nvSpPr>
          <p:cNvPr id="17" name="Shape 14"/>
          <p:cNvSpPr/>
          <p:nvPr/>
        </p:nvSpPr>
        <p:spPr>
          <a:xfrm>
            <a:off x="8065008" y="4562856"/>
            <a:ext cx="3557016" cy="1280160"/>
          </a:xfrm>
          <a:prstGeom prst="roundRect">
            <a:avLst>
              <a:gd name="adj" fmla="val 7143"/>
            </a:avLst>
          </a:prstGeom>
          <a:solidFill>
            <a:srgbClr val="FFFFFF"/>
          </a:solidFill>
          <a:ln w="12700">
            <a:solidFill>
              <a:srgbClr val="DFE6EF"/>
            </a:solidFill>
            <a:prstDash val="solid"/>
          </a:ln>
        </p:spPr>
      </p:sp>
      <p:sp>
        <p:nvSpPr>
          <p:cNvPr id="18" name="Shape 15"/>
          <p:cNvSpPr/>
          <p:nvPr/>
        </p:nvSpPr>
        <p:spPr>
          <a:xfrm>
            <a:off x="8266176" y="4864608"/>
            <a:ext cx="566928" cy="566928"/>
          </a:xfrm>
          <a:prstGeom prst="ellipse">
            <a:avLst/>
          </a:prstGeom>
          <a:solidFill>
            <a:srgbClr val="EFEAFF"/>
          </a:solidFill>
          <a:ln w="12700">
            <a:solidFill>
              <a:srgbClr val="EFEAFF">
                <a:alpha val="0"/>
              </a:srgbClr>
            </a:solidFill>
            <a:prstDash val="solid"/>
          </a:ln>
        </p:spPr>
      </p:sp>
      <p:sp>
        <p:nvSpPr>
          <p:cNvPr id="19" name="Text 16"/>
          <p:cNvSpPr/>
          <p:nvPr/>
        </p:nvSpPr>
        <p:spPr>
          <a:xfrm>
            <a:off x="8266176" y="4937760"/>
            <a:ext cx="566928" cy="402336"/>
          </a:xfrm>
          <a:prstGeom prst="rect">
            <a:avLst/>
          </a:prstGeom>
          <a:noFill/>
          <a:ln/>
        </p:spPr>
        <p:txBody>
          <a:bodyPr wrap="square" lIns="0" tIns="0" rIns="0" bIns="0" rtlCol="0" anchor="ctr">
            <a:normAutofit/>
          </a:bodyPr>
          <a:lstStyle/>
          <a:p>
            <a:pPr algn="ctr" indent="0" marL="0">
              <a:buNone/>
            </a:pPr>
            <a:r>
              <a:rPr lang="en-US" sz="2000" b="1" dirty="0">
                <a:solidFill>
                  <a:srgbClr val="111B33"/>
                </a:solidFill>
                <a:latin typeface="Aptos" pitchFamily="34" charset="0"/>
                <a:ea typeface="Aptos" pitchFamily="34" charset="-122"/>
                <a:cs typeface="Aptos" pitchFamily="34" charset="-120"/>
              </a:rPr>
              <a:t>文</a:t>
            </a:r>
            <a:endParaRPr lang="en-US" sz="2000" dirty="0"/>
          </a:p>
        </p:txBody>
      </p:sp>
      <p:sp>
        <p:nvSpPr>
          <p:cNvPr id="20" name="Text 17"/>
          <p:cNvSpPr/>
          <p:nvPr/>
        </p:nvSpPr>
        <p:spPr>
          <a:xfrm>
            <a:off x="8997696" y="4745736"/>
            <a:ext cx="2423160" cy="320040"/>
          </a:xfrm>
          <a:prstGeom prst="rect">
            <a:avLst/>
          </a:prstGeom>
          <a:noFill/>
          <a:ln/>
        </p:spPr>
        <p:txBody>
          <a:bodyPr wrap="square" lIns="0" tIns="0" rIns="0" bIns="0" rtlCol="0" anchor="ctr">
            <a:normAutofit/>
          </a:bodyPr>
          <a:lstStyle/>
          <a:p>
            <a:pPr indent="0" marL="0">
              <a:buNone/>
            </a:pPr>
            <a:r>
              <a:rPr lang="en-US" sz="1750" b="1" dirty="0">
                <a:solidFill>
                  <a:srgbClr val="111B33"/>
                </a:solidFill>
                <a:latin typeface="Aptos" pitchFamily="34" charset="0"/>
                <a:ea typeface="Aptos" pitchFamily="34" charset="-122"/>
                <a:cs typeface="Aptos" pitchFamily="34" charset="-120"/>
              </a:rPr>
              <a:t>TRANSLATE</a:t>
            </a:r>
            <a:endParaRPr lang="en-US" sz="1750" dirty="0"/>
          </a:p>
        </p:txBody>
      </p:sp>
      <p:sp>
        <p:nvSpPr>
          <p:cNvPr id="21" name="Text 18"/>
          <p:cNvSpPr/>
          <p:nvPr/>
        </p:nvSpPr>
        <p:spPr>
          <a:xfrm>
            <a:off x="8997696" y="5102352"/>
            <a:ext cx="2514600" cy="475488"/>
          </a:xfrm>
          <a:prstGeom prst="rect">
            <a:avLst/>
          </a:prstGeom>
          <a:noFill/>
          <a:ln/>
        </p:spPr>
        <p:txBody>
          <a:bodyPr wrap="square" lIns="0" tIns="0" rIns="0" bIns="0" rtlCol="0" anchor="ctr">
            <a:normAutofit/>
          </a:bodyPr>
          <a:lstStyle/>
          <a:p>
            <a:pPr indent="0" marL="0">
              <a:buNone/>
            </a:pPr>
            <a:r>
              <a:rPr lang="en-US" sz="1320" dirty="0">
                <a:solidFill>
                  <a:srgbClr val="5C6981"/>
                </a:solidFill>
                <a:latin typeface="Aptos" pitchFamily="34" charset="0"/>
                <a:ea typeface="Aptos" pitchFamily="34" charset="-122"/>
                <a:cs typeface="Aptos" pitchFamily="34" charset="-120"/>
              </a:rPr>
              <a:t>Work across languages</a:t>
            </a:r>
            <a:endParaRPr lang="en-US" sz="1320" dirty="0"/>
          </a:p>
        </p:txBody>
      </p:sp>
      <p:sp>
        <p:nvSpPr>
          <p:cNvPr id="22" name="Text 19"/>
          <p:cNvSpPr/>
          <p:nvPr/>
        </p:nvSpPr>
        <p:spPr>
          <a:xfrm>
            <a:off x="640080" y="5989320"/>
            <a:ext cx="10927080" cy="265176"/>
          </a:xfrm>
          <a:prstGeom prst="rect">
            <a:avLst/>
          </a:prstGeom>
          <a:noFill/>
          <a:ln/>
        </p:spPr>
        <p:txBody>
          <a:bodyPr wrap="square" lIns="0" tIns="0" rIns="0" bIns="0" rtlCol="0" anchor="ctr">
            <a:normAutofit/>
          </a:bodyPr>
          <a:lstStyle/>
          <a:p>
            <a:pPr algn="ctr" indent="0" marL="0">
              <a:buNone/>
            </a:pPr>
            <a:r>
              <a:rPr lang="en-US" sz="1500" i="1" dirty="0">
                <a:solidFill>
                  <a:srgbClr val="5C6981"/>
                </a:solidFill>
                <a:latin typeface="Aptos" pitchFamily="34" charset="0"/>
                <a:ea typeface="Aptos" pitchFamily="34" charset="-122"/>
                <a:cs typeface="Aptos" pitchFamily="34" charset="-120"/>
              </a:rPr>
              <a:t>Useful predictions are not guaranteed predictions.</a:t>
            </a:r>
            <a:endParaRPr lang="en-US" sz="1500" dirty="0"/>
          </a:p>
        </p:txBody>
      </p:sp>
      <p:sp>
        <p:nvSpPr>
          <p:cNvPr id="23" name="Shape 20"/>
          <p:cNvSpPr/>
          <p:nvPr/>
        </p:nvSpPr>
        <p:spPr>
          <a:xfrm>
            <a:off x="576072" y="6437376"/>
            <a:ext cx="11036808" cy="0"/>
          </a:xfrm>
          <a:prstGeom prst="line">
            <a:avLst/>
          </a:prstGeom>
          <a:noFill/>
          <a:ln w="12700">
            <a:solidFill>
              <a:srgbClr val="E4E9F0"/>
            </a:solidFill>
            <a:prstDash val="solid"/>
          </a:ln>
        </p:spPr>
      </p:sp>
      <p:sp>
        <p:nvSpPr>
          <p:cNvPr id="24" name="Text 21"/>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25" name="Text 22"/>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AUTOMATION VS ARTIFICIAL INTELLIGENCE</a:t>
            </a:r>
            <a:endParaRPr lang="en-US" sz="1080" dirty="0"/>
          </a:p>
        </p:txBody>
      </p:sp>
      <p:sp>
        <p:nvSpPr>
          <p:cNvPr id="5" name="Text 3"/>
          <p:cNvSpPr/>
          <p:nvPr/>
        </p:nvSpPr>
        <p:spPr>
          <a:xfrm>
            <a:off x="594360" y="905256"/>
            <a:ext cx="10927080" cy="658368"/>
          </a:xfrm>
          <a:prstGeom prst="rect">
            <a:avLst/>
          </a:prstGeom>
          <a:noFill/>
          <a:ln/>
        </p:spPr>
        <p:txBody>
          <a:bodyPr wrap="square" lIns="0" tIns="0" rIns="0" bIns="0" rtlCol="0" anchor="ctr">
            <a:normAutofit/>
          </a:bodyPr>
          <a:lstStyle/>
          <a:p>
            <a:pPr indent="0" marL="0">
              <a:buNone/>
            </a:pPr>
            <a:r>
              <a:rPr lang="en-US" sz="3200" b="1" dirty="0">
                <a:solidFill>
                  <a:srgbClr val="111B33"/>
                </a:solidFill>
                <a:latin typeface="Aptos Display" pitchFamily="34" charset="0"/>
                <a:ea typeface="Aptos Display" pitchFamily="34" charset="-122"/>
                <a:cs typeface="Aptos Display" pitchFamily="34" charset="-120"/>
              </a:rPr>
              <a:t>Automatic does not always mean AI</a:t>
            </a:r>
            <a:endParaRPr lang="en-US" sz="3200" dirty="0"/>
          </a:p>
        </p:txBody>
      </p:sp>
      <p:sp>
        <p:nvSpPr>
          <p:cNvPr id="6" name="Text 4"/>
          <p:cNvSpPr/>
          <p:nvPr/>
        </p:nvSpPr>
        <p:spPr>
          <a:xfrm>
            <a:off x="603504" y="1655064"/>
            <a:ext cx="10881360" cy="475488"/>
          </a:xfrm>
          <a:prstGeom prst="rect">
            <a:avLst/>
          </a:prstGeom>
          <a:noFill/>
          <a:ln/>
        </p:spPr>
        <p:txBody>
          <a:bodyPr wrap="square" lIns="0" tIns="0" rIns="0" bIns="0" rtlCol="0" anchor="ctr">
            <a:normAutofit/>
          </a:bodyPr>
          <a:lstStyle/>
          <a:p>
            <a:pPr indent="0" marL="0">
              <a:buNone/>
            </a:pPr>
            <a:r>
              <a:rPr lang="en-US" sz="1700" dirty="0">
                <a:solidFill>
                  <a:srgbClr val="5C6981"/>
                </a:solidFill>
                <a:latin typeface="Aptos" pitchFamily="34" charset="0"/>
                <a:ea typeface="Aptos" pitchFamily="34" charset="-122"/>
                <a:cs typeface="Aptos" pitchFamily="34" charset="-120"/>
              </a:rPr>
              <a:t>Two systems can be useful for very different reasons.</a:t>
            </a:r>
            <a:endParaRPr lang="en-US" sz="1700" dirty="0"/>
          </a:p>
        </p:txBody>
      </p:sp>
      <p:sp>
        <p:nvSpPr>
          <p:cNvPr id="7" name="Shape 5"/>
          <p:cNvSpPr/>
          <p:nvPr/>
        </p:nvSpPr>
        <p:spPr>
          <a:xfrm>
            <a:off x="612648" y="2331720"/>
            <a:ext cx="5404104" cy="3246120"/>
          </a:xfrm>
          <a:prstGeom prst="roundRect">
            <a:avLst>
              <a:gd name="adj" fmla="val 2817"/>
            </a:avLst>
          </a:prstGeom>
          <a:solidFill>
            <a:srgbClr val="FFFFFF"/>
          </a:solidFill>
          <a:ln w="12700">
            <a:solidFill>
              <a:srgbClr val="DFE6EF"/>
            </a:solidFill>
            <a:prstDash val="solid"/>
          </a:ln>
        </p:spPr>
      </p:sp>
      <p:sp>
        <p:nvSpPr>
          <p:cNvPr id="8" name="Shape 6"/>
          <p:cNvSpPr/>
          <p:nvPr/>
        </p:nvSpPr>
        <p:spPr>
          <a:xfrm>
            <a:off x="6163056" y="2331720"/>
            <a:ext cx="5404104" cy="3246120"/>
          </a:xfrm>
          <a:prstGeom prst="roundRect">
            <a:avLst>
              <a:gd name="adj" fmla="val 2817"/>
            </a:avLst>
          </a:prstGeom>
          <a:solidFill>
            <a:srgbClr val="FFFFFF"/>
          </a:solidFill>
          <a:ln w="12700">
            <a:solidFill>
              <a:srgbClr val="DFE6EF"/>
            </a:solidFill>
            <a:prstDash val="solid"/>
          </a:ln>
        </p:spPr>
      </p:sp>
      <p:sp>
        <p:nvSpPr>
          <p:cNvPr id="9" name="Shape 7"/>
          <p:cNvSpPr/>
          <p:nvPr/>
        </p:nvSpPr>
        <p:spPr>
          <a:xfrm>
            <a:off x="1005840" y="2679192"/>
            <a:ext cx="749808" cy="749808"/>
          </a:xfrm>
          <a:prstGeom prst="ellipse">
            <a:avLst/>
          </a:prstGeom>
          <a:solidFill>
            <a:srgbClr val="EDF2FA"/>
          </a:solidFill>
          <a:ln w="12700">
            <a:solidFill>
              <a:srgbClr val="EDF2FA">
                <a:alpha val="0"/>
              </a:srgbClr>
            </a:solidFill>
            <a:prstDash val="solid"/>
          </a:ln>
        </p:spPr>
      </p:sp>
      <p:sp>
        <p:nvSpPr>
          <p:cNvPr id="10" name="Text 8"/>
          <p:cNvSpPr/>
          <p:nvPr/>
        </p:nvSpPr>
        <p:spPr>
          <a:xfrm>
            <a:off x="1005840" y="2734056"/>
            <a:ext cx="749808" cy="530352"/>
          </a:xfrm>
          <a:prstGeom prst="rect">
            <a:avLst/>
          </a:prstGeom>
          <a:noFill/>
          <a:ln/>
        </p:spPr>
        <p:txBody>
          <a:bodyPr wrap="square" lIns="0" tIns="0" rIns="0" bIns="0" rtlCol="0" anchor="ctr">
            <a:normAutofit/>
          </a:bodyPr>
          <a:lstStyle/>
          <a:p>
            <a:pPr algn="ctr" indent="0" marL="0">
              <a:buNone/>
            </a:pPr>
            <a:r>
              <a:rPr lang="en-US" sz="3500" b="1" dirty="0">
                <a:solidFill>
                  <a:srgbClr val="4A8BF4"/>
                </a:solidFill>
                <a:latin typeface="Aptos" pitchFamily="34" charset="0"/>
                <a:ea typeface="Aptos" pitchFamily="34" charset="-122"/>
                <a:cs typeface="Aptos" pitchFamily="34" charset="-120"/>
              </a:rPr>
              <a:t>=</a:t>
            </a:r>
            <a:endParaRPr lang="en-US" sz="3500" dirty="0"/>
          </a:p>
        </p:txBody>
      </p:sp>
      <p:sp>
        <p:nvSpPr>
          <p:cNvPr id="11" name="Shape 9"/>
          <p:cNvSpPr/>
          <p:nvPr/>
        </p:nvSpPr>
        <p:spPr>
          <a:xfrm>
            <a:off x="6547104" y="2679192"/>
            <a:ext cx="749808" cy="749808"/>
          </a:xfrm>
          <a:prstGeom prst="ellipse">
            <a:avLst/>
          </a:prstGeom>
          <a:solidFill>
            <a:srgbClr val="DDFFF8"/>
          </a:solidFill>
          <a:ln w="12700">
            <a:solidFill>
              <a:srgbClr val="DDFFF8">
                <a:alpha val="0"/>
              </a:srgbClr>
            </a:solidFill>
            <a:prstDash val="solid"/>
          </a:ln>
        </p:spPr>
      </p:sp>
      <p:sp>
        <p:nvSpPr>
          <p:cNvPr id="12" name="Text 10"/>
          <p:cNvSpPr/>
          <p:nvPr/>
        </p:nvSpPr>
        <p:spPr>
          <a:xfrm>
            <a:off x="6547104" y="2770632"/>
            <a:ext cx="749808" cy="448056"/>
          </a:xfrm>
          <a:prstGeom prst="rect">
            <a:avLst/>
          </a:prstGeom>
          <a:noFill/>
          <a:ln/>
        </p:spPr>
        <p:txBody>
          <a:bodyPr wrap="square" lIns="0" tIns="0" rIns="0" bIns="0" rtlCol="0" anchor="ctr">
            <a:normAutofit/>
          </a:bodyPr>
          <a:lstStyle/>
          <a:p>
            <a:pPr algn="ctr" indent="0" marL="0">
              <a:buNone/>
            </a:pPr>
            <a:r>
              <a:rPr lang="en-US" sz="3300" dirty="0">
                <a:solidFill>
                  <a:srgbClr val="148B80"/>
                </a:solidFill>
                <a:latin typeface="Aptos" pitchFamily="34" charset="0"/>
                <a:ea typeface="Aptos" pitchFamily="34" charset="-122"/>
                <a:cs typeface="Aptos" pitchFamily="34" charset="-120"/>
              </a:rPr>
              <a:t>◎</a:t>
            </a:r>
            <a:endParaRPr lang="en-US" sz="3300" dirty="0"/>
          </a:p>
        </p:txBody>
      </p:sp>
      <p:sp>
        <p:nvSpPr>
          <p:cNvPr id="13" name="Text 11"/>
          <p:cNvSpPr/>
          <p:nvPr/>
        </p:nvSpPr>
        <p:spPr>
          <a:xfrm>
            <a:off x="1965960" y="2660904"/>
            <a:ext cx="3611880" cy="384048"/>
          </a:xfrm>
          <a:prstGeom prst="rect">
            <a:avLst/>
          </a:prstGeom>
          <a:noFill/>
          <a:ln/>
        </p:spPr>
        <p:txBody>
          <a:bodyPr wrap="square" lIns="0" tIns="0" rIns="0" bIns="0" rtlCol="0" anchor="ctr">
            <a:normAutofit/>
          </a:bodyPr>
          <a:lstStyle/>
          <a:p>
            <a:pPr indent="0" marL="0">
              <a:buNone/>
            </a:pPr>
            <a:r>
              <a:rPr lang="en-US" sz="1650" b="1" dirty="0">
                <a:solidFill>
                  <a:srgbClr val="111B33"/>
                </a:solidFill>
                <a:latin typeface="Aptos" pitchFamily="34" charset="0"/>
                <a:ea typeface="Aptos" pitchFamily="34" charset="-122"/>
                <a:cs typeface="Aptos" pitchFamily="34" charset="-120"/>
              </a:rPr>
              <a:t>FIXED INSTRUCTIONS</a:t>
            </a:r>
            <a:endParaRPr lang="en-US" sz="1650" dirty="0"/>
          </a:p>
        </p:txBody>
      </p:sp>
      <p:sp>
        <p:nvSpPr>
          <p:cNvPr id="14" name="Text 12"/>
          <p:cNvSpPr/>
          <p:nvPr/>
        </p:nvSpPr>
        <p:spPr>
          <a:xfrm>
            <a:off x="7516368" y="2660904"/>
            <a:ext cx="3474720" cy="384048"/>
          </a:xfrm>
          <a:prstGeom prst="rect">
            <a:avLst/>
          </a:prstGeom>
          <a:noFill/>
          <a:ln/>
        </p:spPr>
        <p:txBody>
          <a:bodyPr wrap="square" lIns="0" tIns="0" rIns="0" bIns="0" rtlCol="0" anchor="ctr">
            <a:normAutofit/>
          </a:bodyPr>
          <a:lstStyle/>
          <a:p>
            <a:pPr indent="0" marL="0">
              <a:buNone/>
            </a:pPr>
            <a:r>
              <a:rPr lang="en-US" sz="1650" b="1" dirty="0">
                <a:solidFill>
                  <a:srgbClr val="111B33"/>
                </a:solidFill>
                <a:latin typeface="Aptos" pitchFamily="34" charset="0"/>
                <a:ea typeface="Aptos" pitchFamily="34" charset="-122"/>
                <a:cs typeface="Aptos" pitchFamily="34" charset="-120"/>
              </a:rPr>
              <a:t>LEARNED PATTERNS</a:t>
            </a:r>
            <a:endParaRPr lang="en-US" sz="1650" dirty="0"/>
          </a:p>
        </p:txBody>
      </p:sp>
      <p:sp>
        <p:nvSpPr>
          <p:cNvPr id="15" name="Text 13"/>
          <p:cNvSpPr/>
          <p:nvPr/>
        </p:nvSpPr>
        <p:spPr>
          <a:xfrm>
            <a:off x="1014984" y="3721608"/>
            <a:ext cx="4297680" cy="576072"/>
          </a:xfrm>
          <a:prstGeom prst="rect">
            <a:avLst/>
          </a:prstGeom>
          <a:noFill/>
          <a:ln/>
        </p:spPr>
        <p:txBody>
          <a:bodyPr wrap="square" lIns="0" tIns="0" rIns="0" bIns="0" rtlCol="0" anchor="ctr">
            <a:normAutofit/>
          </a:bodyPr>
          <a:lstStyle/>
          <a:p>
            <a:pPr algn="ctr" indent="0" marL="0">
              <a:buNone/>
            </a:pPr>
            <a:r>
              <a:rPr lang="en-US" sz="2850" b="1" dirty="0">
                <a:solidFill>
                  <a:srgbClr val="111B33"/>
                </a:solidFill>
                <a:latin typeface="Aptos" pitchFamily="34" charset="0"/>
                <a:ea typeface="Aptos" pitchFamily="34" charset="-122"/>
                <a:cs typeface="Aptos" pitchFamily="34" charset="-120"/>
              </a:rPr>
              <a:t>23 × 17 = 391</a:t>
            </a:r>
            <a:endParaRPr lang="en-US" sz="2850" dirty="0"/>
          </a:p>
        </p:txBody>
      </p:sp>
      <p:sp>
        <p:nvSpPr>
          <p:cNvPr id="16" name="Text 14"/>
          <p:cNvSpPr/>
          <p:nvPr/>
        </p:nvSpPr>
        <p:spPr>
          <a:xfrm>
            <a:off x="6693408" y="3712464"/>
            <a:ext cx="4334256" cy="694944"/>
          </a:xfrm>
          <a:prstGeom prst="rect">
            <a:avLst/>
          </a:prstGeom>
          <a:noFill/>
          <a:ln/>
        </p:spPr>
        <p:txBody>
          <a:bodyPr wrap="square" lIns="0" tIns="0" rIns="0" bIns="0" rtlCol="0" anchor="ctr">
            <a:normAutofit/>
          </a:bodyPr>
          <a:lstStyle/>
          <a:p>
            <a:pPr algn="ctr" indent="0" marL="0">
              <a:buNone/>
            </a:pPr>
            <a:r>
              <a:rPr lang="en-US" sz="2250" b="1" dirty="0">
                <a:solidFill>
                  <a:srgbClr val="111B33"/>
                </a:solidFill>
                <a:latin typeface="Aptos" pitchFamily="34" charset="0"/>
                <a:ea typeface="Aptos" pitchFamily="34" charset="-122"/>
                <a:cs typeface="Aptos" pitchFamily="34" charset="-120"/>
              </a:rPr>
              <a:t>Is this message likely spam?</a:t>
            </a:r>
            <a:endParaRPr lang="en-US" sz="2250" dirty="0"/>
          </a:p>
        </p:txBody>
      </p:sp>
      <p:sp>
        <p:nvSpPr>
          <p:cNvPr id="17" name="Text 15"/>
          <p:cNvSpPr/>
          <p:nvPr/>
        </p:nvSpPr>
        <p:spPr>
          <a:xfrm>
            <a:off x="987552" y="4617720"/>
            <a:ext cx="4608576" cy="649224"/>
          </a:xfrm>
          <a:prstGeom prst="rect">
            <a:avLst/>
          </a:prstGeom>
          <a:noFill/>
          <a:ln/>
        </p:spPr>
        <p:txBody>
          <a:bodyPr wrap="square" lIns="0" tIns="0" rIns="0" bIns="0" rtlCol="0" anchor="ctr">
            <a:normAutofit/>
          </a:bodyPr>
          <a:lstStyle/>
          <a:p>
            <a:pPr algn="ctr" indent="0" marL="0">
              <a:buNone/>
            </a:pPr>
            <a:r>
              <a:rPr lang="en-US" sz="1650" dirty="0">
                <a:solidFill>
                  <a:srgbClr val="5C6981"/>
                </a:solidFill>
                <a:latin typeface="Aptos" pitchFamily="34" charset="0"/>
                <a:ea typeface="Aptos" pitchFamily="34" charset="-122"/>
                <a:cs typeface="Aptos" pitchFamily="34" charset="-120"/>
              </a:rPr>
              <a:t>A calculator follows arithmetic rules.</a:t>
            </a:r>
            <a:endParaRPr lang="en-US" sz="1650" dirty="0"/>
          </a:p>
        </p:txBody>
      </p:sp>
      <p:sp>
        <p:nvSpPr>
          <p:cNvPr id="18" name="Text 16"/>
          <p:cNvSpPr/>
          <p:nvPr/>
        </p:nvSpPr>
        <p:spPr>
          <a:xfrm>
            <a:off x="6510528" y="4617720"/>
            <a:ext cx="4809744" cy="649224"/>
          </a:xfrm>
          <a:prstGeom prst="rect">
            <a:avLst/>
          </a:prstGeom>
          <a:noFill/>
          <a:ln/>
        </p:spPr>
        <p:txBody>
          <a:bodyPr wrap="square" lIns="0" tIns="0" rIns="0" bIns="0" rtlCol="0" anchor="ctr">
            <a:normAutofit/>
          </a:bodyPr>
          <a:lstStyle/>
          <a:p>
            <a:pPr algn="ctr" indent="0" marL="0">
              <a:buNone/>
            </a:pPr>
            <a:r>
              <a:rPr lang="en-US" sz="1650" dirty="0">
                <a:solidFill>
                  <a:srgbClr val="5C6981"/>
                </a:solidFill>
                <a:latin typeface="Aptos" pitchFamily="34" charset="0"/>
                <a:ea typeface="Aptos" pitchFamily="34" charset="-122"/>
                <a:cs typeface="Aptos" pitchFamily="34" charset="-120"/>
              </a:rPr>
              <a:t>A model learns from examples to classify.</a:t>
            </a:r>
            <a:endParaRPr lang="en-US" sz="1650" dirty="0"/>
          </a:p>
        </p:txBody>
      </p:sp>
      <p:sp>
        <p:nvSpPr>
          <p:cNvPr id="19" name="Text 17"/>
          <p:cNvSpPr/>
          <p:nvPr/>
        </p:nvSpPr>
        <p:spPr>
          <a:xfrm>
            <a:off x="594360" y="5916168"/>
            <a:ext cx="10972800" cy="356616"/>
          </a:xfrm>
          <a:prstGeom prst="rect">
            <a:avLst/>
          </a:prstGeom>
          <a:noFill/>
          <a:ln/>
        </p:spPr>
        <p:txBody>
          <a:bodyPr wrap="square" lIns="0" tIns="0" rIns="0" bIns="0" rtlCol="0" anchor="ctr">
            <a:normAutofit/>
          </a:bodyPr>
          <a:lstStyle/>
          <a:p>
            <a:pPr algn="ctr" indent="0" marL="0">
              <a:buNone/>
            </a:pPr>
            <a:r>
              <a:rPr lang="en-US" sz="1650" b="1" dirty="0">
                <a:solidFill>
                  <a:srgbClr val="111B33"/>
                </a:solidFill>
                <a:latin typeface="Aptos" pitchFamily="34" charset="0"/>
                <a:ea typeface="Aptos" pitchFamily="34" charset="-122"/>
                <a:cs typeface="Aptos" pitchFamily="34" charset="-120"/>
              </a:rPr>
              <a:t>Key thought: not every automated feature needs AI.</a:t>
            </a:r>
            <a:endParaRPr lang="en-US" sz="1650" dirty="0"/>
          </a:p>
        </p:txBody>
      </p:sp>
      <p:sp>
        <p:nvSpPr>
          <p:cNvPr id="20" name="Shape 18"/>
          <p:cNvSpPr/>
          <p:nvPr/>
        </p:nvSpPr>
        <p:spPr>
          <a:xfrm>
            <a:off x="576072" y="6437376"/>
            <a:ext cx="11036808" cy="0"/>
          </a:xfrm>
          <a:prstGeom prst="line">
            <a:avLst/>
          </a:prstGeom>
          <a:noFill/>
          <a:ln w="12700">
            <a:solidFill>
              <a:srgbClr val="E4E9F0"/>
            </a:solidFill>
            <a:prstDash val="solid"/>
          </a:ln>
        </p:spPr>
      </p:sp>
      <p:sp>
        <p:nvSpPr>
          <p:cNvPr id="21" name="Text 19"/>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22" name="Text 20"/>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THE ESSENTIAL IDEAS</a:t>
            </a:r>
            <a:endParaRPr lang="en-US" sz="1080" dirty="0"/>
          </a:p>
        </p:txBody>
      </p:sp>
      <p:sp>
        <p:nvSpPr>
          <p:cNvPr id="5" name="Text 3"/>
          <p:cNvSpPr/>
          <p:nvPr/>
        </p:nvSpPr>
        <p:spPr>
          <a:xfrm>
            <a:off x="594360" y="905256"/>
            <a:ext cx="10927080" cy="658368"/>
          </a:xfrm>
          <a:prstGeom prst="rect">
            <a:avLst/>
          </a:prstGeom>
          <a:noFill/>
          <a:ln/>
        </p:spPr>
        <p:txBody>
          <a:bodyPr wrap="square" lIns="0" tIns="0" rIns="0" bIns="0" rtlCol="0" anchor="ctr">
            <a:normAutofit/>
          </a:bodyPr>
          <a:lstStyle/>
          <a:p>
            <a:pPr indent="0" marL="0">
              <a:buNone/>
            </a:pPr>
            <a:r>
              <a:rPr lang="en-US" sz="3200" b="1" dirty="0">
                <a:solidFill>
                  <a:srgbClr val="111B33"/>
                </a:solidFill>
                <a:latin typeface="Aptos Display" pitchFamily="34" charset="0"/>
                <a:ea typeface="Aptos Display" pitchFamily="34" charset="-122"/>
                <a:cs typeface="Aptos Display" pitchFamily="34" charset="-120"/>
              </a:rPr>
              <a:t>AI • Machine Learning • Generative AI</a:t>
            </a:r>
            <a:endParaRPr lang="en-US" sz="3200" dirty="0"/>
          </a:p>
        </p:txBody>
      </p:sp>
      <p:sp>
        <p:nvSpPr>
          <p:cNvPr id="6" name="Text 4"/>
          <p:cNvSpPr/>
          <p:nvPr/>
        </p:nvSpPr>
        <p:spPr>
          <a:xfrm>
            <a:off x="603504" y="1655064"/>
            <a:ext cx="10881360" cy="475488"/>
          </a:xfrm>
          <a:prstGeom prst="rect">
            <a:avLst/>
          </a:prstGeom>
          <a:noFill/>
          <a:ln/>
        </p:spPr>
        <p:txBody>
          <a:bodyPr wrap="square" lIns="0" tIns="0" rIns="0" bIns="0" rtlCol="0" anchor="ctr">
            <a:normAutofit/>
          </a:bodyPr>
          <a:lstStyle/>
          <a:p>
            <a:pPr indent="0" marL="0">
              <a:buNone/>
            </a:pPr>
            <a:r>
              <a:rPr lang="en-US" sz="1700" dirty="0">
                <a:solidFill>
                  <a:srgbClr val="5C6981"/>
                </a:solidFill>
                <a:latin typeface="Aptos" pitchFamily="34" charset="0"/>
                <a:ea typeface="Aptos" pitchFamily="34" charset="-122"/>
                <a:cs typeface="Aptos" pitchFamily="34" charset="-120"/>
              </a:rPr>
              <a:t>Connected ideas, each with a different emphasis.</a:t>
            </a:r>
            <a:endParaRPr lang="en-US" sz="1700" dirty="0"/>
          </a:p>
        </p:txBody>
      </p:sp>
      <p:sp>
        <p:nvSpPr>
          <p:cNvPr id="7" name="Shape 5"/>
          <p:cNvSpPr/>
          <p:nvPr/>
        </p:nvSpPr>
        <p:spPr>
          <a:xfrm>
            <a:off x="621792" y="2130552"/>
            <a:ext cx="3529584" cy="3273552"/>
          </a:xfrm>
          <a:prstGeom prst="roundRect">
            <a:avLst>
              <a:gd name="adj" fmla="val 2793"/>
            </a:avLst>
          </a:prstGeom>
          <a:solidFill>
            <a:srgbClr val="FFFFFF"/>
          </a:solidFill>
          <a:ln w="12700">
            <a:solidFill>
              <a:srgbClr val="DFE6EF"/>
            </a:solidFill>
            <a:prstDash val="solid"/>
          </a:ln>
        </p:spPr>
      </p:sp>
      <p:sp>
        <p:nvSpPr>
          <p:cNvPr id="8" name="Shape 6"/>
          <p:cNvSpPr/>
          <p:nvPr/>
        </p:nvSpPr>
        <p:spPr>
          <a:xfrm>
            <a:off x="768096" y="2276856"/>
            <a:ext cx="3236976" cy="850392"/>
          </a:xfrm>
          <a:prstGeom prst="roundRect">
            <a:avLst>
              <a:gd name="adj" fmla="val 10753"/>
            </a:avLst>
          </a:prstGeom>
          <a:solidFill>
            <a:srgbClr val="EAF1FF"/>
          </a:solidFill>
          <a:ln w="12700">
            <a:solidFill>
              <a:srgbClr val="EAF1FF">
                <a:alpha val="0"/>
              </a:srgbClr>
            </a:solidFill>
            <a:prstDash val="solid"/>
          </a:ln>
        </p:spPr>
      </p:sp>
      <p:sp>
        <p:nvSpPr>
          <p:cNvPr id="9" name="Text 7"/>
          <p:cNvSpPr/>
          <p:nvPr/>
        </p:nvSpPr>
        <p:spPr>
          <a:xfrm>
            <a:off x="932688" y="2404872"/>
            <a:ext cx="2889504" cy="530352"/>
          </a:xfrm>
          <a:prstGeom prst="rect">
            <a:avLst/>
          </a:prstGeom>
          <a:noFill/>
          <a:ln/>
        </p:spPr>
        <p:txBody>
          <a:bodyPr wrap="square" lIns="0" tIns="0" rIns="0" bIns="0" rtlCol="0" anchor="ctr">
            <a:normAutofit/>
          </a:bodyPr>
          <a:lstStyle/>
          <a:p>
            <a:pPr algn="ctr" indent="0" marL="0">
              <a:buNone/>
            </a:pPr>
            <a:r>
              <a:rPr lang="en-US" sz="3100" b="1" dirty="0">
                <a:solidFill>
                  <a:srgbClr val="111B33"/>
                </a:solidFill>
                <a:latin typeface="Aptos" pitchFamily="34" charset="0"/>
                <a:ea typeface="Aptos" pitchFamily="34" charset="-122"/>
                <a:cs typeface="Aptos" pitchFamily="34" charset="-120"/>
              </a:rPr>
              <a:t>AI</a:t>
            </a:r>
            <a:endParaRPr lang="en-US" sz="3100" dirty="0"/>
          </a:p>
        </p:txBody>
      </p:sp>
      <p:sp>
        <p:nvSpPr>
          <p:cNvPr id="10" name="Text 8"/>
          <p:cNvSpPr/>
          <p:nvPr/>
        </p:nvSpPr>
        <p:spPr>
          <a:xfrm>
            <a:off x="841248" y="3355848"/>
            <a:ext cx="3090672" cy="365760"/>
          </a:xfrm>
          <a:prstGeom prst="rect">
            <a:avLst/>
          </a:prstGeom>
          <a:noFill/>
          <a:ln/>
        </p:spPr>
        <p:txBody>
          <a:bodyPr wrap="square" lIns="0" tIns="0" rIns="0" bIns="0" rtlCol="0" anchor="ctr">
            <a:normAutofit/>
          </a:bodyPr>
          <a:lstStyle/>
          <a:p>
            <a:pPr algn="ctr" indent="0" marL="0">
              <a:buNone/>
            </a:pPr>
            <a:r>
              <a:rPr lang="en-US" sz="1480" b="1" dirty="0">
                <a:solidFill>
                  <a:srgbClr val="111B33"/>
                </a:solidFill>
                <a:latin typeface="Aptos" pitchFamily="34" charset="0"/>
                <a:ea typeface="Aptos" pitchFamily="34" charset="-122"/>
                <a:cs typeface="Aptos" pitchFamily="34" charset="-120"/>
              </a:rPr>
              <a:t>THE BROAD FIELD</a:t>
            </a:r>
            <a:endParaRPr lang="en-US" sz="1480" dirty="0"/>
          </a:p>
        </p:txBody>
      </p:sp>
      <p:sp>
        <p:nvSpPr>
          <p:cNvPr id="11" name="Text 9"/>
          <p:cNvSpPr/>
          <p:nvPr/>
        </p:nvSpPr>
        <p:spPr>
          <a:xfrm>
            <a:off x="932688" y="3867912"/>
            <a:ext cx="2907792" cy="758952"/>
          </a:xfrm>
          <a:prstGeom prst="rect">
            <a:avLst/>
          </a:prstGeom>
          <a:noFill/>
          <a:ln/>
        </p:spPr>
        <p:txBody>
          <a:bodyPr wrap="square" lIns="0" tIns="0" rIns="0" bIns="0" rtlCol="0" anchor="t">
            <a:normAutofit/>
          </a:bodyPr>
          <a:lstStyle/>
          <a:p>
            <a:pPr algn="ctr" indent="0" marL="0">
              <a:buNone/>
            </a:pPr>
            <a:r>
              <a:rPr lang="en-US" sz="1700" dirty="0">
                <a:solidFill>
                  <a:srgbClr val="5C6981"/>
                </a:solidFill>
                <a:latin typeface="Aptos" pitchFamily="34" charset="0"/>
                <a:ea typeface="Aptos" pitchFamily="34" charset="-122"/>
                <a:cs typeface="Aptos" pitchFamily="34" charset="-120"/>
              </a:rPr>
              <a:t>Computers tackling tasks associated with intelligence.</a:t>
            </a:r>
            <a:endParaRPr lang="en-US" sz="1700" dirty="0"/>
          </a:p>
        </p:txBody>
      </p:sp>
      <p:sp>
        <p:nvSpPr>
          <p:cNvPr id="12" name="Text 10"/>
          <p:cNvSpPr/>
          <p:nvPr/>
        </p:nvSpPr>
        <p:spPr>
          <a:xfrm>
            <a:off x="896112" y="4882896"/>
            <a:ext cx="2980944" cy="310896"/>
          </a:xfrm>
          <a:prstGeom prst="rect">
            <a:avLst/>
          </a:prstGeom>
          <a:noFill/>
          <a:ln/>
        </p:spPr>
        <p:txBody>
          <a:bodyPr wrap="square" lIns="0" tIns="0" rIns="0" bIns="0" rtlCol="0" anchor="ctr">
            <a:normAutofit/>
          </a:bodyPr>
          <a:lstStyle/>
          <a:p>
            <a:pPr algn="ctr" indent="0" marL="0">
              <a:buNone/>
            </a:pPr>
            <a:r>
              <a:rPr lang="en-US" sz="1370" b="1" dirty="0">
                <a:solidFill>
                  <a:srgbClr val="4A8BF4"/>
                </a:solidFill>
                <a:latin typeface="Aptos" pitchFamily="34" charset="0"/>
                <a:ea typeface="Aptos" pitchFamily="34" charset="-122"/>
                <a:cs typeface="Aptos" pitchFamily="34" charset="-120"/>
              </a:rPr>
              <a:t>Recognise • Recommend</a:t>
            </a:r>
            <a:endParaRPr lang="en-US" sz="1370" dirty="0"/>
          </a:p>
        </p:txBody>
      </p:sp>
      <p:sp>
        <p:nvSpPr>
          <p:cNvPr id="13" name="Shape 11"/>
          <p:cNvSpPr/>
          <p:nvPr/>
        </p:nvSpPr>
        <p:spPr>
          <a:xfrm>
            <a:off x="4334256" y="2130552"/>
            <a:ext cx="3529584" cy="3273552"/>
          </a:xfrm>
          <a:prstGeom prst="roundRect">
            <a:avLst>
              <a:gd name="adj" fmla="val 2793"/>
            </a:avLst>
          </a:prstGeom>
          <a:solidFill>
            <a:srgbClr val="FFFFFF"/>
          </a:solidFill>
          <a:ln w="12700">
            <a:solidFill>
              <a:srgbClr val="DFE6EF"/>
            </a:solidFill>
            <a:prstDash val="solid"/>
          </a:ln>
        </p:spPr>
      </p:sp>
      <p:sp>
        <p:nvSpPr>
          <p:cNvPr id="14" name="Shape 12"/>
          <p:cNvSpPr/>
          <p:nvPr/>
        </p:nvSpPr>
        <p:spPr>
          <a:xfrm>
            <a:off x="4480560" y="2276856"/>
            <a:ext cx="3236976" cy="850392"/>
          </a:xfrm>
          <a:prstGeom prst="roundRect">
            <a:avLst>
              <a:gd name="adj" fmla="val 10753"/>
            </a:avLst>
          </a:prstGeom>
          <a:solidFill>
            <a:srgbClr val="E6F9F5"/>
          </a:solidFill>
          <a:ln w="12700">
            <a:solidFill>
              <a:srgbClr val="E6F9F5">
                <a:alpha val="0"/>
              </a:srgbClr>
            </a:solidFill>
            <a:prstDash val="solid"/>
          </a:ln>
        </p:spPr>
      </p:sp>
      <p:sp>
        <p:nvSpPr>
          <p:cNvPr id="15" name="Text 13"/>
          <p:cNvSpPr/>
          <p:nvPr/>
        </p:nvSpPr>
        <p:spPr>
          <a:xfrm>
            <a:off x="4645152" y="2404872"/>
            <a:ext cx="2889504" cy="530352"/>
          </a:xfrm>
          <a:prstGeom prst="rect">
            <a:avLst/>
          </a:prstGeom>
          <a:noFill/>
          <a:ln/>
        </p:spPr>
        <p:txBody>
          <a:bodyPr wrap="square" lIns="0" tIns="0" rIns="0" bIns="0" rtlCol="0" anchor="ctr">
            <a:normAutofit/>
          </a:bodyPr>
          <a:lstStyle/>
          <a:p>
            <a:pPr algn="ctr" indent="0" marL="0">
              <a:buNone/>
            </a:pPr>
            <a:r>
              <a:rPr lang="en-US" sz="3100" b="1" dirty="0">
                <a:solidFill>
                  <a:srgbClr val="111B33"/>
                </a:solidFill>
                <a:latin typeface="Aptos" pitchFamily="34" charset="0"/>
                <a:ea typeface="Aptos" pitchFamily="34" charset="-122"/>
                <a:cs typeface="Aptos" pitchFamily="34" charset="-120"/>
              </a:rPr>
              <a:t>ML</a:t>
            </a:r>
            <a:endParaRPr lang="en-US" sz="3100" dirty="0"/>
          </a:p>
        </p:txBody>
      </p:sp>
      <p:sp>
        <p:nvSpPr>
          <p:cNvPr id="16" name="Text 14"/>
          <p:cNvSpPr/>
          <p:nvPr/>
        </p:nvSpPr>
        <p:spPr>
          <a:xfrm>
            <a:off x="4553712" y="3355848"/>
            <a:ext cx="3090672" cy="365760"/>
          </a:xfrm>
          <a:prstGeom prst="rect">
            <a:avLst/>
          </a:prstGeom>
          <a:noFill/>
          <a:ln/>
        </p:spPr>
        <p:txBody>
          <a:bodyPr wrap="square" lIns="0" tIns="0" rIns="0" bIns="0" rtlCol="0" anchor="ctr">
            <a:normAutofit/>
          </a:bodyPr>
          <a:lstStyle/>
          <a:p>
            <a:pPr algn="ctr" indent="0" marL="0">
              <a:buNone/>
            </a:pPr>
            <a:r>
              <a:rPr lang="en-US" sz="1480" b="1" dirty="0">
                <a:solidFill>
                  <a:srgbClr val="111B33"/>
                </a:solidFill>
                <a:latin typeface="Aptos" pitchFamily="34" charset="0"/>
                <a:ea typeface="Aptos" pitchFamily="34" charset="-122"/>
                <a:cs typeface="Aptos" pitchFamily="34" charset="-120"/>
              </a:rPr>
              <a:t>LEARNING PATTERNS</a:t>
            </a:r>
            <a:endParaRPr lang="en-US" sz="1480" dirty="0"/>
          </a:p>
        </p:txBody>
      </p:sp>
      <p:sp>
        <p:nvSpPr>
          <p:cNvPr id="17" name="Text 15"/>
          <p:cNvSpPr/>
          <p:nvPr/>
        </p:nvSpPr>
        <p:spPr>
          <a:xfrm>
            <a:off x="4645152" y="3867912"/>
            <a:ext cx="2907792" cy="758952"/>
          </a:xfrm>
          <a:prstGeom prst="rect">
            <a:avLst/>
          </a:prstGeom>
          <a:noFill/>
          <a:ln/>
        </p:spPr>
        <p:txBody>
          <a:bodyPr wrap="square" lIns="0" tIns="0" rIns="0" bIns="0" rtlCol="0" anchor="t">
            <a:normAutofit/>
          </a:bodyPr>
          <a:lstStyle/>
          <a:p>
            <a:pPr algn="ctr" indent="0" marL="0">
              <a:buNone/>
            </a:pPr>
            <a:r>
              <a:rPr lang="en-US" sz="1700" dirty="0">
                <a:solidFill>
                  <a:srgbClr val="5C6981"/>
                </a:solidFill>
                <a:latin typeface="Aptos" pitchFamily="34" charset="0"/>
                <a:ea typeface="Aptos" pitchFamily="34" charset="-122"/>
                <a:cs typeface="Aptos" pitchFamily="34" charset="-120"/>
              </a:rPr>
              <a:t>Models learn useful patterns from data or examples.</a:t>
            </a:r>
            <a:endParaRPr lang="en-US" sz="1700" dirty="0"/>
          </a:p>
        </p:txBody>
      </p:sp>
      <p:sp>
        <p:nvSpPr>
          <p:cNvPr id="18" name="Text 16"/>
          <p:cNvSpPr/>
          <p:nvPr/>
        </p:nvSpPr>
        <p:spPr>
          <a:xfrm>
            <a:off x="4608576" y="4882896"/>
            <a:ext cx="2980944" cy="310896"/>
          </a:xfrm>
          <a:prstGeom prst="rect">
            <a:avLst/>
          </a:prstGeom>
          <a:noFill/>
          <a:ln/>
        </p:spPr>
        <p:txBody>
          <a:bodyPr wrap="square" lIns="0" tIns="0" rIns="0" bIns="0" rtlCol="0" anchor="ctr">
            <a:normAutofit/>
          </a:bodyPr>
          <a:lstStyle/>
          <a:p>
            <a:pPr algn="ctr" indent="0" marL="0">
              <a:buNone/>
            </a:pPr>
            <a:r>
              <a:rPr lang="en-US" sz="1370" b="1" dirty="0">
                <a:solidFill>
                  <a:srgbClr val="148F7E"/>
                </a:solidFill>
                <a:latin typeface="Aptos" pitchFamily="34" charset="0"/>
                <a:ea typeface="Aptos" pitchFamily="34" charset="-122"/>
                <a:cs typeface="Aptos" pitchFamily="34" charset="-120"/>
              </a:rPr>
              <a:t>Classify • Predict</a:t>
            </a:r>
            <a:endParaRPr lang="en-US" sz="1370" dirty="0"/>
          </a:p>
        </p:txBody>
      </p:sp>
      <p:sp>
        <p:nvSpPr>
          <p:cNvPr id="19" name="Shape 17"/>
          <p:cNvSpPr/>
          <p:nvPr/>
        </p:nvSpPr>
        <p:spPr>
          <a:xfrm>
            <a:off x="8046720" y="2130552"/>
            <a:ext cx="3529584" cy="3273552"/>
          </a:xfrm>
          <a:prstGeom prst="roundRect">
            <a:avLst>
              <a:gd name="adj" fmla="val 2793"/>
            </a:avLst>
          </a:prstGeom>
          <a:solidFill>
            <a:srgbClr val="FFFFFF"/>
          </a:solidFill>
          <a:ln w="12700">
            <a:solidFill>
              <a:srgbClr val="DFE6EF"/>
            </a:solidFill>
            <a:prstDash val="solid"/>
          </a:ln>
        </p:spPr>
      </p:sp>
      <p:sp>
        <p:nvSpPr>
          <p:cNvPr id="20" name="Shape 18"/>
          <p:cNvSpPr/>
          <p:nvPr/>
        </p:nvSpPr>
        <p:spPr>
          <a:xfrm>
            <a:off x="8193024" y="2276856"/>
            <a:ext cx="3236976" cy="850392"/>
          </a:xfrm>
          <a:prstGeom prst="roundRect">
            <a:avLst>
              <a:gd name="adj" fmla="val 10753"/>
            </a:avLst>
          </a:prstGeom>
          <a:solidFill>
            <a:srgbClr val="F2EDFF"/>
          </a:solidFill>
          <a:ln w="12700">
            <a:solidFill>
              <a:srgbClr val="F2EDFF">
                <a:alpha val="0"/>
              </a:srgbClr>
            </a:solidFill>
            <a:prstDash val="solid"/>
          </a:ln>
        </p:spPr>
      </p:sp>
      <p:sp>
        <p:nvSpPr>
          <p:cNvPr id="21" name="Text 19"/>
          <p:cNvSpPr/>
          <p:nvPr/>
        </p:nvSpPr>
        <p:spPr>
          <a:xfrm>
            <a:off x="8357616" y="2404872"/>
            <a:ext cx="2889504" cy="530352"/>
          </a:xfrm>
          <a:prstGeom prst="rect">
            <a:avLst/>
          </a:prstGeom>
          <a:noFill/>
          <a:ln/>
        </p:spPr>
        <p:txBody>
          <a:bodyPr wrap="square" lIns="0" tIns="0" rIns="0" bIns="0" rtlCol="0" anchor="ctr">
            <a:normAutofit/>
          </a:bodyPr>
          <a:lstStyle/>
          <a:p>
            <a:pPr algn="ctr" indent="0" marL="0">
              <a:buNone/>
            </a:pPr>
            <a:r>
              <a:rPr lang="en-US" sz="3100" b="1" dirty="0">
                <a:solidFill>
                  <a:srgbClr val="111B33"/>
                </a:solidFill>
                <a:latin typeface="Aptos" pitchFamily="34" charset="0"/>
                <a:ea typeface="Aptos" pitchFamily="34" charset="-122"/>
                <a:cs typeface="Aptos" pitchFamily="34" charset="-120"/>
              </a:rPr>
              <a:t>GEN AI</a:t>
            </a:r>
            <a:endParaRPr lang="en-US" sz="3100" dirty="0"/>
          </a:p>
        </p:txBody>
      </p:sp>
      <p:sp>
        <p:nvSpPr>
          <p:cNvPr id="22" name="Text 20"/>
          <p:cNvSpPr/>
          <p:nvPr/>
        </p:nvSpPr>
        <p:spPr>
          <a:xfrm>
            <a:off x="8266176" y="3355848"/>
            <a:ext cx="3090672" cy="365760"/>
          </a:xfrm>
          <a:prstGeom prst="rect">
            <a:avLst/>
          </a:prstGeom>
          <a:noFill/>
          <a:ln/>
        </p:spPr>
        <p:txBody>
          <a:bodyPr wrap="square" lIns="0" tIns="0" rIns="0" bIns="0" rtlCol="0" anchor="ctr">
            <a:normAutofit/>
          </a:bodyPr>
          <a:lstStyle/>
          <a:p>
            <a:pPr algn="ctr" indent="0" marL="0">
              <a:buNone/>
            </a:pPr>
            <a:r>
              <a:rPr lang="en-US" sz="1480" b="1" dirty="0">
                <a:solidFill>
                  <a:srgbClr val="111B33"/>
                </a:solidFill>
                <a:latin typeface="Aptos" pitchFamily="34" charset="0"/>
                <a:ea typeface="Aptos" pitchFamily="34" charset="-122"/>
                <a:cs typeface="Aptos" pitchFamily="34" charset="-120"/>
              </a:rPr>
              <a:t>CREATING CONTENT</a:t>
            </a:r>
            <a:endParaRPr lang="en-US" sz="1480" dirty="0"/>
          </a:p>
        </p:txBody>
      </p:sp>
      <p:sp>
        <p:nvSpPr>
          <p:cNvPr id="23" name="Text 21"/>
          <p:cNvSpPr/>
          <p:nvPr/>
        </p:nvSpPr>
        <p:spPr>
          <a:xfrm>
            <a:off x="8357616" y="3867912"/>
            <a:ext cx="2907792" cy="758952"/>
          </a:xfrm>
          <a:prstGeom prst="rect">
            <a:avLst/>
          </a:prstGeom>
          <a:noFill/>
          <a:ln/>
        </p:spPr>
        <p:txBody>
          <a:bodyPr wrap="square" lIns="0" tIns="0" rIns="0" bIns="0" rtlCol="0" anchor="t">
            <a:normAutofit/>
          </a:bodyPr>
          <a:lstStyle/>
          <a:p>
            <a:pPr algn="ctr" indent="0" marL="0">
              <a:buNone/>
            </a:pPr>
            <a:r>
              <a:rPr lang="en-US" sz="1700" dirty="0">
                <a:solidFill>
                  <a:srgbClr val="5C6981"/>
                </a:solidFill>
                <a:latin typeface="Aptos" pitchFamily="34" charset="0"/>
                <a:ea typeface="Aptos" pitchFamily="34" charset="-122"/>
                <a:cs typeface="Aptos" pitchFamily="34" charset="-120"/>
              </a:rPr>
              <a:t>Systems generate text, images, audio, video or code.</a:t>
            </a:r>
            <a:endParaRPr lang="en-US" sz="1700" dirty="0"/>
          </a:p>
        </p:txBody>
      </p:sp>
      <p:sp>
        <p:nvSpPr>
          <p:cNvPr id="24" name="Text 22"/>
          <p:cNvSpPr/>
          <p:nvPr/>
        </p:nvSpPr>
        <p:spPr>
          <a:xfrm>
            <a:off x="8321040" y="4882896"/>
            <a:ext cx="2980944" cy="310896"/>
          </a:xfrm>
          <a:prstGeom prst="rect">
            <a:avLst/>
          </a:prstGeom>
          <a:noFill/>
          <a:ln/>
        </p:spPr>
        <p:txBody>
          <a:bodyPr wrap="square" lIns="0" tIns="0" rIns="0" bIns="0" rtlCol="0" anchor="ctr">
            <a:normAutofit/>
          </a:bodyPr>
          <a:lstStyle/>
          <a:p>
            <a:pPr algn="ctr" indent="0" marL="0">
              <a:buNone/>
            </a:pPr>
            <a:r>
              <a:rPr lang="en-US" sz="1370" b="1" dirty="0">
                <a:solidFill>
                  <a:srgbClr val="9F85FC"/>
                </a:solidFill>
                <a:latin typeface="Aptos" pitchFamily="34" charset="0"/>
                <a:ea typeface="Aptos" pitchFamily="34" charset="-122"/>
                <a:cs typeface="Aptos" pitchFamily="34" charset="-120"/>
              </a:rPr>
              <a:t>Write • Draw • Build</a:t>
            </a:r>
            <a:endParaRPr lang="en-US" sz="1370" dirty="0"/>
          </a:p>
        </p:txBody>
      </p:sp>
      <p:sp>
        <p:nvSpPr>
          <p:cNvPr id="25" name="Shape 23"/>
          <p:cNvSpPr/>
          <p:nvPr/>
        </p:nvSpPr>
        <p:spPr>
          <a:xfrm>
            <a:off x="1014984" y="5669280"/>
            <a:ext cx="10177272" cy="530352"/>
          </a:xfrm>
          <a:prstGeom prst="roundRect">
            <a:avLst>
              <a:gd name="adj" fmla="val 17241"/>
            </a:avLst>
          </a:prstGeom>
          <a:solidFill>
            <a:srgbClr val="E9F8F5"/>
          </a:solidFill>
          <a:ln w="12700">
            <a:solidFill>
              <a:srgbClr val="E9F8F5"/>
            </a:solidFill>
            <a:prstDash val="solid"/>
          </a:ln>
        </p:spPr>
      </p:sp>
      <p:sp>
        <p:nvSpPr>
          <p:cNvPr id="26" name="Text 24"/>
          <p:cNvSpPr/>
          <p:nvPr/>
        </p:nvSpPr>
        <p:spPr>
          <a:xfrm>
            <a:off x="1170432" y="5724144"/>
            <a:ext cx="9921240" cy="402336"/>
          </a:xfrm>
          <a:prstGeom prst="rect">
            <a:avLst/>
          </a:prstGeom>
          <a:noFill/>
          <a:ln/>
        </p:spPr>
        <p:txBody>
          <a:bodyPr wrap="square" lIns="0" tIns="0" rIns="0" bIns="0" rtlCol="0" anchor="ctr">
            <a:normAutofit/>
          </a:bodyPr>
          <a:lstStyle/>
          <a:p>
            <a:pPr algn="ctr" indent="0" marL="0">
              <a:buNone/>
            </a:pPr>
            <a:r>
              <a:rPr lang="en-US" sz="1420" b="1" dirty="0">
                <a:solidFill>
                  <a:srgbClr val="111B33"/>
                </a:solidFill>
                <a:latin typeface="Aptos" pitchFamily="34" charset="0"/>
                <a:ea typeface="Aptos" pitchFamily="34" charset="-122"/>
                <a:cs typeface="Aptos" pitchFamily="34" charset="-120"/>
              </a:rPr>
              <a:t>AI is the umbrella   •   ML is an approach within AI   •   Modern generative AI commonly uses ML</a:t>
            </a:r>
            <a:endParaRPr lang="en-US" sz="1420" dirty="0"/>
          </a:p>
        </p:txBody>
      </p:sp>
      <p:sp>
        <p:nvSpPr>
          <p:cNvPr id="27" name="Shape 25"/>
          <p:cNvSpPr/>
          <p:nvPr/>
        </p:nvSpPr>
        <p:spPr>
          <a:xfrm>
            <a:off x="576072" y="6437376"/>
            <a:ext cx="11036808" cy="0"/>
          </a:xfrm>
          <a:prstGeom prst="line">
            <a:avLst/>
          </a:prstGeom>
          <a:noFill/>
          <a:ln w="12700">
            <a:solidFill>
              <a:srgbClr val="E4E9F0"/>
            </a:solidFill>
            <a:prstDash val="solid"/>
          </a:ln>
        </p:spPr>
      </p:sp>
      <p:sp>
        <p:nvSpPr>
          <p:cNvPr id="28" name="Text 26"/>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29" name="Text 27"/>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pic>
        <p:nvPicPr>
          <p:cNvPr id="2" name="Image 0" descr="/mnt/data/AI_in_Action_Module_1/visuals/journey.jp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1225296"/>
          </a:xfrm>
          <a:prstGeom prst="rect">
            <a:avLst/>
          </a:prstGeom>
          <a:solidFill>
            <a:srgbClr val="0B1328">
              <a:alpha val="85000"/>
            </a:srgbClr>
          </a:solidFill>
          <a:ln w="12700">
            <a:solidFill>
              <a:srgbClr val="0B1328">
                <a:alpha val="0"/>
              </a:srgbClr>
            </a:solidFill>
            <a:prstDash val="solid"/>
          </a:ln>
        </p:spPr>
      </p:sp>
      <p:sp>
        <p:nvSpPr>
          <p:cNvPr id="4" name="Shape 1"/>
          <p:cNvSpPr/>
          <p:nvPr/>
        </p:nvSpPr>
        <p:spPr>
          <a:xfrm>
            <a:off x="0" y="4791456"/>
            <a:ext cx="12192000" cy="2066544"/>
          </a:xfrm>
          <a:prstGeom prst="rect">
            <a:avLst/>
          </a:prstGeom>
          <a:solidFill>
            <a:srgbClr val="0B1328">
              <a:alpha val="89000"/>
            </a:srgbClr>
          </a:solidFill>
          <a:ln w="12700">
            <a:solidFill>
              <a:srgbClr val="0B1328">
                <a:alpha val="0"/>
              </a:srgbClr>
            </a:solidFill>
            <a:prstDash val="solid"/>
          </a:ln>
        </p:spPr>
      </p:sp>
      <p:sp>
        <p:nvSpPr>
          <p:cNvPr id="5" name="Text 2"/>
          <p:cNvSpPr/>
          <p:nvPr/>
        </p:nvSpPr>
        <p:spPr>
          <a:xfrm>
            <a:off x="603504" y="310896"/>
            <a:ext cx="5943600" cy="384048"/>
          </a:xfrm>
          <a:prstGeom prst="rect">
            <a:avLst/>
          </a:prstGeom>
          <a:noFill/>
          <a:ln/>
        </p:spPr>
        <p:txBody>
          <a:bodyPr wrap="square" lIns="0" tIns="0" rIns="0" bIns="0" rtlCol="0" anchor="ctr">
            <a:normAutofit/>
          </a:bodyPr>
          <a:lstStyle/>
          <a:p>
            <a:pPr indent="0" marL="0">
              <a:buNone/>
            </a:pPr>
            <a:r>
              <a:rPr lang="en-US" sz="1600" b="1" spc="160" kern="0" dirty="0">
                <a:solidFill>
                  <a:srgbClr val="20DDC3"/>
                </a:solidFill>
                <a:latin typeface="Aptos" pitchFamily="34" charset="0"/>
                <a:ea typeface="Aptos" pitchFamily="34" charset="-122"/>
                <a:cs typeface="Aptos" pitchFamily="34" charset="-120"/>
              </a:rPr>
              <a:t>AI CAN HELP ME...</a:t>
            </a:r>
            <a:endParaRPr lang="en-US" sz="1600" dirty="0"/>
          </a:p>
        </p:txBody>
      </p:sp>
      <p:sp>
        <p:nvSpPr>
          <p:cNvPr id="6" name="Text 3"/>
          <p:cNvSpPr/>
          <p:nvPr/>
        </p:nvSpPr>
        <p:spPr>
          <a:xfrm>
            <a:off x="603504" y="768096"/>
            <a:ext cx="10972800" cy="585216"/>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pitchFamily="34" charset="0"/>
                <a:ea typeface="Aptos" pitchFamily="34" charset="-122"/>
                <a:cs typeface="Aptos" pitchFamily="34" charset="-120"/>
              </a:rPr>
              <a:t>LEARN  •  CREATE  •  BUILD</a:t>
            </a:r>
            <a:endParaRPr lang="en-US" sz="3000" dirty="0"/>
          </a:p>
        </p:txBody>
      </p:sp>
      <p:sp>
        <p:nvSpPr>
          <p:cNvPr id="7" name="Shape 4"/>
          <p:cNvSpPr/>
          <p:nvPr/>
        </p:nvSpPr>
        <p:spPr>
          <a:xfrm>
            <a:off x="594360" y="4956048"/>
            <a:ext cx="3575304" cy="1197864"/>
          </a:xfrm>
          <a:prstGeom prst="roundRect">
            <a:avLst>
              <a:gd name="adj" fmla="val 7634"/>
            </a:avLst>
          </a:prstGeom>
          <a:solidFill>
            <a:srgbClr val="FFFFFF"/>
          </a:solidFill>
          <a:ln w="12700">
            <a:solidFill>
              <a:srgbClr val="FFFFFF"/>
            </a:solidFill>
            <a:prstDash val="solid"/>
          </a:ln>
        </p:spPr>
      </p:sp>
      <p:sp>
        <p:nvSpPr>
          <p:cNvPr id="8" name="Text 5"/>
          <p:cNvSpPr/>
          <p:nvPr/>
        </p:nvSpPr>
        <p:spPr>
          <a:xfrm>
            <a:off x="758952" y="5166360"/>
            <a:ext cx="484632" cy="429768"/>
          </a:xfrm>
          <a:prstGeom prst="rect">
            <a:avLst/>
          </a:prstGeom>
          <a:noFill/>
          <a:ln/>
        </p:spPr>
        <p:txBody>
          <a:bodyPr wrap="square" lIns="0" tIns="0" rIns="0" bIns="0" rtlCol="0" anchor="ctr">
            <a:normAutofit/>
          </a:bodyPr>
          <a:lstStyle/>
          <a:p>
            <a:pPr indent="0" marL="0">
              <a:buNone/>
            </a:pPr>
            <a:r>
              <a:rPr lang="en-US" sz="2300" dirty="0">
                <a:solidFill>
                  <a:srgbClr val="111B33"/>
                </a:solidFill>
                <a:latin typeface="Aptos" pitchFamily="34" charset="0"/>
                <a:ea typeface="Aptos" pitchFamily="34" charset="-122"/>
                <a:cs typeface="Aptos" pitchFamily="34" charset="-120"/>
              </a:rPr>
              <a:t>📚</a:t>
            </a:r>
            <a:endParaRPr lang="en-US" sz="2300" dirty="0"/>
          </a:p>
        </p:txBody>
      </p:sp>
      <p:sp>
        <p:nvSpPr>
          <p:cNvPr id="9" name="Text 6"/>
          <p:cNvSpPr/>
          <p:nvPr/>
        </p:nvSpPr>
        <p:spPr>
          <a:xfrm>
            <a:off x="1289304" y="5074920"/>
            <a:ext cx="2651760" cy="356616"/>
          </a:xfrm>
          <a:prstGeom prst="rect">
            <a:avLst/>
          </a:prstGeom>
          <a:noFill/>
          <a:ln/>
        </p:spPr>
        <p:txBody>
          <a:bodyPr wrap="square" lIns="0" tIns="0" rIns="0" bIns="0" rtlCol="0" anchor="ctr">
            <a:normAutofit/>
          </a:bodyPr>
          <a:lstStyle/>
          <a:p>
            <a:pPr indent="0" marL="0">
              <a:buNone/>
            </a:pPr>
            <a:r>
              <a:rPr lang="en-US" sz="1680" b="1" dirty="0">
                <a:solidFill>
                  <a:srgbClr val="111B33"/>
                </a:solidFill>
                <a:latin typeface="Aptos" pitchFamily="34" charset="0"/>
                <a:ea typeface="Aptos" pitchFamily="34" charset="-122"/>
                <a:cs typeface="Aptos" pitchFamily="34" charset="-120"/>
              </a:rPr>
              <a:t>LEARN</a:t>
            </a:r>
            <a:endParaRPr lang="en-US" sz="1680" dirty="0"/>
          </a:p>
        </p:txBody>
      </p:sp>
      <p:sp>
        <p:nvSpPr>
          <p:cNvPr id="10" name="Text 7"/>
          <p:cNvSpPr/>
          <p:nvPr/>
        </p:nvSpPr>
        <p:spPr>
          <a:xfrm>
            <a:off x="1298448" y="5440680"/>
            <a:ext cx="2679192" cy="475488"/>
          </a:xfrm>
          <a:prstGeom prst="rect">
            <a:avLst/>
          </a:prstGeom>
          <a:noFill/>
          <a:ln/>
        </p:spPr>
        <p:txBody>
          <a:bodyPr wrap="square" lIns="0" tIns="0" rIns="0" bIns="0" rtlCol="0" anchor="ctr">
            <a:normAutofit/>
          </a:bodyPr>
          <a:lstStyle/>
          <a:p>
            <a:pPr indent="0" marL="0">
              <a:buNone/>
            </a:pPr>
            <a:r>
              <a:rPr lang="en-US" sz="1310" dirty="0">
                <a:solidFill>
                  <a:srgbClr val="5C6981"/>
                </a:solidFill>
                <a:latin typeface="Aptos" pitchFamily="34" charset="0"/>
                <a:ea typeface="Aptos" pitchFamily="34" charset="-122"/>
                <a:cs typeface="Aptos" pitchFamily="34" charset="-120"/>
              </a:rPr>
              <a:t>Turn information into understanding</a:t>
            </a:r>
            <a:endParaRPr lang="en-US" sz="1310" dirty="0"/>
          </a:p>
        </p:txBody>
      </p:sp>
      <p:sp>
        <p:nvSpPr>
          <p:cNvPr id="11" name="Shape 8"/>
          <p:cNvSpPr/>
          <p:nvPr/>
        </p:nvSpPr>
        <p:spPr>
          <a:xfrm>
            <a:off x="4416552" y="4956048"/>
            <a:ext cx="3575304" cy="1197864"/>
          </a:xfrm>
          <a:prstGeom prst="roundRect">
            <a:avLst>
              <a:gd name="adj" fmla="val 7634"/>
            </a:avLst>
          </a:prstGeom>
          <a:solidFill>
            <a:srgbClr val="FFFFFF"/>
          </a:solidFill>
          <a:ln w="12700">
            <a:solidFill>
              <a:srgbClr val="FFFFFF"/>
            </a:solidFill>
            <a:prstDash val="solid"/>
          </a:ln>
        </p:spPr>
      </p:sp>
      <p:sp>
        <p:nvSpPr>
          <p:cNvPr id="12" name="Text 9"/>
          <p:cNvSpPr/>
          <p:nvPr/>
        </p:nvSpPr>
        <p:spPr>
          <a:xfrm>
            <a:off x="4581144" y="5166360"/>
            <a:ext cx="484632" cy="429768"/>
          </a:xfrm>
          <a:prstGeom prst="rect">
            <a:avLst/>
          </a:prstGeom>
          <a:noFill/>
          <a:ln/>
        </p:spPr>
        <p:txBody>
          <a:bodyPr wrap="square" lIns="0" tIns="0" rIns="0" bIns="0" rtlCol="0" anchor="ctr">
            <a:normAutofit/>
          </a:bodyPr>
          <a:lstStyle/>
          <a:p>
            <a:pPr indent="0" marL="0">
              <a:buNone/>
            </a:pPr>
            <a:r>
              <a:rPr lang="en-US" sz="2300" dirty="0">
                <a:solidFill>
                  <a:srgbClr val="111B33"/>
                </a:solidFill>
                <a:latin typeface="Aptos" pitchFamily="34" charset="0"/>
                <a:ea typeface="Aptos" pitchFamily="34" charset="-122"/>
                <a:cs typeface="Aptos" pitchFamily="34" charset="-120"/>
              </a:rPr>
              <a:t>🎬</a:t>
            </a:r>
            <a:endParaRPr lang="en-US" sz="2300" dirty="0"/>
          </a:p>
        </p:txBody>
      </p:sp>
      <p:sp>
        <p:nvSpPr>
          <p:cNvPr id="13" name="Text 10"/>
          <p:cNvSpPr/>
          <p:nvPr/>
        </p:nvSpPr>
        <p:spPr>
          <a:xfrm>
            <a:off x="5111496" y="5074920"/>
            <a:ext cx="2651760" cy="356616"/>
          </a:xfrm>
          <a:prstGeom prst="rect">
            <a:avLst/>
          </a:prstGeom>
          <a:noFill/>
          <a:ln/>
        </p:spPr>
        <p:txBody>
          <a:bodyPr wrap="square" lIns="0" tIns="0" rIns="0" bIns="0" rtlCol="0" anchor="ctr">
            <a:normAutofit/>
          </a:bodyPr>
          <a:lstStyle/>
          <a:p>
            <a:pPr indent="0" marL="0">
              <a:buNone/>
            </a:pPr>
            <a:r>
              <a:rPr lang="en-US" sz="1680" b="1" dirty="0">
                <a:solidFill>
                  <a:srgbClr val="111B33"/>
                </a:solidFill>
                <a:latin typeface="Aptos" pitchFamily="34" charset="0"/>
                <a:ea typeface="Aptos" pitchFamily="34" charset="-122"/>
                <a:cs typeface="Aptos" pitchFamily="34" charset="-120"/>
              </a:rPr>
              <a:t>CREATE</a:t>
            </a:r>
            <a:endParaRPr lang="en-US" sz="1680" dirty="0"/>
          </a:p>
        </p:txBody>
      </p:sp>
      <p:sp>
        <p:nvSpPr>
          <p:cNvPr id="14" name="Text 11"/>
          <p:cNvSpPr/>
          <p:nvPr/>
        </p:nvSpPr>
        <p:spPr>
          <a:xfrm>
            <a:off x="5120640" y="5440680"/>
            <a:ext cx="2679192" cy="475488"/>
          </a:xfrm>
          <a:prstGeom prst="rect">
            <a:avLst/>
          </a:prstGeom>
          <a:noFill/>
          <a:ln/>
        </p:spPr>
        <p:txBody>
          <a:bodyPr wrap="square" lIns="0" tIns="0" rIns="0" bIns="0" rtlCol="0" anchor="ctr">
            <a:normAutofit/>
          </a:bodyPr>
          <a:lstStyle/>
          <a:p>
            <a:pPr indent="0" marL="0">
              <a:buNone/>
            </a:pPr>
            <a:r>
              <a:rPr lang="en-US" sz="1310" dirty="0">
                <a:solidFill>
                  <a:srgbClr val="5C6981"/>
                </a:solidFill>
                <a:latin typeface="Aptos" pitchFamily="34" charset="0"/>
                <a:ea typeface="Aptos" pitchFamily="34" charset="-122"/>
                <a:cs typeface="Aptos" pitchFamily="34" charset="-120"/>
              </a:rPr>
              <a:t>Turn ideas into videos and media</a:t>
            </a:r>
            <a:endParaRPr lang="en-US" sz="1310" dirty="0"/>
          </a:p>
        </p:txBody>
      </p:sp>
      <p:sp>
        <p:nvSpPr>
          <p:cNvPr id="15" name="Shape 12"/>
          <p:cNvSpPr/>
          <p:nvPr/>
        </p:nvSpPr>
        <p:spPr>
          <a:xfrm>
            <a:off x="8238744" y="4956048"/>
            <a:ext cx="3575304" cy="1197864"/>
          </a:xfrm>
          <a:prstGeom prst="roundRect">
            <a:avLst>
              <a:gd name="adj" fmla="val 7634"/>
            </a:avLst>
          </a:prstGeom>
          <a:solidFill>
            <a:srgbClr val="FFFFFF"/>
          </a:solidFill>
          <a:ln w="12700">
            <a:solidFill>
              <a:srgbClr val="FFFFFF"/>
            </a:solidFill>
            <a:prstDash val="solid"/>
          </a:ln>
        </p:spPr>
      </p:sp>
      <p:sp>
        <p:nvSpPr>
          <p:cNvPr id="16" name="Text 13"/>
          <p:cNvSpPr/>
          <p:nvPr/>
        </p:nvSpPr>
        <p:spPr>
          <a:xfrm>
            <a:off x="8403336" y="5166360"/>
            <a:ext cx="484632" cy="429768"/>
          </a:xfrm>
          <a:prstGeom prst="rect">
            <a:avLst/>
          </a:prstGeom>
          <a:noFill/>
          <a:ln/>
        </p:spPr>
        <p:txBody>
          <a:bodyPr wrap="square" lIns="0" tIns="0" rIns="0" bIns="0" rtlCol="0" anchor="ctr">
            <a:normAutofit/>
          </a:bodyPr>
          <a:lstStyle/>
          <a:p>
            <a:pPr indent="0" marL="0">
              <a:buNone/>
            </a:pPr>
            <a:r>
              <a:rPr lang="en-US" sz="2300" dirty="0">
                <a:solidFill>
                  <a:srgbClr val="111B33"/>
                </a:solidFill>
                <a:latin typeface="Aptos" pitchFamily="34" charset="0"/>
                <a:ea typeface="Aptos" pitchFamily="34" charset="-122"/>
                <a:cs typeface="Aptos" pitchFamily="34" charset="-120"/>
              </a:rPr>
              <a:t>⚙</a:t>
            </a:r>
            <a:endParaRPr lang="en-US" sz="2300" dirty="0"/>
          </a:p>
        </p:txBody>
      </p:sp>
      <p:sp>
        <p:nvSpPr>
          <p:cNvPr id="17" name="Text 14"/>
          <p:cNvSpPr/>
          <p:nvPr/>
        </p:nvSpPr>
        <p:spPr>
          <a:xfrm>
            <a:off x="8933688" y="5074920"/>
            <a:ext cx="2651760" cy="356616"/>
          </a:xfrm>
          <a:prstGeom prst="rect">
            <a:avLst/>
          </a:prstGeom>
          <a:noFill/>
          <a:ln/>
        </p:spPr>
        <p:txBody>
          <a:bodyPr wrap="square" lIns="0" tIns="0" rIns="0" bIns="0" rtlCol="0" anchor="ctr">
            <a:normAutofit/>
          </a:bodyPr>
          <a:lstStyle/>
          <a:p>
            <a:pPr indent="0" marL="0">
              <a:buNone/>
            </a:pPr>
            <a:r>
              <a:rPr lang="en-US" sz="1680" b="1" dirty="0">
                <a:solidFill>
                  <a:srgbClr val="111B33"/>
                </a:solidFill>
                <a:latin typeface="Aptos" pitchFamily="34" charset="0"/>
                <a:ea typeface="Aptos" pitchFamily="34" charset="-122"/>
                <a:cs typeface="Aptos" pitchFamily="34" charset="-120"/>
              </a:rPr>
              <a:t>BUILD</a:t>
            </a:r>
            <a:endParaRPr lang="en-US" sz="1680" dirty="0"/>
          </a:p>
        </p:txBody>
      </p:sp>
      <p:sp>
        <p:nvSpPr>
          <p:cNvPr id="18" name="Text 15"/>
          <p:cNvSpPr/>
          <p:nvPr/>
        </p:nvSpPr>
        <p:spPr>
          <a:xfrm>
            <a:off x="8942832" y="5440680"/>
            <a:ext cx="2679192" cy="475488"/>
          </a:xfrm>
          <a:prstGeom prst="rect">
            <a:avLst/>
          </a:prstGeom>
          <a:noFill/>
          <a:ln/>
        </p:spPr>
        <p:txBody>
          <a:bodyPr wrap="square" lIns="0" tIns="0" rIns="0" bIns="0" rtlCol="0" anchor="ctr">
            <a:normAutofit/>
          </a:bodyPr>
          <a:lstStyle/>
          <a:p>
            <a:pPr indent="0" marL="0">
              <a:buNone/>
            </a:pPr>
            <a:r>
              <a:rPr lang="en-US" sz="1310" dirty="0">
                <a:solidFill>
                  <a:srgbClr val="5C6981"/>
                </a:solidFill>
                <a:latin typeface="Aptos" pitchFamily="34" charset="0"/>
                <a:ea typeface="Aptos" pitchFamily="34" charset="-122"/>
                <a:cs typeface="Aptos" pitchFamily="34" charset="-120"/>
              </a:rPr>
              <a:t>Turn solutions into useful applications</a:t>
            </a:r>
            <a:endParaRPr lang="en-US" sz="1310" dirty="0"/>
          </a:p>
        </p:txBody>
      </p:sp>
      <p:sp>
        <p:nvSpPr>
          <p:cNvPr id="19" name="Text 16"/>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D0DEEA"/>
                </a:solidFill>
                <a:latin typeface="Aptos" pitchFamily="34" charset="0"/>
                <a:ea typeface="Aptos" pitchFamily="34" charset="-122"/>
                <a:cs typeface="Aptos" pitchFamily="34" charset="-120"/>
              </a:rPr>
              <a:t>LEARN  ·  CREATE  ·  BUILD</a:t>
            </a:r>
            <a:endParaRPr lang="en-US" sz="980" dirty="0"/>
          </a:p>
        </p:txBody>
      </p:sp>
      <p:sp>
        <p:nvSpPr>
          <p:cNvPr id="20" name="Text 17"/>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D0DEEA"/>
                </a:solidFill>
                <a:latin typeface="Aptos" pitchFamily="34" charset="0"/>
                <a:ea typeface="Aptos" pitchFamily="34" charset="-122"/>
                <a:cs typeface="Apto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BETTER REQUESTS</a:t>
            </a:r>
            <a:endParaRPr lang="en-US" sz="1080" dirty="0"/>
          </a:p>
        </p:txBody>
      </p:sp>
      <p:sp>
        <p:nvSpPr>
          <p:cNvPr id="5" name="Text 3"/>
          <p:cNvSpPr/>
          <p:nvPr/>
        </p:nvSpPr>
        <p:spPr>
          <a:xfrm>
            <a:off x="594360" y="905256"/>
            <a:ext cx="10927080" cy="658368"/>
          </a:xfrm>
          <a:prstGeom prst="rect">
            <a:avLst/>
          </a:prstGeom>
          <a:noFill/>
          <a:ln/>
        </p:spPr>
        <p:txBody>
          <a:bodyPr wrap="square" lIns="0" tIns="0" rIns="0" bIns="0" rtlCol="0" anchor="ctr">
            <a:normAutofit/>
          </a:bodyPr>
          <a:lstStyle/>
          <a:p>
            <a:pPr indent="0" marL="0">
              <a:buNone/>
            </a:pPr>
            <a:r>
              <a:rPr lang="en-US" sz="3200" b="1" dirty="0">
                <a:solidFill>
                  <a:srgbClr val="111B33"/>
                </a:solidFill>
                <a:latin typeface="Aptos Display" pitchFamily="34" charset="0"/>
                <a:ea typeface="Aptos Display" pitchFamily="34" charset="-122"/>
                <a:cs typeface="Aptos Display" pitchFamily="34" charset="-120"/>
              </a:rPr>
              <a:t>Ask clearly. Get a better starting point.</a:t>
            </a:r>
            <a:endParaRPr lang="en-US" sz="3200" dirty="0"/>
          </a:p>
        </p:txBody>
      </p:sp>
      <p:sp>
        <p:nvSpPr>
          <p:cNvPr id="6" name="Text 4"/>
          <p:cNvSpPr/>
          <p:nvPr/>
        </p:nvSpPr>
        <p:spPr>
          <a:xfrm>
            <a:off x="603504" y="1655064"/>
            <a:ext cx="10881360" cy="475488"/>
          </a:xfrm>
          <a:prstGeom prst="rect">
            <a:avLst/>
          </a:prstGeom>
          <a:noFill/>
          <a:ln/>
        </p:spPr>
        <p:txBody>
          <a:bodyPr wrap="square" lIns="0" tIns="0" rIns="0" bIns="0" rtlCol="0" anchor="ctr">
            <a:normAutofit/>
          </a:bodyPr>
          <a:lstStyle/>
          <a:p>
            <a:pPr indent="0" marL="0">
              <a:buNone/>
            </a:pPr>
            <a:r>
              <a:rPr lang="en-US" sz="1700" dirty="0">
                <a:solidFill>
                  <a:srgbClr val="5C6981"/>
                </a:solidFill>
                <a:latin typeface="Aptos" pitchFamily="34" charset="0"/>
                <a:ea typeface="Aptos" pitchFamily="34" charset="-122"/>
                <a:cs typeface="Aptos" pitchFamily="34" charset="-120"/>
              </a:rPr>
              <a:t>A useful prompt makes your goal easier to understand.</a:t>
            </a:r>
            <a:endParaRPr lang="en-US" sz="1700" dirty="0"/>
          </a:p>
        </p:txBody>
      </p:sp>
      <p:sp>
        <p:nvSpPr>
          <p:cNvPr id="7" name="Shape 5"/>
          <p:cNvSpPr/>
          <p:nvPr/>
        </p:nvSpPr>
        <p:spPr>
          <a:xfrm>
            <a:off x="630936" y="2313432"/>
            <a:ext cx="3566160" cy="987552"/>
          </a:xfrm>
          <a:prstGeom prst="roundRect">
            <a:avLst>
              <a:gd name="adj" fmla="val 9259"/>
            </a:avLst>
          </a:prstGeom>
          <a:solidFill>
            <a:srgbClr val="EAF0FF"/>
          </a:solidFill>
          <a:ln w="12700">
            <a:solidFill>
              <a:srgbClr val="EAF0FF"/>
            </a:solidFill>
            <a:prstDash val="solid"/>
          </a:ln>
        </p:spPr>
      </p:sp>
      <p:sp>
        <p:nvSpPr>
          <p:cNvPr id="8" name="Text 6"/>
          <p:cNvSpPr/>
          <p:nvPr/>
        </p:nvSpPr>
        <p:spPr>
          <a:xfrm>
            <a:off x="740664" y="2432304"/>
            <a:ext cx="3383280" cy="301752"/>
          </a:xfrm>
          <a:prstGeom prst="rect">
            <a:avLst/>
          </a:prstGeom>
          <a:noFill/>
          <a:ln/>
        </p:spPr>
        <p:txBody>
          <a:bodyPr wrap="square" lIns="0" tIns="0" rIns="0" bIns="0" rtlCol="0" anchor="ctr">
            <a:normAutofit/>
          </a:bodyPr>
          <a:lstStyle/>
          <a:p>
            <a:pPr algn="ctr" indent="0" marL="0">
              <a:buNone/>
            </a:pPr>
            <a:r>
              <a:rPr lang="en-US" sz="1650" b="1" dirty="0">
                <a:solidFill>
                  <a:srgbClr val="111B33"/>
                </a:solidFill>
                <a:latin typeface="Aptos" pitchFamily="34" charset="0"/>
                <a:ea typeface="Aptos" pitchFamily="34" charset="-122"/>
                <a:cs typeface="Aptos" pitchFamily="34" charset="-120"/>
              </a:rPr>
              <a:t>CONTEXT</a:t>
            </a:r>
            <a:endParaRPr lang="en-US" sz="1650" dirty="0"/>
          </a:p>
        </p:txBody>
      </p:sp>
      <p:sp>
        <p:nvSpPr>
          <p:cNvPr id="9" name="Text 7"/>
          <p:cNvSpPr/>
          <p:nvPr/>
        </p:nvSpPr>
        <p:spPr>
          <a:xfrm>
            <a:off x="740664" y="2788920"/>
            <a:ext cx="3383280" cy="246888"/>
          </a:xfrm>
          <a:prstGeom prst="rect">
            <a:avLst/>
          </a:prstGeom>
          <a:noFill/>
          <a:ln/>
        </p:spPr>
        <p:txBody>
          <a:bodyPr wrap="square" lIns="0" tIns="0" rIns="0" bIns="0" rtlCol="0" anchor="ctr">
            <a:normAutofit/>
          </a:bodyPr>
          <a:lstStyle/>
          <a:p>
            <a:pPr algn="ctr" indent="0" marL="0">
              <a:buNone/>
            </a:pPr>
            <a:r>
              <a:rPr lang="en-US" sz="1330" dirty="0">
                <a:solidFill>
                  <a:srgbClr val="5C6981"/>
                </a:solidFill>
                <a:latin typeface="Aptos" pitchFamily="34" charset="0"/>
                <a:ea typeface="Aptos" pitchFamily="34" charset="-122"/>
                <a:cs typeface="Aptos" pitchFamily="34" charset="-120"/>
              </a:rPr>
              <a:t>Who is it for?</a:t>
            </a:r>
            <a:endParaRPr lang="en-US" sz="1330" dirty="0"/>
          </a:p>
        </p:txBody>
      </p:sp>
      <p:sp>
        <p:nvSpPr>
          <p:cNvPr id="10" name="Shape 8"/>
          <p:cNvSpPr/>
          <p:nvPr/>
        </p:nvSpPr>
        <p:spPr>
          <a:xfrm>
            <a:off x="4471416" y="2313432"/>
            <a:ext cx="3566160" cy="987552"/>
          </a:xfrm>
          <a:prstGeom prst="roundRect">
            <a:avLst>
              <a:gd name="adj" fmla="val 9259"/>
            </a:avLst>
          </a:prstGeom>
          <a:solidFill>
            <a:srgbClr val="E3F8F5"/>
          </a:solidFill>
          <a:ln w="12700">
            <a:solidFill>
              <a:srgbClr val="E3F8F5"/>
            </a:solidFill>
            <a:prstDash val="solid"/>
          </a:ln>
        </p:spPr>
      </p:sp>
      <p:sp>
        <p:nvSpPr>
          <p:cNvPr id="11" name="Text 9"/>
          <p:cNvSpPr/>
          <p:nvPr/>
        </p:nvSpPr>
        <p:spPr>
          <a:xfrm>
            <a:off x="4581144" y="2432304"/>
            <a:ext cx="3383280" cy="301752"/>
          </a:xfrm>
          <a:prstGeom prst="rect">
            <a:avLst/>
          </a:prstGeom>
          <a:noFill/>
          <a:ln/>
        </p:spPr>
        <p:txBody>
          <a:bodyPr wrap="square" lIns="0" tIns="0" rIns="0" bIns="0" rtlCol="0" anchor="ctr">
            <a:normAutofit/>
          </a:bodyPr>
          <a:lstStyle/>
          <a:p>
            <a:pPr algn="ctr" indent="0" marL="0">
              <a:buNone/>
            </a:pPr>
            <a:r>
              <a:rPr lang="en-US" sz="1650" b="1" dirty="0">
                <a:solidFill>
                  <a:srgbClr val="111B33"/>
                </a:solidFill>
                <a:latin typeface="Aptos" pitchFamily="34" charset="0"/>
                <a:ea typeface="Aptos" pitchFamily="34" charset="-122"/>
                <a:cs typeface="Aptos" pitchFamily="34" charset="-120"/>
              </a:rPr>
              <a:t>TASK</a:t>
            </a:r>
            <a:endParaRPr lang="en-US" sz="1650" dirty="0"/>
          </a:p>
        </p:txBody>
      </p:sp>
      <p:sp>
        <p:nvSpPr>
          <p:cNvPr id="12" name="Text 10"/>
          <p:cNvSpPr/>
          <p:nvPr/>
        </p:nvSpPr>
        <p:spPr>
          <a:xfrm>
            <a:off x="4581144" y="2788920"/>
            <a:ext cx="3383280" cy="246888"/>
          </a:xfrm>
          <a:prstGeom prst="rect">
            <a:avLst/>
          </a:prstGeom>
          <a:noFill/>
          <a:ln/>
        </p:spPr>
        <p:txBody>
          <a:bodyPr wrap="square" lIns="0" tIns="0" rIns="0" bIns="0" rtlCol="0" anchor="ctr">
            <a:normAutofit/>
          </a:bodyPr>
          <a:lstStyle/>
          <a:p>
            <a:pPr algn="ctr" indent="0" marL="0">
              <a:buNone/>
            </a:pPr>
            <a:r>
              <a:rPr lang="en-US" sz="1330" dirty="0">
                <a:solidFill>
                  <a:srgbClr val="5C6981"/>
                </a:solidFill>
                <a:latin typeface="Aptos" pitchFamily="34" charset="0"/>
                <a:ea typeface="Aptos" pitchFamily="34" charset="-122"/>
                <a:cs typeface="Aptos" pitchFamily="34" charset="-120"/>
              </a:rPr>
              <a:t>What should it do?</a:t>
            </a:r>
            <a:endParaRPr lang="en-US" sz="1330" dirty="0"/>
          </a:p>
        </p:txBody>
      </p:sp>
      <p:sp>
        <p:nvSpPr>
          <p:cNvPr id="13" name="Shape 11"/>
          <p:cNvSpPr/>
          <p:nvPr/>
        </p:nvSpPr>
        <p:spPr>
          <a:xfrm>
            <a:off x="8311896" y="2313432"/>
            <a:ext cx="3566160" cy="987552"/>
          </a:xfrm>
          <a:prstGeom prst="roundRect">
            <a:avLst>
              <a:gd name="adj" fmla="val 9259"/>
            </a:avLst>
          </a:prstGeom>
          <a:solidFill>
            <a:srgbClr val="F2EAFF"/>
          </a:solidFill>
          <a:ln w="12700">
            <a:solidFill>
              <a:srgbClr val="F2EAFF"/>
            </a:solidFill>
            <a:prstDash val="solid"/>
          </a:ln>
        </p:spPr>
      </p:sp>
      <p:sp>
        <p:nvSpPr>
          <p:cNvPr id="14" name="Text 12"/>
          <p:cNvSpPr/>
          <p:nvPr/>
        </p:nvSpPr>
        <p:spPr>
          <a:xfrm>
            <a:off x="8421624" y="2432304"/>
            <a:ext cx="3383280" cy="301752"/>
          </a:xfrm>
          <a:prstGeom prst="rect">
            <a:avLst/>
          </a:prstGeom>
          <a:noFill/>
          <a:ln/>
        </p:spPr>
        <p:txBody>
          <a:bodyPr wrap="square" lIns="0" tIns="0" rIns="0" bIns="0" rtlCol="0" anchor="ctr">
            <a:normAutofit/>
          </a:bodyPr>
          <a:lstStyle/>
          <a:p>
            <a:pPr algn="ctr" indent="0" marL="0">
              <a:buNone/>
            </a:pPr>
            <a:r>
              <a:rPr lang="en-US" sz="1650" b="1" dirty="0">
                <a:solidFill>
                  <a:srgbClr val="111B33"/>
                </a:solidFill>
                <a:latin typeface="Aptos" pitchFamily="34" charset="0"/>
                <a:ea typeface="Aptos" pitchFamily="34" charset="-122"/>
                <a:cs typeface="Aptos" pitchFamily="34" charset="-120"/>
              </a:rPr>
              <a:t>OUTPUT</a:t>
            </a:r>
            <a:endParaRPr lang="en-US" sz="1650" dirty="0"/>
          </a:p>
        </p:txBody>
      </p:sp>
      <p:sp>
        <p:nvSpPr>
          <p:cNvPr id="15" name="Text 13"/>
          <p:cNvSpPr/>
          <p:nvPr/>
        </p:nvSpPr>
        <p:spPr>
          <a:xfrm>
            <a:off x="8421624" y="2788920"/>
            <a:ext cx="3383280" cy="246888"/>
          </a:xfrm>
          <a:prstGeom prst="rect">
            <a:avLst/>
          </a:prstGeom>
          <a:noFill/>
          <a:ln/>
        </p:spPr>
        <p:txBody>
          <a:bodyPr wrap="square" lIns="0" tIns="0" rIns="0" bIns="0" rtlCol="0" anchor="ctr">
            <a:normAutofit/>
          </a:bodyPr>
          <a:lstStyle/>
          <a:p>
            <a:pPr algn="ctr" indent="0" marL="0">
              <a:buNone/>
            </a:pPr>
            <a:r>
              <a:rPr lang="en-US" sz="1330" dirty="0">
                <a:solidFill>
                  <a:srgbClr val="5C6981"/>
                </a:solidFill>
                <a:latin typeface="Aptos" pitchFamily="34" charset="0"/>
                <a:ea typeface="Aptos" pitchFamily="34" charset="-122"/>
                <a:cs typeface="Aptos" pitchFamily="34" charset="-120"/>
              </a:rPr>
              <a:t>What should the answer look like?</a:t>
            </a:r>
            <a:endParaRPr lang="en-US" sz="1330" dirty="0"/>
          </a:p>
        </p:txBody>
      </p:sp>
      <p:sp>
        <p:nvSpPr>
          <p:cNvPr id="16" name="Shape 14"/>
          <p:cNvSpPr/>
          <p:nvPr/>
        </p:nvSpPr>
        <p:spPr>
          <a:xfrm>
            <a:off x="658368" y="3657600"/>
            <a:ext cx="3749040" cy="1453896"/>
          </a:xfrm>
          <a:prstGeom prst="roundRect">
            <a:avLst>
              <a:gd name="adj" fmla="val 6289"/>
            </a:avLst>
          </a:prstGeom>
          <a:solidFill>
            <a:srgbClr val="FFFFFF"/>
          </a:solidFill>
          <a:ln w="12700">
            <a:solidFill>
              <a:srgbClr val="DFE6EF"/>
            </a:solidFill>
            <a:prstDash val="solid"/>
          </a:ln>
        </p:spPr>
      </p:sp>
      <p:sp>
        <p:nvSpPr>
          <p:cNvPr id="17" name="Shape 15"/>
          <p:cNvSpPr/>
          <p:nvPr/>
        </p:nvSpPr>
        <p:spPr>
          <a:xfrm>
            <a:off x="4608576" y="3657600"/>
            <a:ext cx="6922008" cy="1453896"/>
          </a:xfrm>
          <a:prstGeom prst="roundRect">
            <a:avLst>
              <a:gd name="adj" fmla="val 6289"/>
            </a:avLst>
          </a:prstGeom>
          <a:solidFill>
            <a:srgbClr val="FFFFFF"/>
          </a:solidFill>
          <a:ln w="12700">
            <a:solidFill>
              <a:srgbClr val="DFE6EF"/>
            </a:solidFill>
            <a:prstDash val="solid"/>
          </a:ln>
        </p:spPr>
      </p:sp>
      <p:sp>
        <p:nvSpPr>
          <p:cNvPr id="18" name="Text 16"/>
          <p:cNvSpPr/>
          <p:nvPr/>
        </p:nvSpPr>
        <p:spPr>
          <a:xfrm>
            <a:off x="914400" y="3867912"/>
            <a:ext cx="3090672" cy="356616"/>
          </a:xfrm>
          <a:prstGeom prst="rect">
            <a:avLst/>
          </a:prstGeom>
          <a:noFill/>
          <a:ln/>
        </p:spPr>
        <p:txBody>
          <a:bodyPr wrap="square" lIns="0" tIns="0" rIns="0" bIns="0" rtlCol="0" anchor="ctr">
            <a:normAutofit/>
          </a:bodyPr>
          <a:lstStyle/>
          <a:p>
            <a:pPr indent="0" marL="0">
              <a:buNone/>
            </a:pPr>
            <a:r>
              <a:rPr lang="en-US" sz="1370" b="1" dirty="0">
                <a:solidFill>
                  <a:srgbClr val="B94F5B"/>
                </a:solidFill>
                <a:latin typeface="Aptos" pitchFamily="34" charset="0"/>
                <a:ea typeface="Aptos" pitchFamily="34" charset="-122"/>
                <a:cs typeface="Aptos" pitchFamily="34" charset="-120"/>
              </a:rPr>
              <a:t>VAGUE REQUEST</a:t>
            </a:r>
            <a:endParaRPr lang="en-US" sz="1370" dirty="0"/>
          </a:p>
        </p:txBody>
      </p:sp>
      <p:sp>
        <p:nvSpPr>
          <p:cNvPr id="19" name="Text 17"/>
          <p:cNvSpPr/>
          <p:nvPr/>
        </p:nvSpPr>
        <p:spPr>
          <a:xfrm>
            <a:off x="914400" y="4334256"/>
            <a:ext cx="3108960" cy="484632"/>
          </a:xfrm>
          <a:prstGeom prst="rect">
            <a:avLst/>
          </a:prstGeom>
          <a:noFill/>
          <a:ln/>
        </p:spPr>
        <p:txBody>
          <a:bodyPr wrap="square" lIns="0" tIns="0" rIns="0" bIns="0" rtlCol="0" anchor="ctr">
            <a:normAutofit/>
          </a:bodyPr>
          <a:lstStyle/>
          <a:p>
            <a:pPr indent="0" marL="0">
              <a:buNone/>
            </a:pPr>
            <a:r>
              <a:rPr lang="en-US" sz="2050" b="1" dirty="0">
                <a:solidFill>
                  <a:srgbClr val="182338"/>
                </a:solidFill>
                <a:latin typeface="Aptos" pitchFamily="34" charset="0"/>
                <a:ea typeface="Aptos" pitchFamily="34" charset="-122"/>
                <a:cs typeface="Aptos" pitchFamily="34" charset="-120"/>
              </a:rPr>
              <a:t>“Explain algorithms.”</a:t>
            </a:r>
            <a:endParaRPr lang="en-US" sz="2050" dirty="0"/>
          </a:p>
        </p:txBody>
      </p:sp>
      <p:sp>
        <p:nvSpPr>
          <p:cNvPr id="20" name="Text 18"/>
          <p:cNvSpPr/>
          <p:nvPr/>
        </p:nvSpPr>
        <p:spPr>
          <a:xfrm>
            <a:off x="4864608" y="3867912"/>
            <a:ext cx="6309360" cy="356616"/>
          </a:xfrm>
          <a:prstGeom prst="rect">
            <a:avLst/>
          </a:prstGeom>
          <a:noFill/>
          <a:ln/>
        </p:spPr>
        <p:txBody>
          <a:bodyPr wrap="square" lIns="0" tIns="0" rIns="0" bIns="0" rtlCol="0" anchor="ctr">
            <a:normAutofit/>
          </a:bodyPr>
          <a:lstStyle/>
          <a:p>
            <a:pPr indent="0" marL="0">
              <a:buNone/>
            </a:pPr>
            <a:r>
              <a:rPr lang="en-US" sz="1370" b="1" dirty="0">
                <a:solidFill>
                  <a:srgbClr val="128978"/>
                </a:solidFill>
                <a:latin typeface="Aptos" pitchFamily="34" charset="0"/>
                <a:ea typeface="Aptos" pitchFamily="34" charset="-122"/>
                <a:cs typeface="Aptos" pitchFamily="34" charset="-120"/>
              </a:rPr>
              <a:t>CLEARER REQUEST</a:t>
            </a:r>
            <a:endParaRPr lang="en-US" sz="1370" dirty="0"/>
          </a:p>
        </p:txBody>
      </p:sp>
      <p:sp>
        <p:nvSpPr>
          <p:cNvPr id="21" name="Text 19"/>
          <p:cNvSpPr/>
          <p:nvPr/>
        </p:nvSpPr>
        <p:spPr>
          <a:xfrm>
            <a:off x="4864608" y="4288536"/>
            <a:ext cx="6245352" cy="658368"/>
          </a:xfrm>
          <a:prstGeom prst="rect">
            <a:avLst/>
          </a:prstGeom>
          <a:noFill/>
          <a:ln/>
        </p:spPr>
        <p:txBody>
          <a:bodyPr wrap="square" lIns="0" tIns="0" rIns="0" bIns="0" rtlCol="0" anchor="ctr">
            <a:normAutofit/>
          </a:bodyPr>
          <a:lstStyle/>
          <a:p>
            <a:pPr indent="0" marL="0">
              <a:buNone/>
            </a:pPr>
            <a:r>
              <a:rPr lang="en-US" sz="1940" b="1" dirty="0">
                <a:solidFill>
                  <a:srgbClr val="182338"/>
                </a:solidFill>
                <a:latin typeface="Aptos" pitchFamily="34" charset="0"/>
                <a:ea typeface="Aptos" pitchFamily="34" charset="-122"/>
                <a:cs typeface="Aptos" pitchFamily="34" charset="-120"/>
              </a:rPr>
              <a:t>“Explain an algorithm to a beginner using four steps for planning a day trip.”</a:t>
            </a:r>
            <a:endParaRPr lang="en-US" sz="1940" dirty="0"/>
          </a:p>
        </p:txBody>
      </p:sp>
      <p:sp>
        <p:nvSpPr>
          <p:cNvPr id="22" name="Text 20"/>
          <p:cNvSpPr/>
          <p:nvPr/>
        </p:nvSpPr>
        <p:spPr>
          <a:xfrm>
            <a:off x="731520" y="5687568"/>
            <a:ext cx="10698480" cy="402336"/>
          </a:xfrm>
          <a:prstGeom prst="rect">
            <a:avLst/>
          </a:prstGeom>
          <a:noFill/>
          <a:ln/>
        </p:spPr>
        <p:txBody>
          <a:bodyPr wrap="square" lIns="0" tIns="0" rIns="0" bIns="0" rtlCol="0" anchor="ctr">
            <a:normAutofit/>
          </a:bodyPr>
          <a:lstStyle/>
          <a:p>
            <a:pPr algn="ctr" indent="0" marL="0">
              <a:buNone/>
            </a:pPr>
            <a:r>
              <a:rPr lang="en-US" sz="1700" i="1" dirty="0">
                <a:solidFill>
                  <a:srgbClr val="5C6981"/>
                </a:solidFill>
                <a:latin typeface="Aptos" pitchFamily="34" charset="0"/>
                <a:ea typeface="Aptos" pitchFamily="34" charset="-122"/>
                <a:cs typeface="Aptos" pitchFamily="34" charset="-120"/>
              </a:rPr>
              <a:t>Clearer prompts help. They do not guarantee correct answers.</a:t>
            </a:r>
            <a:endParaRPr lang="en-US" sz="1700" dirty="0"/>
          </a:p>
        </p:txBody>
      </p:sp>
      <p:sp>
        <p:nvSpPr>
          <p:cNvPr id="23" name="Shape 21"/>
          <p:cNvSpPr/>
          <p:nvPr/>
        </p:nvSpPr>
        <p:spPr>
          <a:xfrm>
            <a:off x="576072" y="6437376"/>
            <a:ext cx="11036808" cy="0"/>
          </a:xfrm>
          <a:prstGeom prst="line">
            <a:avLst/>
          </a:prstGeom>
          <a:noFill/>
          <a:ln w="12700">
            <a:solidFill>
              <a:srgbClr val="E4E9F0"/>
            </a:solidFill>
            <a:prstDash val="solid"/>
          </a:ln>
        </p:spPr>
      </p:sp>
      <p:sp>
        <p:nvSpPr>
          <p:cNvPr id="24" name="Text 22"/>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25" name="Text 23"/>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p:bgPr>
    </p:bg>
    <p:spTree>
      <p:nvGrpSpPr>
        <p:cNvPr id="1" name=""/>
        <p:cNvGrpSpPr/>
        <p:nvPr/>
      </p:nvGrpSpPr>
      <p:grpSpPr>
        <a:xfrm>
          <a:off x="0" y="0"/>
          <a:ext cx="0" cy="0"/>
          <a:chOff x="0" y="0"/>
          <a:chExt cx="0" cy="0"/>
        </a:xfrm>
      </p:grpSpPr>
      <p:pic>
        <p:nvPicPr>
          <p:cNvPr id="2" name="Image 0" descr="/mnt/data/AI_in_Action_Module_1/visuals/desk.jp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1328">
              <a:alpha val="35000"/>
            </a:srgbClr>
          </a:solidFill>
          <a:ln w="12700">
            <a:solidFill>
              <a:srgbClr val="0B1328">
                <a:alpha val="0"/>
              </a:srgbClr>
            </a:solidFill>
            <a:prstDash val="solid"/>
          </a:ln>
        </p:spPr>
      </p:sp>
      <p:sp>
        <p:nvSpPr>
          <p:cNvPr id="4" name="Shape 1"/>
          <p:cNvSpPr/>
          <p:nvPr/>
        </p:nvSpPr>
        <p:spPr>
          <a:xfrm>
            <a:off x="0" y="0"/>
            <a:ext cx="6903720" cy="6858000"/>
          </a:xfrm>
          <a:prstGeom prst="rect">
            <a:avLst/>
          </a:prstGeom>
          <a:solidFill>
            <a:srgbClr val="0B1328">
              <a:alpha val="96000"/>
            </a:srgbClr>
          </a:solidFill>
          <a:ln w="12700">
            <a:solidFill>
              <a:srgbClr val="0B1328">
                <a:alpha val="0"/>
              </a:srgbClr>
            </a:solidFill>
            <a:prstDash val="solid"/>
          </a:ln>
        </p:spPr>
      </p:sp>
      <p:sp>
        <p:nvSpPr>
          <p:cNvPr id="5" name="Text 2"/>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FFFFFF"/>
                </a:solidFill>
                <a:latin typeface="Aptos" pitchFamily="34" charset="0"/>
                <a:ea typeface="Aptos" pitchFamily="34" charset="-122"/>
                <a:cs typeface="Aptos" pitchFamily="34" charset="-120"/>
              </a:rPr>
              <a:t>✦  AI IN ACTION</a:t>
            </a:r>
            <a:endParaRPr lang="en-US" sz="1250" dirty="0"/>
          </a:p>
        </p:txBody>
      </p:sp>
      <p:sp>
        <p:nvSpPr>
          <p:cNvPr id="6" name="Text 3"/>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C7D7ED"/>
                </a:solidFill>
                <a:latin typeface="Aptos" pitchFamily="34" charset="0"/>
                <a:ea typeface="Aptos" pitchFamily="34" charset="-122"/>
                <a:cs typeface="Aptos" pitchFamily="34" charset="-120"/>
              </a:rPr>
              <a:t>A QUICK AI EXPERIMENT</a:t>
            </a:r>
            <a:endParaRPr lang="en-US" sz="1080" dirty="0"/>
          </a:p>
        </p:txBody>
      </p:sp>
      <p:sp>
        <p:nvSpPr>
          <p:cNvPr id="7" name="Text 4"/>
          <p:cNvSpPr/>
          <p:nvPr/>
        </p:nvSpPr>
        <p:spPr>
          <a:xfrm>
            <a:off x="585216" y="1207008"/>
            <a:ext cx="7680960" cy="1197864"/>
          </a:xfrm>
          <a:prstGeom prst="rect">
            <a:avLst/>
          </a:prstGeom>
          <a:noFill/>
          <a:ln/>
        </p:spPr>
        <p:txBody>
          <a:bodyPr wrap="square" lIns="0" tIns="0" rIns="0" bIns="0" rtlCol="0" anchor="ctr">
            <a:normAutofit/>
          </a:bodyPr>
          <a:lstStyle/>
          <a:p>
            <a:pPr indent="0" marL="0">
              <a:buNone/>
            </a:pPr>
            <a:r>
              <a:rPr lang="en-US" sz="3250" b="1" dirty="0">
                <a:solidFill>
                  <a:srgbClr val="FFFFFF"/>
                </a:solidFill>
                <a:latin typeface="Aptos" pitchFamily="34" charset="0"/>
                <a:ea typeface="Aptos" pitchFamily="34" charset="-122"/>
                <a:cs typeface="Aptos" pitchFamily="34" charset="-120"/>
              </a:rPr>
              <a:t>Try it: Explain an algorithm</a:t>
            </a:r>
            <a:endParaRPr lang="en-US" sz="3250" dirty="0"/>
          </a:p>
          <a:p>
            <a:pPr indent="0" marL="0">
              <a:buNone/>
            </a:pPr>
            <a:r>
              <a:rPr lang="en-US" sz="3250" b="1" dirty="0">
                <a:solidFill>
                  <a:srgbClr val="FFFFFF"/>
                </a:solidFill>
                <a:latin typeface="Aptos" pitchFamily="34" charset="0"/>
                <a:ea typeface="Aptos" pitchFamily="34" charset="-122"/>
                <a:cs typeface="Aptos" pitchFamily="34" charset="-120"/>
              </a:rPr>
              <a:t>using a day trip</a:t>
            </a:r>
            <a:endParaRPr lang="en-US" sz="3250" dirty="0"/>
          </a:p>
        </p:txBody>
      </p:sp>
      <p:sp>
        <p:nvSpPr>
          <p:cNvPr id="8" name="Shape 5"/>
          <p:cNvSpPr/>
          <p:nvPr/>
        </p:nvSpPr>
        <p:spPr>
          <a:xfrm>
            <a:off x="658368" y="2743200"/>
            <a:ext cx="6693408" cy="2231136"/>
          </a:xfrm>
          <a:prstGeom prst="roundRect">
            <a:avLst>
              <a:gd name="adj" fmla="val 4098"/>
            </a:avLst>
          </a:prstGeom>
          <a:solidFill>
            <a:srgbClr val="172743"/>
          </a:solidFill>
          <a:ln w="12700">
            <a:solidFill>
              <a:srgbClr val="41506B"/>
            </a:solidFill>
            <a:prstDash val="solid"/>
          </a:ln>
        </p:spPr>
      </p:sp>
      <p:sp>
        <p:nvSpPr>
          <p:cNvPr id="9" name="Text 6"/>
          <p:cNvSpPr/>
          <p:nvPr/>
        </p:nvSpPr>
        <p:spPr>
          <a:xfrm>
            <a:off x="932688" y="2980944"/>
            <a:ext cx="4937760" cy="329184"/>
          </a:xfrm>
          <a:prstGeom prst="rect">
            <a:avLst/>
          </a:prstGeom>
          <a:noFill/>
          <a:ln/>
        </p:spPr>
        <p:txBody>
          <a:bodyPr wrap="square" lIns="0" tIns="0" rIns="0" bIns="0" rtlCol="0" anchor="ctr">
            <a:normAutofit/>
          </a:bodyPr>
          <a:lstStyle/>
          <a:p>
            <a:pPr indent="0" marL="0">
              <a:buNone/>
            </a:pPr>
            <a:r>
              <a:rPr lang="en-US" sz="1360" b="1" spc="150" kern="0" dirty="0">
                <a:solidFill>
                  <a:srgbClr val="20DDC3"/>
                </a:solidFill>
                <a:latin typeface="Aptos" pitchFamily="34" charset="0"/>
                <a:ea typeface="Aptos" pitchFamily="34" charset="-122"/>
                <a:cs typeface="Aptos" pitchFamily="34" charset="-120"/>
              </a:rPr>
              <a:t>PROMPT</a:t>
            </a:r>
            <a:endParaRPr lang="en-US" sz="1360" dirty="0"/>
          </a:p>
        </p:txBody>
      </p:sp>
      <p:sp>
        <p:nvSpPr>
          <p:cNvPr id="10" name="Text 7"/>
          <p:cNvSpPr/>
          <p:nvPr/>
        </p:nvSpPr>
        <p:spPr>
          <a:xfrm>
            <a:off x="950976" y="3502152"/>
            <a:ext cx="6080760" cy="1197864"/>
          </a:xfrm>
          <a:prstGeom prst="rect">
            <a:avLst/>
          </a:prstGeom>
          <a:noFill/>
          <a:ln/>
        </p:spPr>
        <p:txBody>
          <a:bodyPr wrap="square" lIns="0" tIns="0" rIns="0" bIns="0" rtlCol="0" anchor="ctr">
            <a:normAutofit/>
          </a:bodyPr>
          <a:lstStyle/>
          <a:p>
            <a:pPr indent="0" marL="0">
              <a:buNone/>
            </a:pPr>
            <a:r>
              <a:rPr lang="en-US" sz="2100" dirty="0">
                <a:solidFill>
                  <a:srgbClr val="FFFFFF"/>
                </a:solidFill>
                <a:latin typeface="Aptos" pitchFamily="34" charset="0"/>
                <a:ea typeface="Aptos" pitchFamily="34" charset="-122"/>
                <a:cs typeface="Aptos" pitchFamily="34" charset="-120"/>
              </a:rPr>
              <a:t>“Explain an algorithm to a beginner with four steps for planning a one-day trip. Add a simple definition and one question to check understanding. No code; under 100 words.”</a:t>
            </a:r>
            <a:endParaRPr lang="en-US" sz="2100" dirty="0"/>
          </a:p>
        </p:txBody>
      </p:sp>
      <p:sp>
        <p:nvSpPr>
          <p:cNvPr id="11" name="Text 8"/>
          <p:cNvSpPr/>
          <p:nvPr/>
        </p:nvSpPr>
        <p:spPr>
          <a:xfrm>
            <a:off x="694944" y="5532120"/>
            <a:ext cx="6556248" cy="466344"/>
          </a:xfrm>
          <a:prstGeom prst="rect">
            <a:avLst/>
          </a:prstGeom>
          <a:noFill/>
          <a:ln/>
        </p:spPr>
        <p:txBody>
          <a:bodyPr wrap="square" lIns="0" tIns="0" rIns="0" bIns="0" rtlCol="0" anchor="ctr">
            <a:normAutofit/>
          </a:bodyPr>
          <a:lstStyle/>
          <a:p>
            <a:pPr indent="0" marL="0">
              <a:buNone/>
            </a:pPr>
            <a:r>
              <a:rPr lang="en-US" sz="1900" b="1" dirty="0">
                <a:solidFill>
                  <a:srgbClr val="F2FAFC"/>
                </a:solidFill>
                <a:latin typeface="Aptos" pitchFamily="34" charset="0"/>
                <a:ea typeface="Aptos" pitchFamily="34" charset="-122"/>
                <a:cs typeface="Aptos" pitchFamily="34" charset="-120"/>
              </a:rPr>
              <a:t>What should a useful answer contain?</a:t>
            </a:r>
            <a:endParaRPr lang="en-US" sz="1900" dirty="0"/>
          </a:p>
        </p:txBody>
      </p:sp>
      <p:sp>
        <p:nvSpPr>
          <p:cNvPr id="12" name="Text 9"/>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D0DEEA"/>
                </a:solidFill>
                <a:latin typeface="Aptos" pitchFamily="34" charset="0"/>
                <a:ea typeface="Aptos" pitchFamily="34" charset="-122"/>
                <a:cs typeface="Aptos" pitchFamily="34" charset="-120"/>
              </a:rPr>
              <a:t>LEARN  ·  CREATE  ·  BUILD</a:t>
            </a:r>
            <a:endParaRPr lang="en-US" sz="980" dirty="0"/>
          </a:p>
        </p:txBody>
      </p:sp>
      <p:sp>
        <p:nvSpPr>
          <p:cNvPr id="13" name="Text 10"/>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D0DEEA"/>
                </a:solidFill>
                <a:latin typeface="Aptos" pitchFamily="34" charset="0"/>
                <a:ea typeface="Aptos" pitchFamily="34" charset="-122"/>
                <a:cs typeface="Apto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CRITICAL THINKING</a:t>
            </a:r>
            <a:endParaRPr lang="en-US" sz="1080" dirty="0"/>
          </a:p>
        </p:txBody>
      </p:sp>
      <p:sp>
        <p:nvSpPr>
          <p:cNvPr id="5" name="Text 3"/>
          <p:cNvSpPr/>
          <p:nvPr/>
        </p:nvSpPr>
        <p:spPr>
          <a:xfrm>
            <a:off x="594360" y="905256"/>
            <a:ext cx="10927080" cy="658368"/>
          </a:xfrm>
          <a:prstGeom prst="rect">
            <a:avLst/>
          </a:prstGeom>
          <a:noFill/>
          <a:ln/>
        </p:spPr>
        <p:txBody>
          <a:bodyPr wrap="square" lIns="0" tIns="0" rIns="0" bIns="0" rtlCol="0" anchor="ctr">
            <a:normAutofit/>
          </a:bodyPr>
          <a:lstStyle/>
          <a:p>
            <a:pPr indent="0" marL="0">
              <a:buNone/>
            </a:pPr>
            <a:r>
              <a:rPr lang="en-US" sz="3200" b="1" dirty="0">
                <a:solidFill>
                  <a:srgbClr val="111B33"/>
                </a:solidFill>
                <a:latin typeface="Aptos Display" pitchFamily="34" charset="0"/>
                <a:ea typeface="Aptos Display" pitchFamily="34" charset="-122"/>
                <a:cs typeface="Aptos Display" pitchFamily="34" charset="-120"/>
              </a:rPr>
              <a:t>Read. Review. Improve.</a:t>
            </a:r>
            <a:endParaRPr lang="en-US" sz="3200" dirty="0"/>
          </a:p>
        </p:txBody>
      </p:sp>
      <p:sp>
        <p:nvSpPr>
          <p:cNvPr id="6" name="Text 4"/>
          <p:cNvSpPr/>
          <p:nvPr/>
        </p:nvSpPr>
        <p:spPr>
          <a:xfrm>
            <a:off x="603504" y="1655064"/>
            <a:ext cx="10881360" cy="475488"/>
          </a:xfrm>
          <a:prstGeom prst="rect">
            <a:avLst/>
          </a:prstGeom>
          <a:noFill/>
          <a:ln/>
        </p:spPr>
        <p:txBody>
          <a:bodyPr wrap="square" lIns="0" tIns="0" rIns="0" bIns="0" rtlCol="0" anchor="ctr">
            <a:normAutofit/>
          </a:bodyPr>
          <a:lstStyle/>
          <a:p>
            <a:pPr indent="0" marL="0">
              <a:buNone/>
            </a:pPr>
            <a:r>
              <a:rPr lang="en-US" sz="1700" dirty="0">
                <a:solidFill>
                  <a:srgbClr val="5C6981"/>
                </a:solidFill>
                <a:latin typeface="Aptos" pitchFamily="34" charset="0"/>
                <a:ea typeface="Aptos" pitchFamily="34" charset="-122"/>
                <a:cs typeface="Aptos" pitchFamily="34" charset="-120"/>
              </a:rPr>
              <a:t>AI output is a starting point—not the final word.</a:t>
            </a:r>
            <a:endParaRPr lang="en-US" sz="1700" dirty="0"/>
          </a:p>
        </p:txBody>
      </p:sp>
      <p:sp>
        <p:nvSpPr>
          <p:cNvPr id="7" name="Shape 5"/>
          <p:cNvSpPr/>
          <p:nvPr/>
        </p:nvSpPr>
        <p:spPr>
          <a:xfrm>
            <a:off x="603504" y="2084832"/>
            <a:ext cx="6446520" cy="3621024"/>
          </a:xfrm>
          <a:prstGeom prst="roundRect">
            <a:avLst>
              <a:gd name="adj" fmla="val 2525"/>
            </a:avLst>
          </a:prstGeom>
          <a:solidFill>
            <a:srgbClr val="FFFFFF"/>
          </a:solidFill>
          <a:ln w="12700">
            <a:solidFill>
              <a:srgbClr val="DFE6EF"/>
            </a:solidFill>
            <a:prstDash val="solid"/>
          </a:ln>
        </p:spPr>
      </p:sp>
      <p:sp>
        <p:nvSpPr>
          <p:cNvPr id="8" name="Text 6"/>
          <p:cNvSpPr/>
          <p:nvPr/>
        </p:nvSpPr>
        <p:spPr>
          <a:xfrm>
            <a:off x="932688" y="2340864"/>
            <a:ext cx="5669280" cy="374904"/>
          </a:xfrm>
          <a:prstGeom prst="rect">
            <a:avLst/>
          </a:prstGeom>
          <a:noFill/>
          <a:ln/>
        </p:spPr>
        <p:txBody>
          <a:bodyPr wrap="square" lIns="0" tIns="0" rIns="0" bIns="0" rtlCol="0" anchor="ctr">
            <a:normAutofit/>
          </a:bodyPr>
          <a:lstStyle/>
          <a:p>
            <a:pPr indent="0" marL="0">
              <a:buNone/>
            </a:pPr>
            <a:r>
              <a:rPr lang="en-US" sz="1430" b="1" spc="70" kern="0" dirty="0">
                <a:solidFill>
                  <a:srgbClr val="4A8BF4"/>
                </a:solidFill>
                <a:latin typeface="Aptos" pitchFamily="34" charset="0"/>
                <a:ea typeface="Aptos" pitchFamily="34" charset="-122"/>
                <a:cs typeface="Aptos" pitchFamily="34" charset="-120"/>
              </a:rPr>
              <a:t>ILLUSTRATIVE FOUR-STEP PLAN</a:t>
            </a:r>
            <a:endParaRPr lang="en-US" sz="1430" dirty="0"/>
          </a:p>
        </p:txBody>
      </p:sp>
      <p:sp>
        <p:nvSpPr>
          <p:cNvPr id="9" name="Shape 7"/>
          <p:cNvSpPr/>
          <p:nvPr/>
        </p:nvSpPr>
        <p:spPr>
          <a:xfrm>
            <a:off x="987552" y="2834640"/>
            <a:ext cx="457200" cy="457200"/>
          </a:xfrm>
          <a:prstGeom prst="ellipse">
            <a:avLst/>
          </a:prstGeom>
          <a:solidFill>
            <a:srgbClr val="DDFFF8"/>
          </a:solidFill>
          <a:ln w="12700">
            <a:solidFill>
              <a:srgbClr val="DDFFF8">
                <a:alpha val="0"/>
              </a:srgbClr>
            </a:solidFill>
            <a:prstDash val="solid"/>
          </a:ln>
        </p:spPr>
      </p:sp>
      <p:sp>
        <p:nvSpPr>
          <p:cNvPr id="10" name="Text 8"/>
          <p:cNvSpPr/>
          <p:nvPr/>
        </p:nvSpPr>
        <p:spPr>
          <a:xfrm>
            <a:off x="987552" y="2862072"/>
            <a:ext cx="457200" cy="374904"/>
          </a:xfrm>
          <a:prstGeom prst="rect">
            <a:avLst/>
          </a:prstGeom>
          <a:noFill/>
          <a:ln/>
        </p:spPr>
        <p:txBody>
          <a:bodyPr wrap="square" lIns="0" tIns="0" rIns="0" bIns="0" rtlCol="0" anchor="ctr">
            <a:normAutofit/>
          </a:bodyPr>
          <a:lstStyle/>
          <a:p>
            <a:pPr algn="ctr" indent="0" marL="0">
              <a:buNone/>
            </a:pPr>
            <a:r>
              <a:rPr lang="en-US" sz="1700" b="1" dirty="0">
                <a:solidFill>
                  <a:srgbClr val="0B1328"/>
                </a:solidFill>
                <a:latin typeface="Aptos" pitchFamily="34" charset="0"/>
                <a:ea typeface="Aptos" pitchFamily="34" charset="-122"/>
                <a:cs typeface="Aptos" pitchFamily="34" charset="-120"/>
              </a:rPr>
              <a:t>1</a:t>
            </a:r>
            <a:endParaRPr lang="en-US" sz="1700" dirty="0"/>
          </a:p>
        </p:txBody>
      </p:sp>
      <p:sp>
        <p:nvSpPr>
          <p:cNvPr id="11" name="Text 9"/>
          <p:cNvSpPr/>
          <p:nvPr/>
        </p:nvSpPr>
        <p:spPr>
          <a:xfrm>
            <a:off x="1600200" y="2834640"/>
            <a:ext cx="5084064" cy="493776"/>
          </a:xfrm>
          <a:prstGeom prst="rect">
            <a:avLst/>
          </a:prstGeom>
          <a:noFill/>
          <a:ln/>
        </p:spPr>
        <p:txBody>
          <a:bodyPr wrap="square" lIns="0" tIns="0" rIns="0" bIns="0" rtlCol="0" anchor="ctr">
            <a:normAutofit/>
          </a:bodyPr>
          <a:lstStyle/>
          <a:p>
            <a:pPr indent="0" marL="0">
              <a:buNone/>
            </a:pPr>
            <a:r>
              <a:rPr lang="en-US" sz="1950" dirty="0">
                <a:solidFill>
                  <a:srgbClr val="111B33"/>
                </a:solidFill>
                <a:latin typeface="Aptos" pitchFamily="34" charset="0"/>
                <a:ea typeface="Aptos" pitchFamily="34" charset="-122"/>
                <a:cs typeface="Aptos" pitchFamily="34" charset="-120"/>
              </a:rPr>
              <a:t>Choose a destination</a:t>
            </a:r>
            <a:endParaRPr lang="en-US" sz="1950" dirty="0"/>
          </a:p>
        </p:txBody>
      </p:sp>
      <p:sp>
        <p:nvSpPr>
          <p:cNvPr id="12" name="Shape 10"/>
          <p:cNvSpPr/>
          <p:nvPr/>
        </p:nvSpPr>
        <p:spPr>
          <a:xfrm>
            <a:off x="987552" y="3474720"/>
            <a:ext cx="457200" cy="457200"/>
          </a:xfrm>
          <a:prstGeom prst="ellipse">
            <a:avLst/>
          </a:prstGeom>
          <a:solidFill>
            <a:srgbClr val="D8ECFC"/>
          </a:solidFill>
          <a:ln w="12700">
            <a:solidFill>
              <a:srgbClr val="D8ECFC">
                <a:alpha val="0"/>
              </a:srgbClr>
            </a:solidFill>
            <a:prstDash val="solid"/>
          </a:ln>
        </p:spPr>
      </p:sp>
      <p:sp>
        <p:nvSpPr>
          <p:cNvPr id="13" name="Text 11"/>
          <p:cNvSpPr/>
          <p:nvPr/>
        </p:nvSpPr>
        <p:spPr>
          <a:xfrm>
            <a:off x="987552" y="3502152"/>
            <a:ext cx="457200" cy="374904"/>
          </a:xfrm>
          <a:prstGeom prst="rect">
            <a:avLst/>
          </a:prstGeom>
          <a:noFill/>
          <a:ln/>
        </p:spPr>
        <p:txBody>
          <a:bodyPr wrap="square" lIns="0" tIns="0" rIns="0" bIns="0" rtlCol="0" anchor="ctr">
            <a:normAutofit/>
          </a:bodyPr>
          <a:lstStyle/>
          <a:p>
            <a:pPr algn="ctr" indent="0" marL="0">
              <a:buNone/>
            </a:pPr>
            <a:r>
              <a:rPr lang="en-US" sz="1700" b="1" dirty="0">
                <a:solidFill>
                  <a:srgbClr val="0B1328"/>
                </a:solidFill>
                <a:latin typeface="Aptos" pitchFamily="34" charset="0"/>
                <a:ea typeface="Aptos" pitchFamily="34" charset="-122"/>
                <a:cs typeface="Aptos" pitchFamily="34" charset="-120"/>
              </a:rPr>
              <a:t>2</a:t>
            </a:r>
            <a:endParaRPr lang="en-US" sz="1700" dirty="0"/>
          </a:p>
        </p:txBody>
      </p:sp>
      <p:sp>
        <p:nvSpPr>
          <p:cNvPr id="14" name="Text 12"/>
          <p:cNvSpPr/>
          <p:nvPr/>
        </p:nvSpPr>
        <p:spPr>
          <a:xfrm>
            <a:off x="1600200" y="3474720"/>
            <a:ext cx="5084064" cy="493776"/>
          </a:xfrm>
          <a:prstGeom prst="rect">
            <a:avLst/>
          </a:prstGeom>
          <a:noFill/>
          <a:ln/>
        </p:spPr>
        <p:txBody>
          <a:bodyPr wrap="square" lIns="0" tIns="0" rIns="0" bIns="0" rtlCol="0" anchor="ctr">
            <a:normAutofit/>
          </a:bodyPr>
          <a:lstStyle/>
          <a:p>
            <a:pPr indent="0" marL="0">
              <a:buNone/>
            </a:pPr>
            <a:r>
              <a:rPr lang="en-US" sz="1950" dirty="0">
                <a:solidFill>
                  <a:srgbClr val="111B33"/>
                </a:solidFill>
                <a:latin typeface="Aptos" pitchFamily="34" charset="0"/>
                <a:ea typeface="Aptos" pitchFamily="34" charset="-122"/>
                <a:cs typeface="Aptos" pitchFamily="34" charset="-120"/>
              </a:rPr>
              <a:t>Pack the necessary items</a:t>
            </a:r>
            <a:endParaRPr lang="en-US" sz="1950" dirty="0"/>
          </a:p>
        </p:txBody>
      </p:sp>
      <p:sp>
        <p:nvSpPr>
          <p:cNvPr id="15" name="Shape 13"/>
          <p:cNvSpPr/>
          <p:nvPr/>
        </p:nvSpPr>
        <p:spPr>
          <a:xfrm>
            <a:off x="987552" y="4114800"/>
            <a:ext cx="457200" cy="457200"/>
          </a:xfrm>
          <a:prstGeom prst="ellipse">
            <a:avLst/>
          </a:prstGeom>
          <a:solidFill>
            <a:srgbClr val="DDFFF8"/>
          </a:solidFill>
          <a:ln w="12700">
            <a:solidFill>
              <a:srgbClr val="DDFFF8">
                <a:alpha val="0"/>
              </a:srgbClr>
            </a:solidFill>
            <a:prstDash val="solid"/>
          </a:ln>
        </p:spPr>
      </p:sp>
      <p:sp>
        <p:nvSpPr>
          <p:cNvPr id="16" name="Text 14"/>
          <p:cNvSpPr/>
          <p:nvPr/>
        </p:nvSpPr>
        <p:spPr>
          <a:xfrm>
            <a:off x="987552" y="4142232"/>
            <a:ext cx="457200" cy="374904"/>
          </a:xfrm>
          <a:prstGeom prst="rect">
            <a:avLst/>
          </a:prstGeom>
          <a:noFill/>
          <a:ln/>
        </p:spPr>
        <p:txBody>
          <a:bodyPr wrap="square" lIns="0" tIns="0" rIns="0" bIns="0" rtlCol="0" anchor="ctr">
            <a:normAutofit/>
          </a:bodyPr>
          <a:lstStyle/>
          <a:p>
            <a:pPr algn="ctr" indent="0" marL="0">
              <a:buNone/>
            </a:pPr>
            <a:r>
              <a:rPr lang="en-US" sz="1700" b="1" dirty="0">
                <a:solidFill>
                  <a:srgbClr val="0B1328"/>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1600200" y="4114800"/>
            <a:ext cx="5084064" cy="493776"/>
          </a:xfrm>
          <a:prstGeom prst="rect">
            <a:avLst/>
          </a:prstGeom>
          <a:noFill/>
          <a:ln/>
        </p:spPr>
        <p:txBody>
          <a:bodyPr wrap="square" lIns="0" tIns="0" rIns="0" bIns="0" rtlCol="0" anchor="ctr">
            <a:normAutofit/>
          </a:bodyPr>
          <a:lstStyle/>
          <a:p>
            <a:pPr indent="0" marL="0">
              <a:buNone/>
            </a:pPr>
            <a:r>
              <a:rPr lang="en-US" sz="1950" dirty="0">
                <a:solidFill>
                  <a:srgbClr val="111B33"/>
                </a:solidFill>
                <a:latin typeface="Aptos" pitchFamily="34" charset="0"/>
                <a:ea typeface="Aptos" pitchFamily="34" charset="-122"/>
                <a:cs typeface="Aptos" pitchFamily="34" charset="-120"/>
              </a:rPr>
              <a:t>Travel to the destination</a:t>
            </a:r>
            <a:endParaRPr lang="en-US" sz="1950" dirty="0"/>
          </a:p>
        </p:txBody>
      </p:sp>
      <p:sp>
        <p:nvSpPr>
          <p:cNvPr id="18" name="Shape 16"/>
          <p:cNvSpPr/>
          <p:nvPr/>
        </p:nvSpPr>
        <p:spPr>
          <a:xfrm>
            <a:off x="987552" y="4754880"/>
            <a:ext cx="457200" cy="457200"/>
          </a:xfrm>
          <a:prstGeom prst="ellipse">
            <a:avLst/>
          </a:prstGeom>
          <a:solidFill>
            <a:srgbClr val="D8ECFC"/>
          </a:solidFill>
          <a:ln w="12700">
            <a:solidFill>
              <a:srgbClr val="D8ECFC">
                <a:alpha val="0"/>
              </a:srgbClr>
            </a:solidFill>
            <a:prstDash val="solid"/>
          </a:ln>
        </p:spPr>
      </p:sp>
      <p:sp>
        <p:nvSpPr>
          <p:cNvPr id="19" name="Text 17"/>
          <p:cNvSpPr/>
          <p:nvPr/>
        </p:nvSpPr>
        <p:spPr>
          <a:xfrm>
            <a:off x="987552" y="4782312"/>
            <a:ext cx="457200" cy="374904"/>
          </a:xfrm>
          <a:prstGeom prst="rect">
            <a:avLst/>
          </a:prstGeom>
          <a:noFill/>
          <a:ln/>
        </p:spPr>
        <p:txBody>
          <a:bodyPr wrap="square" lIns="0" tIns="0" rIns="0" bIns="0" rtlCol="0" anchor="ctr">
            <a:normAutofit/>
          </a:bodyPr>
          <a:lstStyle/>
          <a:p>
            <a:pPr algn="ctr" indent="0" marL="0">
              <a:buNone/>
            </a:pPr>
            <a:r>
              <a:rPr lang="en-US" sz="1700" b="1" dirty="0">
                <a:solidFill>
                  <a:srgbClr val="0B1328"/>
                </a:solidFill>
                <a:latin typeface="Aptos" pitchFamily="34" charset="0"/>
                <a:ea typeface="Aptos" pitchFamily="34" charset="-122"/>
                <a:cs typeface="Aptos" pitchFamily="34" charset="-120"/>
              </a:rPr>
              <a:t>4</a:t>
            </a:r>
            <a:endParaRPr lang="en-US" sz="1700" dirty="0"/>
          </a:p>
        </p:txBody>
      </p:sp>
      <p:sp>
        <p:nvSpPr>
          <p:cNvPr id="20" name="Text 18"/>
          <p:cNvSpPr/>
          <p:nvPr/>
        </p:nvSpPr>
        <p:spPr>
          <a:xfrm>
            <a:off x="1600200" y="4754880"/>
            <a:ext cx="5084064" cy="493776"/>
          </a:xfrm>
          <a:prstGeom prst="rect">
            <a:avLst/>
          </a:prstGeom>
          <a:noFill/>
          <a:ln/>
        </p:spPr>
        <p:txBody>
          <a:bodyPr wrap="square" lIns="0" tIns="0" rIns="0" bIns="0" rtlCol="0" anchor="ctr">
            <a:normAutofit/>
          </a:bodyPr>
          <a:lstStyle/>
          <a:p>
            <a:pPr indent="0" marL="0">
              <a:buNone/>
            </a:pPr>
            <a:r>
              <a:rPr lang="en-US" sz="1950" dirty="0">
                <a:solidFill>
                  <a:srgbClr val="111B33"/>
                </a:solidFill>
                <a:latin typeface="Aptos" pitchFamily="34" charset="0"/>
                <a:ea typeface="Aptos" pitchFamily="34" charset="-122"/>
                <a:cs typeface="Aptos" pitchFamily="34" charset="-120"/>
              </a:rPr>
              <a:t>Return home</a:t>
            </a:r>
            <a:endParaRPr lang="en-US" sz="1950" dirty="0"/>
          </a:p>
        </p:txBody>
      </p:sp>
      <p:sp>
        <p:nvSpPr>
          <p:cNvPr id="21" name="Shape 19"/>
          <p:cNvSpPr/>
          <p:nvPr/>
        </p:nvSpPr>
        <p:spPr>
          <a:xfrm>
            <a:off x="7324344" y="2084832"/>
            <a:ext cx="4206240" cy="3621024"/>
          </a:xfrm>
          <a:prstGeom prst="roundRect">
            <a:avLst>
              <a:gd name="adj" fmla="val 2525"/>
            </a:avLst>
          </a:prstGeom>
          <a:solidFill>
            <a:srgbClr val="E7F5F4"/>
          </a:solidFill>
          <a:ln w="12700">
            <a:solidFill>
              <a:srgbClr val="D2EEE9"/>
            </a:solidFill>
            <a:prstDash val="solid"/>
          </a:ln>
        </p:spPr>
      </p:sp>
      <p:sp>
        <p:nvSpPr>
          <p:cNvPr id="22" name="Text 20"/>
          <p:cNvSpPr/>
          <p:nvPr/>
        </p:nvSpPr>
        <p:spPr>
          <a:xfrm>
            <a:off x="7671816" y="2423160"/>
            <a:ext cx="3429000" cy="411480"/>
          </a:xfrm>
          <a:prstGeom prst="rect">
            <a:avLst/>
          </a:prstGeom>
          <a:noFill/>
          <a:ln/>
        </p:spPr>
        <p:txBody>
          <a:bodyPr wrap="square" lIns="0" tIns="0" rIns="0" bIns="0" rtlCol="0" anchor="ctr">
            <a:normAutofit/>
          </a:bodyPr>
          <a:lstStyle/>
          <a:p>
            <a:pPr indent="0" marL="0">
              <a:buNone/>
            </a:pPr>
            <a:r>
              <a:rPr lang="en-US" sz="1900" b="1" dirty="0">
                <a:solidFill>
                  <a:srgbClr val="0A8075"/>
                </a:solidFill>
                <a:latin typeface="Aptos" pitchFamily="34" charset="0"/>
                <a:ea typeface="Aptos" pitchFamily="34" charset="-122"/>
                <a:cs typeface="Aptos" pitchFamily="34" charset="-120"/>
              </a:rPr>
              <a:t>WHAT IS MISSING?</a:t>
            </a:r>
            <a:endParaRPr lang="en-US" sz="1900" dirty="0"/>
          </a:p>
        </p:txBody>
      </p:sp>
      <p:sp>
        <p:nvSpPr>
          <p:cNvPr id="23" name="Text 21"/>
          <p:cNvSpPr/>
          <p:nvPr/>
        </p:nvSpPr>
        <p:spPr>
          <a:xfrm>
            <a:off x="7699248" y="2980944"/>
            <a:ext cx="3264408" cy="2203704"/>
          </a:xfrm>
          <a:prstGeom prst="rect">
            <a:avLst/>
          </a:prstGeom>
          <a:noFill/>
          <a:ln/>
        </p:spPr>
        <p:txBody>
          <a:bodyPr wrap="square" lIns="0" tIns="0" rIns="0" bIns="0" rtlCol="0" anchor="ctr">
            <a:normAutofit/>
          </a:bodyPr>
          <a:lstStyle/>
          <a:p>
            <a:pPr indent="0" marL="0">
              <a:lnSpc>
                <a:spcPct val="115000"/>
              </a:lnSpc>
              <a:buNone/>
            </a:pPr>
            <a:r>
              <a:rPr lang="en-US" sz="2030" dirty="0">
                <a:solidFill>
                  <a:srgbClr val="182338"/>
                </a:solidFill>
                <a:latin typeface="Aptos" pitchFamily="34" charset="0"/>
                <a:ea typeface="Aptos" pitchFamily="34" charset="-122"/>
                <a:cs typeface="Aptos" pitchFamily="34" charset="-120"/>
              </a:rPr>
              <a:t>Route?</a:t>
            </a:r>
            <a:endParaRPr lang="en-US" sz="2030" dirty="0"/>
          </a:p>
          <a:p>
            <a:pPr indent="0" marL="0">
              <a:lnSpc>
                <a:spcPct val="115000"/>
              </a:lnSpc>
              <a:buNone/>
            </a:pPr>
            <a:r>
              <a:rPr lang="en-US" sz="2030" dirty="0">
                <a:solidFill>
                  <a:srgbClr val="182338"/>
                </a:solidFill>
                <a:latin typeface="Aptos" pitchFamily="34" charset="0"/>
                <a:ea typeface="Aptos" pitchFamily="34" charset="-122"/>
                <a:cs typeface="Aptos" pitchFamily="34" charset="-120"/>
              </a:rPr>
              <a:t>Travel time?</a:t>
            </a:r>
            <a:endParaRPr lang="en-US" sz="2030" dirty="0"/>
          </a:p>
          <a:p>
            <a:pPr indent="0" marL="0">
              <a:lnSpc>
                <a:spcPct val="115000"/>
              </a:lnSpc>
              <a:buNone/>
            </a:pPr>
            <a:r>
              <a:rPr lang="en-US" sz="2030" dirty="0">
                <a:solidFill>
                  <a:srgbClr val="182338"/>
                </a:solidFill>
                <a:latin typeface="Aptos" pitchFamily="34" charset="0"/>
                <a:ea typeface="Aptos" pitchFamily="34" charset="-122"/>
                <a:cs typeface="Aptos" pitchFamily="34" charset="-120"/>
              </a:rPr>
              <a:t>Budget?</a:t>
            </a:r>
            <a:endParaRPr lang="en-US" sz="2030" dirty="0"/>
          </a:p>
          <a:p>
            <a:pPr indent="0" marL="0">
              <a:lnSpc>
                <a:spcPct val="115000"/>
              </a:lnSpc>
              <a:buNone/>
            </a:pPr>
            <a:r>
              <a:rPr lang="en-US" sz="2030" dirty="0">
                <a:solidFill>
                  <a:srgbClr val="182338"/>
                </a:solidFill>
                <a:latin typeface="Aptos" pitchFamily="34" charset="0"/>
                <a:ea typeface="Aptos" pitchFamily="34" charset="-122"/>
                <a:cs typeface="Aptos" pitchFamily="34" charset="-120"/>
              </a:rPr>
              <a:t>Opening hours?</a:t>
            </a:r>
            <a:endParaRPr lang="en-US" sz="2030" dirty="0"/>
          </a:p>
          <a:p>
            <a:pPr indent="0" marL="0">
              <a:lnSpc>
                <a:spcPct val="115000"/>
              </a:lnSpc>
              <a:buNone/>
            </a:pPr>
            <a:r>
              <a:rPr lang="en-US" sz="2030" dirty="0">
                <a:solidFill>
                  <a:srgbClr val="182338"/>
                </a:solidFill>
                <a:latin typeface="Aptos" pitchFamily="34" charset="0"/>
                <a:ea typeface="Aptos" pitchFamily="34" charset="-122"/>
                <a:cs typeface="Aptos" pitchFamily="34" charset="-120"/>
              </a:rPr>
              <a:t>Safety and weather?</a:t>
            </a:r>
            <a:endParaRPr lang="en-US" sz="2030" dirty="0"/>
          </a:p>
        </p:txBody>
      </p:sp>
      <p:sp>
        <p:nvSpPr>
          <p:cNvPr id="24" name="Text 22"/>
          <p:cNvSpPr/>
          <p:nvPr/>
        </p:nvSpPr>
        <p:spPr>
          <a:xfrm>
            <a:off x="685800" y="5934456"/>
            <a:ext cx="10771632" cy="393192"/>
          </a:xfrm>
          <a:prstGeom prst="rect">
            <a:avLst/>
          </a:prstGeom>
          <a:noFill/>
          <a:ln/>
        </p:spPr>
        <p:txBody>
          <a:bodyPr wrap="square" lIns="0" tIns="0" rIns="0" bIns="0" rtlCol="0" anchor="ctr">
            <a:normAutofit/>
          </a:bodyPr>
          <a:lstStyle/>
          <a:p>
            <a:pPr algn="ctr" indent="0" marL="0">
              <a:buNone/>
            </a:pPr>
            <a:r>
              <a:rPr lang="en-US" sz="1650" i="1" dirty="0">
                <a:solidFill>
                  <a:srgbClr val="5C6981"/>
                </a:solidFill>
                <a:latin typeface="Aptos" pitchFamily="34" charset="0"/>
                <a:ea typeface="Aptos" pitchFamily="34" charset="-122"/>
                <a:cs typeface="Aptos" pitchFamily="34" charset="-120"/>
              </a:rPr>
              <a:t>A sensible answer becomes more useful when we check and refine it.</a:t>
            </a:r>
            <a:endParaRPr lang="en-US" sz="1650" dirty="0"/>
          </a:p>
        </p:txBody>
      </p:sp>
      <p:sp>
        <p:nvSpPr>
          <p:cNvPr id="25" name="Shape 23"/>
          <p:cNvSpPr/>
          <p:nvPr/>
        </p:nvSpPr>
        <p:spPr>
          <a:xfrm>
            <a:off x="576072" y="6437376"/>
            <a:ext cx="11036808" cy="0"/>
          </a:xfrm>
          <a:prstGeom prst="line">
            <a:avLst/>
          </a:prstGeom>
          <a:noFill/>
          <a:ln w="12700">
            <a:solidFill>
              <a:srgbClr val="E4E9F0"/>
            </a:solidFill>
            <a:prstDash val="solid"/>
          </a:ln>
        </p:spPr>
      </p:sp>
      <p:sp>
        <p:nvSpPr>
          <p:cNvPr id="26" name="Text 24"/>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27" name="Text 25"/>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p:bgPr>
    </p:bg>
    <p:spTree>
      <p:nvGrpSpPr>
        <p:cNvPr id="1" name=""/>
        <p:cNvGrpSpPr/>
        <p:nvPr/>
      </p:nvGrpSpPr>
      <p:grpSpPr>
        <a:xfrm>
          <a:off x="0" y="0"/>
          <a:ext cx="0" cy="0"/>
          <a:chOff x="0" y="0"/>
          <a:chExt cx="0" cy="0"/>
        </a:xfrm>
      </p:grpSpPr>
      <p:pic>
        <p:nvPicPr>
          <p:cNvPr id="2" name="Image 0" descr="/mnt/data/AI_in_Action_Module_1/visuals/responsible.jp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7342632" cy="6858000"/>
          </a:xfrm>
          <a:prstGeom prst="rect">
            <a:avLst/>
          </a:prstGeom>
          <a:solidFill>
            <a:srgbClr val="0B1328">
              <a:alpha val="84000"/>
            </a:srgbClr>
          </a:solidFill>
          <a:ln w="12700">
            <a:solidFill>
              <a:srgbClr val="0B1328">
                <a:alpha val="0"/>
              </a:srgbClr>
            </a:solidFill>
            <a:prstDash val="solid"/>
          </a:ln>
        </p:spPr>
      </p:sp>
      <p:sp>
        <p:nvSpPr>
          <p:cNvPr id="4" name="Shape 1"/>
          <p:cNvSpPr/>
          <p:nvPr/>
        </p:nvSpPr>
        <p:spPr>
          <a:xfrm>
            <a:off x="6583680" y="0"/>
            <a:ext cx="1645920" cy="6858000"/>
          </a:xfrm>
          <a:prstGeom prst="rect">
            <a:avLst/>
          </a:prstGeom>
          <a:solidFill>
            <a:srgbClr val="0B1328">
              <a:alpha val="20000"/>
            </a:srgbClr>
          </a:solidFill>
          <a:ln w="12700">
            <a:solidFill>
              <a:srgbClr val="0B1328">
                <a:alpha val="0"/>
              </a:srgbClr>
            </a:solidFill>
            <a:prstDash val="solid"/>
          </a:ln>
        </p:spPr>
      </p:sp>
      <p:sp>
        <p:nvSpPr>
          <p:cNvPr id="5" name="Text 2"/>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FFFFFF"/>
                </a:solidFill>
                <a:latin typeface="Aptos" pitchFamily="34" charset="0"/>
                <a:ea typeface="Aptos" pitchFamily="34" charset="-122"/>
                <a:cs typeface="Aptos" pitchFamily="34" charset="-120"/>
              </a:rPr>
              <a:t>✦  AI IN ACTION</a:t>
            </a:r>
            <a:endParaRPr lang="en-US" sz="1250" dirty="0"/>
          </a:p>
        </p:txBody>
      </p:sp>
      <p:sp>
        <p:nvSpPr>
          <p:cNvPr id="6" name="Text 3"/>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C7D7ED"/>
                </a:solidFill>
                <a:latin typeface="Aptos" pitchFamily="34" charset="0"/>
                <a:ea typeface="Aptos" pitchFamily="34" charset="-122"/>
                <a:cs typeface="Aptos" pitchFamily="34" charset="-120"/>
              </a:rPr>
              <a:t>RESPONSIBLE AI</a:t>
            </a:r>
            <a:endParaRPr lang="en-US" sz="1080" dirty="0"/>
          </a:p>
        </p:txBody>
      </p:sp>
      <p:sp>
        <p:nvSpPr>
          <p:cNvPr id="7" name="Text 4"/>
          <p:cNvSpPr/>
          <p:nvPr/>
        </p:nvSpPr>
        <p:spPr>
          <a:xfrm>
            <a:off x="585216" y="1225296"/>
            <a:ext cx="8065008" cy="1325880"/>
          </a:xfrm>
          <a:prstGeom prst="rect">
            <a:avLst/>
          </a:prstGeom>
          <a:noFill/>
          <a:ln/>
        </p:spPr>
        <p:txBody>
          <a:bodyPr wrap="square" lIns="0" tIns="0" rIns="0" bIns="0" rtlCol="0" anchor="ctr">
            <a:normAutofit/>
          </a:bodyPr>
          <a:lstStyle/>
          <a:p>
            <a:pPr indent="0" marL="0">
              <a:buNone/>
            </a:pPr>
            <a:r>
              <a:rPr lang="en-US" sz="3470" b="1" dirty="0">
                <a:solidFill>
                  <a:srgbClr val="FFFFFF"/>
                </a:solidFill>
                <a:latin typeface="Aptos" pitchFamily="34" charset="0"/>
                <a:ea typeface="Aptos" pitchFamily="34" charset="-122"/>
                <a:cs typeface="Aptos" pitchFamily="34" charset="-120"/>
              </a:rPr>
              <a:t>Three habits for</a:t>
            </a:r>
            <a:endParaRPr lang="en-US" sz="3470" dirty="0"/>
          </a:p>
          <a:p>
            <a:pPr indent="0" marL="0">
              <a:buNone/>
            </a:pPr>
            <a:r>
              <a:rPr lang="en-US" sz="3470" b="1" dirty="0">
                <a:solidFill>
                  <a:srgbClr val="FFFFFF"/>
                </a:solidFill>
                <a:latin typeface="Aptos" pitchFamily="34" charset="0"/>
                <a:ea typeface="Aptos" pitchFamily="34" charset="-122"/>
                <a:cs typeface="Aptos" pitchFamily="34" charset="-120"/>
              </a:rPr>
              <a:t>working well with AI</a:t>
            </a:r>
            <a:endParaRPr lang="en-US" sz="3470" dirty="0"/>
          </a:p>
        </p:txBody>
      </p:sp>
      <p:sp>
        <p:nvSpPr>
          <p:cNvPr id="8" name="Shape 5"/>
          <p:cNvSpPr/>
          <p:nvPr/>
        </p:nvSpPr>
        <p:spPr>
          <a:xfrm>
            <a:off x="713232" y="2743200"/>
            <a:ext cx="576072" cy="576072"/>
          </a:xfrm>
          <a:prstGeom prst="ellipse">
            <a:avLst/>
          </a:prstGeom>
          <a:solidFill>
            <a:srgbClr val="20DDC3"/>
          </a:solidFill>
          <a:ln w="12700">
            <a:solidFill>
              <a:srgbClr val="20DDC3">
                <a:alpha val="0"/>
              </a:srgbClr>
            </a:solidFill>
            <a:prstDash val="solid"/>
          </a:ln>
        </p:spPr>
      </p:sp>
      <p:sp>
        <p:nvSpPr>
          <p:cNvPr id="9" name="Text 6"/>
          <p:cNvSpPr/>
          <p:nvPr/>
        </p:nvSpPr>
        <p:spPr>
          <a:xfrm>
            <a:off x="731520" y="2798064"/>
            <a:ext cx="548640" cy="448056"/>
          </a:xfrm>
          <a:prstGeom prst="rect">
            <a:avLst/>
          </a:prstGeom>
          <a:noFill/>
          <a:ln/>
        </p:spPr>
        <p:txBody>
          <a:bodyPr wrap="square" lIns="0" tIns="0" rIns="0" bIns="0" rtlCol="0" anchor="ctr">
            <a:normAutofit/>
          </a:bodyPr>
          <a:lstStyle/>
          <a:p>
            <a:pPr algn="ctr" indent="0" marL="0">
              <a:buNone/>
            </a:pPr>
            <a:r>
              <a:rPr lang="en-US" sz="2340" b="1" dirty="0">
                <a:solidFill>
                  <a:srgbClr val="111B33"/>
                </a:solidFill>
                <a:latin typeface="Aptos" pitchFamily="34" charset="0"/>
                <a:ea typeface="Aptos" pitchFamily="34" charset="-122"/>
                <a:cs typeface="Aptos" pitchFamily="34" charset="-120"/>
              </a:rPr>
              <a:t>✓</a:t>
            </a:r>
            <a:endParaRPr lang="en-US" sz="2340" dirty="0"/>
          </a:p>
        </p:txBody>
      </p:sp>
      <p:sp>
        <p:nvSpPr>
          <p:cNvPr id="10" name="Text 7"/>
          <p:cNvSpPr/>
          <p:nvPr/>
        </p:nvSpPr>
        <p:spPr>
          <a:xfrm>
            <a:off x="1472184" y="2715768"/>
            <a:ext cx="4937760" cy="365760"/>
          </a:xfrm>
          <a:prstGeom prst="rect">
            <a:avLst/>
          </a:prstGeom>
          <a:noFill/>
          <a:ln/>
        </p:spPr>
        <p:txBody>
          <a:bodyPr wrap="square" lIns="0" tIns="0" rIns="0" bIns="0" rtlCol="0" anchor="ctr">
            <a:normAutofit/>
          </a:bodyPr>
          <a:lstStyle/>
          <a:p>
            <a:pPr indent="0" marL="0">
              <a:buNone/>
            </a:pPr>
            <a:r>
              <a:rPr lang="en-US" sz="1950" b="1" dirty="0">
                <a:solidFill>
                  <a:srgbClr val="FFFFFF"/>
                </a:solidFill>
                <a:latin typeface="Aptos" pitchFamily="34" charset="0"/>
                <a:ea typeface="Aptos" pitchFamily="34" charset="-122"/>
                <a:cs typeface="Aptos" pitchFamily="34" charset="-120"/>
              </a:rPr>
              <a:t>CHECK</a:t>
            </a:r>
            <a:endParaRPr lang="en-US" sz="1950" dirty="0"/>
          </a:p>
        </p:txBody>
      </p:sp>
      <p:sp>
        <p:nvSpPr>
          <p:cNvPr id="11" name="Text 8"/>
          <p:cNvSpPr/>
          <p:nvPr/>
        </p:nvSpPr>
        <p:spPr>
          <a:xfrm>
            <a:off x="1490472" y="3118104"/>
            <a:ext cx="5916168" cy="393192"/>
          </a:xfrm>
          <a:prstGeom prst="rect">
            <a:avLst/>
          </a:prstGeom>
          <a:noFill/>
          <a:ln/>
        </p:spPr>
        <p:txBody>
          <a:bodyPr wrap="square" lIns="0" tIns="0" rIns="0" bIns="0" rtlCol="0" anchor="ctr">
            <a:normAutofit/>
          </a:bodyPr>
          <a:lstStyle/>
          <a:p>
            <a:pPr indent="0" marL="0">
              <a:buNone/>
            </a:pPr>
            <a:r>
              <a:rPr lang="en-US" sz="1570" dirty="0">
                <a:solidFill>
                  <a:srgbClr val="E8F4FB"/>
                </a:solidFill>
                <a:latin typeface="Aptos" pitchFamily="34" charset="0"/>
                <a:ea typeface="Aptos" pitchFamily="34" charset="-122"/>
                <a:cs typeface="Aptos" pitchFamily="34" charset="-120"/>
              </a:rPr>
              <a:t>Verify important facts and test results.</a:t>
            </a:r>
            <a:endParaRPr lang="en-US" sz="1570" dirty="0"/>
          </a:p>
        </p:txBody>
      </p:sp>
      <p:sp>
        <p:nvSpPr>
          <p:cNvPr id="12" name="Shape 9"/>
          <p:cNvSpPr/>
          <p:nvPr/>
        </p:nvSpPr>
        <p:spPr>
          <a:xfrm>
            <a:off x="713232" y="3703320"/>
            <a:ext cx="576072" cy="576072"/>
          </a:xfrm>
          <a:prstGeom prst="ellipse">
            <a:avLst/>
          </a:prstGeom>
          <a:solidFill>
            <a:srgbClr val="FFC977"/>
          </a:solidFill>
          <a:ln w="12700">
            <a:solidFill>
              <a:srgbClr val="FFC977">
                <a:alpha val="0"/>
              </a:srgbClr>
            </a:solidFill>
            <a:prstDash val="solid"/>
          </a:ln>
        </p:spPr>
      </p:sp>
      <p:sp>
        <p:nvSpPr>
          <p:cNvPr id="13" name="Text 10"/>
          <p:cNvSpPr/>
          <p:nvPr/>
        </p:nvSpPr>
        <p:spPr>
          <a:xfrm>
            <a:off x="731520" y="3758184"/>
            <a:ext cx="548640" cy="448056"/>
          </a:xfrm>
          <a:prstGeom prst="rect">
            <a:avLst/>
          </a:prstGeom>
          <a:noFill/>
          <a:ln/>
        </p:spPr>
        <p:txBody>
          <a:bodyPr wrap="square" lIns="0" tIns="0" rIns="0" bIns="0" rtlCol="0" anchor="ctr">
            <a:normAutofit/>
          </a:bodyPr>
          <a:lstStyle/>
          <a:p>
            <a:pPr algn="ctr" indent="0" marL="0">
              <a:buNone/>
            </a:pPr>
            <a:r>
              <a:rPr lang="en-US" sz="2340" b="1" dirty="0">
                <a:solidFill>
                  <a:srgbClr val="111B33"/>
                </a:solidFill>
                <a:latin typeface="Aptos" pitchFamily="34" charset="0"/>
                <a:ea typeface="Aptos" pitchFamily="34" charset="-122"/>
                <a:cs typeface="Aptos" pitchFamily="34" charset="-120"/>
              </a:rPr>
              <a:t>◇</a:t>
            </a:r>
            <a:endParaRPr lang="en-US" sz="2340" dirty="0"/>
          </a:p>
        </p:txBody>
      </p:sp>
      <p:sp>
        <p:nvSpPr>
          <p:cNvPr id="14" name="Text 11"/>
          <p:cNvSpPr/>
          <p:nvPr/>
        </p:nvSpPr>
        <p:spPr>
          <a:xfrm>
            <a:off x="1472184" y="3675888"/>
            <a:ext cx="4937760" cy="365760"/>
          </a:xfrm>
          <a:prstGeom prst="rect">
            <a:avLst/>
          </a:prstGeom>
          <a:noFill/>
          <a:ln/>
        </p:spPr>
        <p:txBody>
          <a:bodyPr wrap="square" lIns="0" tIns="0" rIns="0" bIns="0" rtlCol="0" anchor="ctr">
            <a:normAutofit/>
          </a:bodyPr>
          <a:lstStyle/>
          <a:p>
            <a:pPr indent="0" marL="0">
              <a:buNone/>
            </a:pPr>
            <a:r>
              <a:rPr lang="en-US" sz="1950" b="1" dirty="0">
                <a:solidFill>
                  <a:srgbClr val="FFFFFF"/>
                </a:solidFill>
                <a:latin typeface="Aptos" pitchFamily="34" charset="0"/>
                <a:ea typeface="Aptos" pitchFamily="34" charset="-122"/>
                <a:cs typeface="Aptos" pitchFamily="34" charset="-120"/>
              </a:rPr>
              <a:t>PROTECT</a:t>
            </a:r>
            <a:endParaRPr lang="en-US" sz="1950" dirty="0"/>
          </a:p>
        </p:txBody>
      </p:sp>
      <p:sp>
        <p:nvSpPr>
          <p:cNvPr id="15" name="Text 12"/>
          <p:cNvSpPr/>
          <p:nvPr/>
        </p:nvSpPr>
        <p:spPr>
          <a:xfrm>
            <a:off x="1490472" y="4078224"/>
            <a:ext cx="5916168" cy="393192"/>
          </a:xfrm>
          <a:prstGeom prst="rect">
            <a:avLst/>
          </a:prstGeom>
          <a:noFill/>
          <a:ln/>
        </p:spPr>
        <p:txBody>
          <a:bodyPr wrap="square" lIns="0" tIns="0" rIns="0" bIns="0" rtlCol="0" anchor="ctr">
            <a:normAutofit/>
          </a:bodyPr>
          <a:lstStyle/>
          <a:p>
            <a:pPr indent="0" marL="0">
              <a:buNone/>
            </a:pPr>
            <a:r>
              <a:rPr lang="en-US" sz="1570" dirty="0">
                <a:solidFill>
                  <a:srgbClr val="E8F4FB"/>
                </a:solidFill>
                <a:latin typeface="Aptos" pitchFamily="34" charset="0"/>
                <a:ea typeface="Aptos" pitchFamily="34" charset="-122"/>
                <a:cs typeface="Aptos" pitchFamily="34" charset="-120"/>
              </a:rPr>
              <a:t>Keep sensitive and confidential data safe.</a:t>
            </a:r>
            <a:endParaRPr lang="en-US" sz="1570" dirty="0"/>
          </a:p>
        </p:txBody>
      </p:sp>
      <p:sp>
        <p:nvSpPr>
          <p:cNvPr id="16" name="Shape 13"/>
          <p:cNvSpPr/>
          <p:nvPr/>
        </p:nvSpPr>
        <p:spPr>
          <a:xfrm>
            <a:off x="713232" y="4663440"/>
            <a:ext cx="576072" cy="576072"/>
          </a:xfrm>
          <a:prstGeom prst="ellipse">
            <a:avLst/>
          </a:prstGeom>
          <a:solidFill>
            <a:srgbClr val="9F85FC"/>
          </a:solidFill>
          <a:ln w="12700">
            <a:solidFill>
              <a:srgbClr val="9F85FC">
                <a:alpha val="0"/>
              </a:srgbClr>
            </a:solidFill>
            <a:prstDash val="solid"/>
          </a:ln>
        </p:spPr>
      </p:sp>
      <p:sp>
        <p:nvSpPr>
          <p:cNvPr id="17" name="Text 14"/>
          <p:cNvSpPr/>
          <p:nvPr/>
        </p:nvSpPr>
        <p:spPr>
          <a:xfrm>
            <a:off x="731520" y="4718304"/>
            <a:ext cx="548640" cy="448056"/>
          </a:xfrm>
          <a:prstGeom prst="rect">
            <a:avLst/>
          </a:prstGeom>
          <a:noFill/>
          <a:ln/>
        </p:spPr>
        <p:txBody>
          <a:bodyPr wrap="square" lIns="0" tIns="0" rIns="0" bIns="0" rtlCol="0" anchor="ctr">
            <a:normAutofit/>
          </a:bodyPr>
          <a:lstStyle/>
          <a:p>
            <a:pPr algn="ctr" indent="0" marL="0">
              <a:buNone/>
            </a:pPr>
            <a:r>
              <a:rPr lang="en-US" sz="2340" b="1" dirty="0">
                <a:solidFill>
                  <a:srgbClr val="111B33"/>
                </a:solidFill>
                <a:latin typeface="Aptos" pitchFamily="34" charset="0"/>
                <a:ea typeface="Aptos" pitchFamily="34" charset="-122"/>
                <a:cs typeface="Aptos" pitchFamily="34" charset="-120"/>
              </a:rPr>
              <a:t>✦</a:t>
            </a:r>
            <a:endParaRPr lang="en-US" sz="2340" dirty="0"/>
          </a:p>
        </p:txBody>
      </p:sp>
      <p:sp>
        <p:nvSpPr>
          <p:cNvPr id="18" name="Text 15"/>
          <p:cNvSpPr/>
          <p:nvPr/>
        </p:nvSpPr>
        <p:spPr>
          <a:xfrm>
            <a:off x="1472184" y="4636008"/>
            <a:ext cx="4937760" cy="365760"/>
          </a:xfrm>
          <a:prstGeom prst="rect">
            <a:avLst/>
          </a:prstGeom>
          <a:noFill/>
          <a:ln/>
        </p:spPr>
        <p:txBody>
          <a:bodyPr wrap="square" lIns="0" tIns="0" rIns="0" bIns="0" rtlCol="0" anchor="ctr">
            <a:normAutofit/>
          </a:bodyPr>
          <a:lstStyle/>
          <a:p>
            <a:pPr indent="0" marL="0">
              <a:buNone/>
            </a:pPr>
            <a:r>
              <a:rPr lang="en-US" sz="1950" b="1" dirty="0">
                <a:solidFill>
                  <a:srgbClr val="FFFFFF"/>
                </a:solidFill>
                <a:latin typeface="Aptos" pitchFamily="34" charset="0"/>
                <a:ea typeface="Aptos" pitchFamily="34" charset="-122"/>
                <a:cs typeface="Aptos" pitchFamily="34" charset="-120"/>
              </a:rPr>
              <a:t>PRACTISE</a:t>
            </a:r>
            <a:endParaRPr lang="en-US" sz="1950" dirty="0"/>
          </a:p>
        </p:txBody>
      </p:sp>
      <p:sp>
        <p:nvSpPr>
          <p:cNvPr id="19" name="Text 16"/>
          <p:cNvSpPr/>
          <p:nvPr/>
        </p:nvSpPr>
        <p:spPr>
          <a:xfrm>
            <a:off x="1490472" y="5038344"/>
            <a:ext cx="5916168" cy="393192"/>
          </a:xfrm>
          <a:prstGeom prst="rect">
            <a:avLst/>
          </a:prstGeom>
          <a:noFill/>
          <a:ln/>
        </p:spPr>
        <p:txBody>
          <a:bodyPr wrap="square" lIns="0" tIns="0" rIns="0" bIns="0" rtlCol="0" anchor="ctr">
            <a:normAutofit/>
          </a:bodyPr>
          <a:lstStyle/>
          <a:p>
            <a:pPr indent="0" marL="0">
              <a:buNone/>
            </a:pPr>
            <a:r>
              <a:rPr lang="en-US" sz="1570" dirty="0">
                <a:solidFill>
                  <a:srgbClr val="E8F4FB"/>
                </a:solidFill>
                <a:latin typeface="Aptos" pitchFamily="34" charset="0"/>
                <a:ea typeface="Aptos" pitchFamily="34" charset="-122"/>
                <a:cs typeface="Aptos" pitchFamily="34" charset="-120"/>
              </a:rPr>
              <a:t>Use AI to strengthen your own thinking.</a:t>
            </a:r>
            <a:endParaRPr lang="en-US" sz="1570" dirty="0"/>
          </a:p>
        </p:txBody>
      </p:sp>
      <p:sp>
        <p:nvSpPr>
          <p:cNvPr id="20" name="Text 17"/>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D0DEEA"/>
                </a:solidFill>
                <a:latin typeface="Aptos" pitchFamily="34" charset="0"/>
                <a:ea typeface="Aptos" pitchFamily="34" charset="-122"/>
                <a:cs typeface="Aptos" pitchFamily="34" charset="-120"/>
              </a:rPr>
              <a:t>LEARN  ·  CREATE  ·  BUILD</a:t>
            </a:r>
            <a:endParaRPr lang="en-US" sz="980" dirty="0"/>
          </a:p>
        </p:txBody>
      </p:sp>
      <p:sp>
        <p:nvSpPr>
          <p:cNvPr id="21" name="Text 18"/>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D0DEEA"/>
                </a:solidFill>
                <a:latin typeface="Aptos" pitchFamily="34" charset="0"/>
                <a:ea typeface="Aptos" pitchFamily="34" charset="-122"/>
                <a:cs typeface="Apto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p:bgPr>
    </p:bg>
    <p:spTree>
      <p:nvGrpSpPr>
        <p:cNvPr id="1" name=""/>
        <p:cNvGrpSpPr/>
        <p:nvPr/>
      </p:nvGrpSpPr>
      <p:grpSpPr>
        <a:xfrm>
          <a:off x="0" y="0"/>
          <a:ext cx="0" cy="0"/>
          <a:chOff x="0" y="0"/>
          <a:chExt cx="0" cy="0"/>
        </a:xfrm>
      </p:grpSpPr>
      <p:pic>
        <p:nvPicPr>
          <p:cNvPr id="2" name="Image 0" descr="/mnt/data/AI_in_Action_Module_1/visuals/learn.jp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7159752" cy="6858000"/>
          </a:xfrm>
          <a:prstGeom prst="rect">
            <a:avLst/>
          </a:prstGeom>
          <a:solidFill>
            <a:srgbClr val="0B1328">
              <a:alpha val="88000"/>
            </a:srgbClr>
          </a:solidFill>
          <a:ln w="12700">
            <a:solidFill>
              <a:srgbClr val="0B1328">
                <a:alpha val="0"/>
              </a:srgbClr>
            </a:solidFill>
            <a:prstDash val="solid"/>
          </a:ln>
        </p:spPr>
      </p:sp>
      <p:sp>
        <p:nvSpPr>
          <p:cNvPr id="4" name="Shape 1"/>
          <p:cNvSpPr/>
          <p:nvPr/>
        </p:nvSpPr>
        <p:spPr>
          <a:xfrm>
            <a:off x="6126480" y="0"/>
            <a:ext cx="1828800" cy="6858000"/>
          </a:xfrm>
          <a:prstGeom prst="rect">
            <a:avLst/>
          </a:prstGeom>
          <a:solidFill>
            <a:srgbClr val="0B1328">
              <a:alpha val="22000"/>
            </a:srgbClr>
          </a:solidFill>
          <a:ln w="12700">
            <a:solidFill>
              <a:srgbClr val="0B1328">
                <a:alpha val="0"/>
              </a:srgbClr>
            </a:solidFill>
            <a:prstDash val="solid"/>
          </a:ln>
        </p:spPr>
      </p:sp>
      <p:sp>
        <p:nvSpPr>
          <p:cNvPr id="5" name="Text 2"/>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FFFFFF"/>
                </a:solidFill>
                <a:latin typeface="Aptos" pitchFamily="34" charset="0"/>
                <a:ea typeface="Aptos" pitchFamily="34" charset="-122"/>
                <a:cs typeface="Aptos" pitchFamily="34" charset="-120"/>
              </a:rPr>
              <a:t>✦  AI IN ACTION</a:t>
            </a:r>
            <a:endParaRPr lang="en-US" sz="1250" dirty="0"/>
          </a:p>
        </p:txBody>
      </p:sp>
      <p:sp>
        <p:nvSpPr>
          <p:cNvPr id="6" name="Text 3"/>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C7D7ED"/>
                </a:solidFill>
                <a:latin typeface="Aptos" pitchFamily="34" charset="0"/>
                <a:ea typeface="Aptos" pitchFamily="34" charset="-122"/>
                <a:cs typeface="Aptos" pitchFamily="34" charset="-120"/>
              </a:rPr>
              <a:t>COMING NEXT</a:t>
            </a:r>
            <a:endParaRPr lang="en-US" sz="1080" dirty="0"/>
          </a:p>
        </p:txBody>
      </p:sp>
      <p:sp>
        <p:nvSpPr>
          <p:cNvPr id="7" name="Text 4"/>
          <p:cNvSpPr/>
          <p:nvPr/>
        </p:nvSpPr>
        <p:spPr>
          <a:xfrm>
            <a:off x="594360" y="1307592"/>
            <a:ext cx="8503920" cy="1408176"/>
          </a:xfrm>
          <a:prstGeom prst="rect">
            <a:avLst/>
          </a:prstGeom>
          <a:noFill/>
          <a:ln/>
        </p:spPr>
        <p:txBody>
          <a:bodyPr wrap="square" lIns="0" tIns="0" rIns="0" bIns="0" rtlCol="0" anchor="ctr">
            <a:normAutofit/>
          </a:bodyPr>
          <a:lstStyle/>
          <a:p>
            <a:pPr indent="0" marL="0">
              <a:buNone/>
            </a:pPr>
            <a:r>
              <a:rPr lang="en-US" sz="3700" b="1" dirty="0">
                <a:solidFill>
                  <a:srgbClr val="FFFFFF"/>
                </a:solidFill>
                <a:latin typeface="Aptos" pitchFamily="34" charset="0"/>
                <a:ea typeface="Aptos" pitchFamily="34" charset="-122"/>
                <a:cs typeface="Aptos" pitchFamily="34" charset="-120"/>
              </a:rPr>
              <a:t>What if your notes</a:t>
            </a:r>
            <a:endParaRPr lang="en-US" sz="3700" dirty="0"/>
          </a:p>
          <a:p>
            <a:pPr indent="0" marL="0">
              <a:buNone/>
            </a:pPr>
            <a:r>
              <a:rPr lang="en-US" sz="3700" b="1" dirty="0">
                <a:solidFill>
                  <a:srgbClr val="FFFFFF"/>
                </a:solidFill>
                <a:latin typeface="Aptos" pitchFamily="34" charset="0"/>
                <a:ea typeface="Aptos" pitchFamily="34" charset="-122"/>
                <a:cs typeface="Aptos" pitchFamily="34" charset="-120"/>
              </a:rPr>
              <a:t>could come alive?</a:t>
            </a:r>
            <a:endParaRPr lang="en-US" sz="3700" dirty="0"/>
          </a:p>
        </p:txBody>
      </p:sp>
      <p:sp>
        <p:nvSpPr>
          <p:cNvPr id="8" name="Shape 5"/>
          <p:cNvSpPr/>
          <p:nvPr/>
        </p:nvSpPr>
        <p:spPr>
          <a:xfrm>
            <a:off x="649224" y="3017520"/>
            <a:ext cx="5815584" cy="484632"/>
          </a:xfrm>
          <a:prstGeom prst="roundRect">
            <a:avLst/>
          </a:prstGeom>
          <a:solidFill>
            <a:srgbClr val="172745">
              <a:alpha val="84000"/>
            </a:srgbClr>
          </a:solidFill>
          <a:ln w="12700">
            <a:solidFill>
              <a:srgbClr val="172745">
                <a:alpha val="0"/>
              </a:srgbClr>
            </a:solidFill>
            <a:prstDash val="solid"/>
          </a:ln>
        </p:spPr>
      </p:sp>
      <p:sp>
        <p:nvSpPr>
          <p:cNvPr id="9" name="Text 6"/>
          <p:cNvSpPr/>
          <p:nvPr/>
        </p:nvSpPr>
        <p:spPr>
          <a:xfrm>
            <a:off x="795528" y="3081528"/>
            <a:ext cx="384048" cy="356616"/>
          </a:xfrm>
          <a:prstGeom prst="rect">
            <a:avLst/>
          </a:prstGeom>
          <a:noFill/>
          <a:ln/>
        </p:spPr>
        <p:txBody>
          <a:bodyPr wrap="square" lIns="0" tIns="0" rIns="0" bIns="0" rtlCol="0" anchor="ctr">
            <a:normAutofit/>
          </a:bodyPr>
          <a:lstStyle/>
          <a:p>
            <a:pPr indent="0" marL="0">
              <a:buNone/>
            </a:pPr>
            <a:r>
              <a:rPr lang="en-US" sz="1780" dirty="0">
                <a:solidFill>
                  <a:srgbClr val="20DDC3"/>
                </a:solidFill>
                <a:latin typeface="Aptos" pitchFamily="34" charset="0"/>
                <a:ea typeface="Aptos" pitchFamily="34" charset="-122"/>
                <a:cs typeface="Aptos" pitchFamily="34" charset="-120"/>
              </a:rPr>
              <a:t>📖</a:t>
            </a:r>
            <a:endParaRPr lang="en-US" sz="1780" dirty="0"/>
          </a:p>
        </p:txBody>
      </p:sp>
      <p:sp>
        <p:nvSpPr>
          <p:cNvPr id="10" name="Text 7"/>
          <p:cNvSpPr/>
          <p:nvPr/>
        </p:nvSpPr>
        <p:spPr>
          <a:xfrm>
            <a:off x="1280160" y="3072384"/>
            <a:ext cx="4901184" cy="356616"/>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Aptos" pitchFamily="34" charset="0"/>
                <a:ea typeface="Aptos" pitchFamily="34" charset="-122"/>
                <a:cs typeface="Aptos" pitchFamily="34" charset="-120"/>
              </a:rPr>
              <a:t>Clear explanations</a:t>
            </a:r>
            <a:endParaRPr lang="en-US" sz="1850" dirty="0"/>
          </a:p>
        </p:txBody>
      </p:sp>
      <p:sp>
        <p:nvSpPr>
          <p:cNvPr id="11" name="Shape 8"/>
          <p:cNvSpPr/>
          <p:nvPr/>
        </p:nvSpPr>
        <p:spPr>
          <a:xfrm>
            <a:off x="649224" y="3584448"/>
            <a:ext cx="5815584" cy="484632"/>
          </a:xfrm>
          <a:prstGeom prst="roundRect">
            <a:avLst/>
          </a:prstGeom>
          <a:solidFill>
            <a:srgbClr val="172745">
              <a:alpha val="84000"/>
            </a:srgbClr>
          </a:solidFill>
          <a:ln w="12700">
            <a:solidFill>
              <a:srgbClr val="172745">
                <a:alpha val="0"/>
              </a:srgbClr>
            </a:solidFill>
            <a:prstDash val="solid"/>
          </a:ln>
        </p:spPr>
      </p:sp>
      <p:sp>
        <p:nvSpPr>
          <p:cNvPr id="12" name="Text 9"/>
          <p:cNvSpPr/>
          <p:nvPr/>
        </p:nvSpPr>
        <p:spPr>
          <a:xfrm>
            <a:off x="795528" y="3648456"/>
            <a:ext cx="384048" cy="356616"/>
          </a:xfrm>
          <a:prstGeom prst="rect">
            <a:avLst/>
          </a:prstGeom>
          <a:noFill/>
          <a:ln/>
        </p:spPr>
        <p:txBody>
          <a:bodyPr wrap="square" lIns="0" tIns="0" rIns="0" bIns="0" rtlCol="0" anchor="ctr">
            <a:normAutofit/>
          </a:bodyPr>
          <a:lstStyle/>
          <a:p>
            <a:pPr indent="0" marL="0">
              <a:buNone/>
            </a:pPr>
            <a:r>
              <a:rPr lang="en-US" sz="1780" dirty="0">
                <a:solidFill>
                  <a:srgbClr val="20DDC3"/>
                </a:solidFill>
                <a:latin typeface="Aptos" pitchFamily="34" charset="0"/>
                <a:ea typeface="Aptos" pitchFamily="34" charset="-122"/>
                <a:cs typeface="Aptos" pitchFamily="34" charset="-120"/>
              </a:rPr>
              <a:t>❓</a:t>
            </a:r>
            <a:endParaRPr lang="en-US" sz="1780" dirty="0"/>
          </a:p>
        </p:txBody>
      </p:sp>
      <p:sp>
        <p:nvSpPr>
          <p:cNvPr id="13" name="Text 10"/>
          <p:cNvSpPr/>
          <p:nvPr/>
        </p:nvSpPr>
        <p:spPr>
          <a:xfrm>
            <a:off x="1280160" y="3639312"/>
            <a:ext cx="4901184" cy="356616"/>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Aptos" pitchFamily="34" charset="0"/>
                <a:ea typeface="Aptos" pitchFamily="34" charset="-122"/>
                <a:cs typeface="Aptos" pitchFamily="34" charset="-120"/>
              </a:rPr>
              <a:t>Revision quizzes</a:t>
            </a:r>
            <a:endParaRPr lang="en-US" sz="1850" dirty="0"/>
          </a:p>
        </p:txBody>
      </p:sp>
      <p:sp>
        <p:nvSpPr>
          <p:cNvPr id="14" name="Shape 11"/>
          <p:cNvSpPr/>
          <p:nvPr/>
        </p:nvSpPr>
        <p:spPr>
          <a:xfrm>
            <a:off x="649224" y="4151376"/>
            <a:ext cx="5815584" cy="484632"/>
          </a:xfrm>
          <a:prstGeom prst="roundRect">
            <a:avLst/>
          </a:prstGeom>
          <a:solidFill>
            <a:srgbClr val="172745">
              <a:alpha val="84000"/>
            </a:srgbClr>
          </a:solidFill>
          <a:ln w="12700">
            <a:solidFill>
              <a:srgbClr val="172745">
                <a:alpha val="0"/>
              </a:srgbClr>
            </a:solidFill>
            <a:prstDash val="solid"/>
          </a:ln>
        </p:spPr>
      </p:sp>
      <p:sp>
        <p:nvSpPr>
          <p:cNvPr id="15" name="Text 12"/>
          <p:cNvSpPr/>
          <p:nvPr/>
        </p:nvSpPr>
        <p:spPr>
          <a:xfrm>
            <a:off x="795528" y="4215384"/>
            <a:ext cx="384048" cy="356616"/>
          </a:xfrm>
          <a:prstGeom prst="rect">
            <a:avLst/>
          </a:prstGeom>
          <a:noFill/>
          <a:ln/>
        </p:spPr>
        <p:txBody>
          <a:bodyPr wrap="square" lIns="0" tIns="0" rIns="0" bIns="0" rtlCol="0" anchor="ctr">
            <a:normAutofit/>
          </a:bodyPr>
          <a:lstStyle/>
          <a:p>
            <a:pPr indent="0" marL="0">
              <a:buNone/>
            </a:pPr>
            <a:r>
              <a:rPr lang="en-US" sz="1780" dirty="0">
                <a:solidFill>
                  <a:srgbClr val="20DDC3"/>
                </a:solidFill>
                <a:latin typeface="Aptos" pitchFamily="34" charset="0"/>
                <a:ea typeface="Aptos" pitchFamily="34" charset="-122"/>
                <a:cs typeface="Aptos" pitchFamily="34" charset="-120"/>
              </a:rPr>
              <a:t>🗺</a:t>
            </a:r>
            <a:endParaRPr lang="en-US" sz="1780" dirty="0"/>
          </a:p>
        </p:txBody>
      </p:sp>
      <p:sp>
        <p:nvSpPr>
          <p:cNvPr id="16" name="Text 13"/>
          <p:cNvSpPr/>
          <p:nvPr/>
        </p:nvSpPr>
        <p:spPr>
          <a:xfrm>
            <a:off x="1280160" y="4206240"/>
            <a:ext cx="4901184" cy="356616"/>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Aptos" pitchFamily="34" charset="0"/>
                <a:ea typeface="Aptos" pitchFamily="34" charset="-122"/>
                <a:cs typeface="Aptos" pitchFamily="34" charset="-120"/>
              </a:rPr>
              <a:t>Visual mind maps</a:t>
            </a:r>
            <a:endParaRPr lang="en-US" sz="1850" dirty="0"/>
          </a:p>
        </p:txBody>
      </p:sp>
      <p:sp>
        <p:nvSpPr>
          <p:cNvPr id="17" name="Shape 14"/>
          <p:cNvSpPr/>
          <p:nvPr/>
        </p:nvSpPr>
        <p:spPr>
          <a:xfrm>
            <a:off x="649224" y="4718304"/>
            <a:ext cx="5815584" cy="484632"/>
          </a:xfrm>
          <a:prstGeom prst="roundRect">
            <a:avLst/>
          </a:prstGeom>
          <a:solidFill>
            <a:srgbClr val="172745">
              <a:alpha val="84000"/>
            </a:srgbClr>
          </a:solidFill>
          <a:ln w="12700">
            <a:solidFill>
              <a:srgbClr val="172745">
                <a:alpha val="0"/>
              </a:srgbClr>
            </a:solidFill>
            <a:prstDash val="solid"/>
          </a:ln>
        </p:spPr>
      </p:sp>
      <p:sp>
        <p:nvSpPr>
          <p:cNvPr id="18" name="Text 15"/>
          <p:cNvSpPr/>
          <p:nvPr/>
        </p:nvSpPr>
        <p:spPr>
          <a:xfrm>
            <a:off x="795528" y="4782312"/>
            <a:ext cx="384048" cy="356616"/>
          </a:xfrm>
          <a:prstGeom prst="rect">
            <a:avLst/>
          </a:prstGeom>
          <a:noFill/>
          <a:ln/>
        </p:spPr>
        <p:txBody>
          <a:bodyPr wrap="square" lIns="0" tIns="0" rIns="0" bIns="0" rtlCol="0" anchor="ctr">
            <a:normAutofit/>
          </a:bodyPr>
          <a:lstStyle/>
          <a:p>
            <a:pPr indent="0" marL="0">
              <a:buNone/>
            </a:pPr>
            <a:r>
              <a:rPr lang="en-US" sz="1780" dirty="0">
                <a:solidFill>
                  <a:srgbClr val="20DDC3"/>
                </a:solidFill>
                <a:latin typeface="Aptos" pitchFamily="34" charset="0"/>
                <a:ea typeface="Aptos" pitchFamily="34" charset="-122"/>
                <a:cs typeface="Aptos" pitchFamily="34" charset="-120"/>
              </a:rPr>
              <a:t>♫</a:t>
            </a:r>
            <a:endParaRPr lang="en-US" sz="1780" dirty="0"/>
          </a:p>
        </p:txBody>
      </p:sp>
      <p:sp>
        <p:nvSpPr>
          <p:cNvPr id="19" name="Text 16"/>
          <p:cNvSpPr/>
          <p:nvPr/>
        </p:nvSpPr>
        <p:spPr>
          <a:xfrm>
            <a:off x="1280160" y="4773168"/>
            <a:ext cx="4901184" cy="356616"/>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Aptos" pitchFamily="34" charset="0"/>
                <a:ea typeface="Aptos" pitchFamily="34" charset="-122"/>
                <a:cs typeface="Aptos" pitchFamily="34" charset="-120"/>
              </a:rPr>
              <a:t>Audio discussions</a:t>
            </a:r>
            <a:endParaRPr lang="en-US" sz="1850" dirty="0"/>
          </a:p>
        </p:txBody>
      </p:sp>
      <p:sp>
        <p:nvSpPr>
          <p:cNvPr id="20" name="Shape 17"/>
          <p:cNvSpPr/>
          <p:nvPr/>
        </p:nvSpPr>
        <p:spPr>
          <a:xfrm>
            <a:off x="630936" y="5779008"/>
            <a:ext cx="5961888" cy="557784"/>
          </a:xfrm>
          <a:prstGeom prst="roundRect">
            <a:avLst>
              <a:gd name="adj" fmla="val 16393"/>
            </a:avLst>
          </a:prstGeom>
          <a:solidFill>
            <a:srgbClr val="20DDC3"/>
          </a:solidFill>
          <a:ln w="12700">
            <a:solidFill>
              <a:srgbClr val="20DDC3">
                <a:alpha val="0"/>
              </a:srgbClr>
            </a:solidFill>
            <a:prstDash val="solid"/>
          </a:ln>
        </p:spPr>
      </p:sp>
      <p:sp>
        <p:nvSpPr>
          <p:cNvPr id="21" name="Text 18"/>
          <p:cNvSpPr/>
          <p:nvPr/>
        </p:nvSpPr>
        <p:spPr>
          <a:xfrm>
            <a:off x="786384" y="5879592"/>
            <a:ext cx="5641848" cy="329184"/>
          </a:xfrm>
          <a:prstGeom prst="rect">
            <a:avLst/>
          </a:prstGeom>
          <a:noFill/>
          <a:ln/>
        </p:spPr>
        <p:txBody>
          <a:bodyPr wrap="square" lIns="0" tIns="0" rIns="0" bIns="0" rtlCol="0" anchor="ctr">
            <a:normAutofit/>
          </a:bodyPr>
          <a:lstStyle/>
          <a:p>
            <a:pPr algn="ctr" indent="0" marL="0">
              <a:buNone/>
            </a:pPr>
            <a:r>
              <a:rPr lang="en-US" sz="1750" b="1" dirty="0">
                <a:solidFill>
                  <a:srgbClr val="0B1328"/>
                </a:solidFill>
                <a:latin typeface="Aptos" pitchFamily="34" charset="0"/>
                <a:ea typeface="Aptos" pitchFamily="34" charset="-122"/>
                <a:cs typeface="Aptos" pitchFamily="34" charset="-120"/>
              </a:rPr>
              <a:t>AI CAN HELP ME LEARN  →</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PRIVATE TRAINER SUPPORT</a:t>
            </a:r>
            <a:endParaRPr lang="en-US" sz="1080" dirty="0"/>
          </a:p>
        </p:txBody>
      </p:sp>
      <p:sp>
        <p:nvSpPr>
          <p:cNvPr id="5" name="Text 3"/>
          <p:cNvSpPr/>
          <p:nvPr/>
        </p:nvSpPr>
        <p:spPr>
          <a:xfrm>
            <a:off x="640080" y="987552"/>
            <a:ext cx="10881360" cy="749808"/>
          </a:xfrm>
          <a:prstGeom prst="rect">
            <a:avLst/>
          </a:prstGeom>
          <a:noFill/>
          <a:ln/>
        </p:spPr>
        <p:txBody>
          <a:bodyPr wrap="square" lIns="0" tIns="0" rIns="0" bIns="0" rtlCol="0" anchor="ctr">
            <a:normAutofit/>
          </a:bodyPr>
          <a:lstStyle/>
          <a:p>
            <a:pPr indent="0" marL="0">
              <a:buNone/>
            </a:pPr>
            <a:r>
              <a:rPr lang="en-US" sz="3300" b="1" dirty="0">
                <a:solidFill>
                  <a:srgbClr val="111B33"/>
                </a:solidFill>
                <a:latin typeface="Aptos" pitchFamily="34" charset="0"/>
                <a:ea typeface="Aptos" pitchFamily="34" charset="-122"/>
                <a:cs typeface="Aptos" pitchFamily="34" charset="-120"/>
              </a:rPr>
              <a:t>Before the session</a:t>
            </a:r>
            <a:endParaRPr lang="en-US" sz="3300" dirty="0"/>
          </a:p>
        </p:txBody>
      </p:sp>
      <p:sp>
        <p:nvSpPr>
          <p:cNvPr id="6" name="Text 4"/>
          <p:cNvSpPr/>
          <p:nvPr/>
        </p:nvSpPr>
        <p:spPr>
          <a:xfrm>
            <a:off x="768096" y="1856232"/>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Open your signed-in AI assistant in a clean browser window.</a:t>
            </a:r>
            <a:endParaRPr lang="en-US" sz="1820" dirty="0"/>
          </a:p>
        </p:txBody>
      </p:sp>
      <p:sp>
        <p:nvSpPr>
          <p:cNvPr id="7" name="Text 5"/>
          <p:cNvSpPr/>
          <p:nvPr/>
        </p:nvSpPr>
        <p:spPr>
          <a:xfrm>
            <a:off x="768096" y="2596896"/>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Save the prompt locally and check projector readability.</a:t>
            </a:r>
            <a:endParaRPr lang="en-US" sz="1820" dirty="0"/>
          </a:p>
        </p:txBody>
      </p:sp>
      <p:sp>
        <p:nvSpPr>
          <p:cNvPr id="8" name="Text 6"/>
          <p:cNvSpPr/>
          <p:nvPr/>
        </p:nvSpPr>
        <p:spPr>
          <a:xfrm>
            <a:off x="768096" y="3337560"/>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Keep an offline copy of all slides and sample assets.</a:t>
            </a:r>
            <a:endParaRPr lang="en-US" sz="1820" dirty="0"/>
          </a:p>
        </p:txBody>
      </p:sp>
      <p:sp>
        <p:nvSpPr>
          <p:cNvPr id="9" name="Text 7"/>
          <p:cNvSpPr/>
          <p:nvPr/>
        </p:nvSpPr>
        <p:spPr>
          <a:xfrm>
            <a:off x="768096" y="4078224"/>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Confirm no private chats, notifications or student data are visible.</a:t>
            </a:r>
            <a:endParaRPr lang="en-US" sz="1820" dirty="0"/>
          </a:p>
        </p:txBody>
      </p:sp>
      <p:sp>
        <p:nvSpPr>
          <p:cNvPr id="10" name="Text 8"/>
          <p:cNvSpPr/>
          <p:nvPr/>
        </p:nvSpPr>
        <p:spPr>
          <a:xfrm>
            <a:off x="768096" y="4818888"/>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Use Slide 9 as the no-network alternative to the live response.</a:t>
            </a:r>
            <a:endParaRPr lang="en-US" sz="1820" dirty="0"/>
          </a:p>
        </p:txBody>
      </p:sp>
      <p:sp>
        <p:nvSpPr>
          <p:cNvPr id="11" name="Shape 9"/>
          <p:cNvSpPr/>
          <p:nvPr/>
        </p:nvSpPr>
        <p:spPr>
          <a:xfrm>
            <a:off x="576072" y="6437376"/>
            <a:ext cx="11036808" cy="0"/>
          </a:xfrm>
          <a:prstGeom prst="line">
            <a:avLst/>
          </a:prstGeom>
          <a:noFill/>
          <a:ln w="12700">
            <a:solidFill>
              <a:srgbClr val="E4E9F0"/>
            </a:solidFill>
            <a:prstDash val="solid"/>
          </a:ln>
        </p:spPr>
      </p:sp>
      <p:sp>
        <p:nvSpPr>
          <p:cNvPr id="12" name="Text 10"/>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13" name="Text 11"/>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PRIVATE TRAINER SUPPORT</a:t>
            </a:r>
            <a:endParaRPr lang="en-US" sz="1080" dirty="0"/>
          </a:p>
        </p:txBody>
      </p:sp>
      <p:sp>
        <p:nvSpPr>
          <p:cNvPr id="5" name="Text 3"/>
          <p:cNvSpPr/>
          <p:nvPr/>
        </p:nvSpPr>
        <p:spPr>
          <a:xfrm>
            <a:off x="640080" y="987552"/>
            <a:ext cx="10881360" cy="749808"/>
          </a:xfrm>
          <a:prstGeom prst="rect">
            <a:avLst/>
          </a:prstGeom>
          <a:noFill/>
          <a:ln/>
        </p:spPr>
        <p:txBody>
          <a:bodyPr wrap="square" lIns="0" tIns="0" rIns="0" bIns="0" rtlCol="0" anchor="ctr">
            <a:normAutofit/>
          </a:bodyPr>
          <a:lstStyle/>
          <a:p>
            <a:pPr indent="0" marL="0">
              <a:buNone/>
            </a:pPr>
            <a:r>
              <a:rPr lang="en-US" sz="3300" b="1" dirty="0">
                <a:solidFill>
                  <a:srgbClr val="111B33"/>
                </a:solidFill>
                <a:latin typeface="Aptos" pitchFamily="34" charset="0"/>
                <a:ea typeface="Aptos" pitchFamily="34" charset="-122"/>
                <a:cs typeface="Aptos" pitchFamily="34" charset="-120"/>
              </a:rPr>
              <a:t>Flexible session options</a:t>
            </a:r>
            <a:endParaRPr lang="en-US" sz="3300" dirty="0"/>
          </a:p>
        </p:txBody>
      </p:sp>
      <p:sp>
        <p:nvSpPr>
          <p:cNvPr id="6" name="Text 4"/>
          <p:cNvSpPr/>
          <p:nvPr/>
        </p:nvSpPr>
        <p:spPr>
          <a:xfrm>
            <a:off x="768096" y="1856232"/>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Compact session: shorten interaction and use prepared example.</a:t>
            </a:r>
            <a:endParaRPr lang="en-US" sz="1820" dirty="0"/>
          </a:p>
        </p:txBody>
      </p:sp>
      <p:sp>
        <p:nvSpPr>
          <p:cNvPr id="7" name="Text 5"/>
          <p:cNvSpPr/>
          <p:nvPr/>
        </p:nvSpPr>
        <p:spPr>
          <a:xfrm>
            <a:off x="768096" y="2596896"/>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Standard session: run one live generation and one review question.</a:t>
            </a:r>
            <a:endParaRPr lang="en-US" sz="1820" dirty="0"/>
          </a:p>
        </p:txBody>
      </p:sp>
      <p:sp>
        <p:nvSpPr>
          <p:cNvPr id="8" name="Text 6"/>
          <p:cNvSpPr/>
          <p:nvPr/>
        </p:nvSpPr>
        <p:spPr>
          <a:xfrm>
            <a:off x="768096" y="3337560"/>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Extended session: invite a second prompt refinement.</a:t>
            </a:r>
            <a:endParaRPr lang="en-US" sz="1820" dirty="0"/>
          </a:p>
        </p:txBody>
      </p:sp>
      <p:sp>
        <p:nvSpPr>
          <p:cNvPr id="9" name="Text 7"/>
          <p:cNvSpPr/>
          <p:nvPr/>
        </p:nvSpPr>
        <p:spPr>
          <a:xfrm>
            <a:off x="768096" y="4078224"/>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Module 4 can use the ready-made application if the event runs short.</a:t>
            </a:r>
            <a:endParaRPr lang="en-US" sz="1820" dirty="0"/>
          </a:p>
        </p:txBody>
      </p:sp>
      <p:sp>
        <p:nvSpPr>
          <p:cNvPr id="10" name="Text 8"/>
          <p:cNvSpPr/>
          <p:nvPr/>
        </p:nvSpPr>
        <p:spPr>
          <a:xfrm>
            <a:off x="768096" y="4818888"/>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Keep the concluding quiz and feedback even if earlier sections expand.</a:t>
            </a:r>
            <a:endParaRPr lang="en-US" sz="1820" dirty="0"/>
          </a:p>
        </p:txBody>
      </p:sp>
      <p:sp>
        <p:nvSpPr>
          <p:cNvPr id="11" name="Shape 9"/>
          <p:cNvSpPr/>
          <p:nvPr/>
        </p:nvSpPr>
        <p:spPr>
          <a:xfrm>
            <a:off x="576072" y="6437376"/>
            <a:ext cx="11036808" cy="0"/>
          </a:xfrm>
          <a:prstGeom prst="line">
            <a:avLst/>
          </a:prstGeom>
          <a:noFill/>
          <a:ln w="12700">
            <a:solidFill>
              <a:srgbClr val="E4E9F0"/>
            </a:solidFill>
            <a:prstDash val="solid"/>
          </a:ln>
        </p:spPr>
      </p:sp>
      <p:sp>
        <p:nvSpPr>
          <p:cNvPr id="12" name="Text 10"/>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13" name="Text 11"/>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gd name="adj" fmla="val 1333"/>
            </a:avLst>
          </a:prstGeom>
          <a:solidFill>
            <a:srgbClr val="F6F8FC"/>
          </a:solidFill>
          <a:ln w="12700">
            <a:solidFill>
              <a:srgbClr val="F6F8FC">
                <a:alpha val="0"/>
              </a:srgbClr>
            </a:solidFill>
            <a:prstDash val="solid"/>
          </a:ln>
        </p:spPr>
      </p:sp>
      <p:sp>
        <p:nvSpPr>
          <p:cNvPr id="3" name="Text 1"/>
          <p:cNvSpPr/>
          <p:nvPr/>
        </p:nvSpPr>
        <p:spPr>
          <a:xfrm>
            <a:off x="566928" y="310896"/>
            <a:ext cx="3474720" cy="310896"/>
          </a:xfrm>
          <a:prstGeom prst="rect">
            <a:avLst/>
          </a:prstGeom>
          <a:noFill/>
          <a:ln/>
        </p:spPr>
        <p:txBody>
          <a:bodyPr wrap="square" lIns="0" tIns="0" rIns="0" bIns="0" rtlCol="0" anchor="ctr">
            <a:normAutofit/>
          </a:bodyPr>
          <a:lstStyle/>
          <a:p>
            <a:pPr indent="0" marL="0">
              <a:buNone/>
            </a:pPr>
            <a:r>
              <a:rPr lang="en-US" sz="1250" b="1" spc="170" kern="0" dirty="0">
                <a:solidFill>
                  <a:srgbClr val="111B33"/>
                </a:solidFill>
                <a:latin typeface="Aptos" pitchFamily="34" charset="0"/>
                <a:ea typeface="Aptos" pitchFamily="34" charset="-122"/>
                <a:cs typeface="Aptos" pitchFamily="34" charset="-120"/>
              </a:rPr>
              <a:t>✦  AI IN ACTION</a:t>
            </a:r>
            <a:endParaRPr lang="en-US" sz="1250" dirty="0"/>
          </a:p>
        </p:txBody>
      </p:sp>
      <p:sp>
        <p:nvSpPr>
          <p:cNvPr id="4" name="Text 2"/>
          <p:cNvSpPr/>
          <p:nvPr/>
        </p:nvSpPr>
        <p:spPr>
          <a:xfrm>
            <a:off x="7680960" y="310896"/>
            <a:ext cx="3977640" cy="310896"/>
          </a:xfrm>
          <a:prstGeom prst="rect">
            <a:avLst/>
          </a:prstGeom>
          <a:noFill/>
          <a:ln/>
        </p:spPr>
        <p:txBody>
          <a:bodyPr wrap="square" lIns="0" tIns="0" rIns="0" bIns="0" rtlCol="0" anchor="ctr">
            <a:normAutofit/>
          </a:bodyPr>
          <a:lstStyle/>
          <a:p>
            <a:pPr algn="r" indent="0" marL="0">
              <a:buNone/>
            </a:pPr>
            <a:r>
              <a:rPr lang="en-US" sz="1080" b="1" spc="130" kern="0" dirty="0">
                <a:solidFill>
                  <a:srgbClr val="5C6981"/>
                </a:solidFill>
                <a:latin typeface="Aptos" pitchFamily="34" charset="0"/>
                <a:ea typeface="Aptos" pitchFamily="34" charset="-122"/>
                <a:cs typeface="Aptos" pitchFamily="34" charset="-120"/>
              </a:rPr>
              <a:t>PRIVATE TRAINER SUPPORT</a:t>
            </a:r>
            <a:endParaRPr lang="en-US" sz="1080" dirty="0"/>
          </a:p>
        </p:txBody>
      </p:sp>
      <p:sp>
        <p:nvSpPr>
          <p:cNvPr id="5" name="Text 3"/>
          <p:cNvSpPr/>
          <p:nvPr/>
        </p:nvSpPr>
        <p:spPr>
          <a:xfrm>
            <a:off x="640080" y="987552"/>
            <a:ext cx="10881360" cy="749808"/>
          </a:xfrm>
          <a:prstGeom prst="rect">
            <a:avLst/>
          </a:prstGeom>
          <a:noFill/>
          <a:ln/>
        </p:spPr>
        <p:txBody>
          <a:bodyPr wrap="square" lIns="0" tIns="0" rIns="0" bIns="0" rtlCol="0" anchor="ctr">
            <a:normAutofit/>
          </a:bodyPr>
          <a:lstStyle/>
          <a:p>
            <a:pPr indent="0" marL="0">
              <a:buNone/>
            </a:pPr>
            <a:r>
              <a:rPr lang="en-US" sz="3300" b="1" dirty="0">
                <a:solidFill>
                  <a:srgbClr val="111B33"/>
                </a:solidFill>
                <a:latin typeface="Aptos" pitchFamily="34" charset="0"/>
                <a:ea typeface="Aptos" pitchFamily="34" charset="-122"/>
                <a:cs typeface="Aptos" pitchFamily="34" charset="-120"/>
              </a:rPr>
              <a:t>Reference links (official)</a:t>
            </a:r>
            <a:endParaRPr lang="en-US" sz="3300" dirty="0"/>
          </a:p>
        </p:txBody>
      </p:sp>
      <p:sp>
        <p:nvSpPr>
          <p:cNvPr id="6" name="Text 4"/>
          <p:cNvSpPr/>
          <p:nvPr/>
        </p:nvSpPr>
        <p:spPr>
          <a:xfrm>
            <a:off x="768096" y="1856232"/>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Google ML introduction: developers.google.com/machine-learning/intro-to-ml</a:t>
            </a:r>
            <a:endParaRPr lang="en-US" sz="1820" dirty="0"/>
          </a:p>
        </p:txBody>
      </p:sp>
      <p:sp>
        <p:nvSpPr>
          <p:cNvPr id="7" name="Text 5"/>
          <p:cNvSpPr/>
          <p:nvPr/>
        </p:nvSpPr>
        <p:spPr>
          <a:xfrm>
            <a:off x="768096" y="2596896"/>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Google ML crash course: developers.google.com/machine-learning/crash-course/</a:t>
            </a:r>
            <a:endParaRPr lang="en-US" sz="1820" dirty="0"/>
          </a:p>
        </p:txBody>
      </p:sp>
      <p:sp>
        <p:nvSpPr>
          <p:cNvPr id="8" name="Text 6"/>
          <p:cNvSpPr/>
          <p:nvPr/>
        </p:nvSpPr>
        <p:spPr>
          <a:xfrm>
            <a:off x="768096" y="3337560"/>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Google Maps AI: blog.google/products-and-platforms/products/maps/...</a:t>
            </a:r>
            <a:endParaRPr lang="en-US" sz="1820" dirty="0"/>
          </a:p>
        </p:txBody>
      </p:sp>
      <p:sp>
        <p:nvSpPr>
          <p:cNvPr id="9" name="Text 7"/>
          <p:cNvSpPr/>
          <p:nvPr/>
        </p:nvSpPr>
        <p:spPr>
          <a:xfrm>
            <a:off x="768096" y="4078224"/>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Prompting guidance: help.openai.com/en/articles/10032626</a:t>
            </a:r>
            <a:endParaRPr lang="en-US" sz="1820" dirty="0"/>
          </a:p>
        </p:txBody>
      </p:sp>
      <p:sp>
        <p:nvSpPr>
          <p:cNvPr id="10" name="Text 8"/>
          <p:cNvSpPr/>
          <p:nvPr/>
        </p:nvSpPr>
        <p:spPr>
          <a:xfrm>
            <a:off x="768096" y="4818888"/>
            <a:ext cx="10698480" cy="576072"/>
          </a:xfrm>
          <a:prstGeom prst="rect">
            <a:avLst/>
          </a:prstGeom>
          <a:noFill/>
          <a:ln/>
        </p:spPr>
        <p:txBody>
          <a:bodyPr wrap="square" lIns="0" tIns="0" rIns="0" bIns="0" rtlCol="0" anchor="ctr">
            <a:normAutofit/>
          </a:bodyPr>
          <a:lstStyle/>
          <a:p>
            <a:pPr indent="0" marL="0">
              <a:buNone/>
            </a:pPr>
            <a:r>
              <a:rPr lang="en-US" sz="1820" dirty="0">
                <a:solidFill>
                  <a:srgbClr val="182338"/>
                </a:solidFill>
                <a:latin typeface="Aptos" pitchFamily="34" charset="0"/>
                <a:ea typeface="Aptos" pitchFamily="34" charset="-122"/>
                <a:cs typeface="Aptos" pitchFamily="34" charset="-120"/>
              </a:rPr>
              <a:t>• Gemini Notebook audio: support.google.com/gemininotebook/answer/16212820</a:t>
            </a:r>
            <a:endParaRPr lang="en-US" sz="1820" dirty="0"/>
          </a:p>
        </p:txBody>
      </p:sp>
      <p:sp>
        <p:nvSpPr>
          <p:cNvPr id="11" name="Shape 9"/>
          <p:cNvSpPr/>
          <p:nvPr/>
        </p:nvSpPr>
        <p:spPr>
          <a:xfrm>
            <a:off x="576072" y="6437376"/>
            <a:ext cx="11036808" cy="0"/>
          </a:xfrm>
          <a:prstGeom prst="line">
            <a:avLst/>
          </a:prstGeom>
          <a:noFill/>
          <a:ln w="12700">
            <a:solidFill>
              <a:srgbClr val="E4E9F0"/>
            </a:solidFill>
            <a:prstDash val="solid"/>
          </a:ln>
        </p:spPr>
      </p:sp>
      <p:sp>
        <p:nvSpPr>
          <p:cNvPr id="12" name="Text 10"/>
          <p:cNvSpPr/>
          <p:nvPr/>
        </p:nvSpPr>
        <p:spPr>
          <a:xfrm>
            <a:off x="594360" y="6519672"/>
            <a:ext cx="4389120" cy="164592"/>
          </a:xfrm>
          <a:prstGeom prst="rect">
            <a:avLst/>
          </a:prstGeom>
          <a:noFill/>
          <a:ln/>
        </p:spPr>
        <p:txBody>
          <a:bodyPr wrap="square" lIns="0" tIns="0" rIns="0" bIns="0" rtlCol="0" anchor="ctr">
            <a:normAutofit/>
          </a:bodyPr>
          <a:lstStyle/>
          <a:p>
            <a:pPr indent="0" marL="0">
              <a:buNone/>
            </a:pPr>
            <a:r>
              <a:rPr lang="en-US" sz="980" b="1" spc="140" kern="0" dirty="0">
                <a:solidFill>
                  <a:srgbClr val="5C6981"/>
                </a:solidFill>
                <a:latin typeface="Aptos" pitchFamily="34" charset="0"/>
                <a:ea typeface="Aptos" pitchFamily="34" charset="-122"/>
                <a:cs typeface="Aptos" pitchFamily="34" charset="-120"/>
              </a:rPr>
              <a:t>LEARN  ·  CREATE  ·  BUILD</a:t>
            </a:r>
            <a:endParaRPr lang="en-US" sz="980" dirty="0"/>
          </a:p>
        </p:txBody>
      </p:sp>
      <p:sp>
        <p:nvSpPr>
          <p:cNvPr id="13" name="Text 11"/>
          <p:cNvSpPr/>
          <p:nvPr/>
        </p:nvSpPr>
        <p:spPr>
          <a:xfrm>
            <a:off x="11000232" y="6483096"/>
            <a:ext cx="566928" cy="237744"/>
          </a:xfrm>
          <a:prstGeom prst="rect">
            <a:avLst/>
          </a:prstGeom>
          <a:noFill/>
          <a:ln/>
        </p:spPr>
        <p:txBody>
          <a:bodyPr wrap="square" lIns="0" tIns="0" rIns="0" bIns="0" rtlCol="0" anchor="ctr">
            <a:normAutofit/>
          </a:bodyPr>
          <a:lstStyle/>
          <a:p>
            <a:pPr algn="r" indent="0" marL="0">
              <a:buNone/>
            </a:pPr>
            <a:r>
              <a:rPr lang="en-US" sz="1100" b="1" dirty="0">
                <a:solidFill>
                  <a:srgbClr val="5C6981"/>
                </a:solidFill>
                <a:latin typeface="Aptos" pitchFamily="34" charset="0"/>
                <a:ea typeface="Aptos" pitchFamily="34" charset="-122"/>
                <a:cs typeface="Aptos" pitchFamily="34" charset="-120"/>
              </a:rPr>
              <a:t>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Training programme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Action — Module 1: Discover the Power of AI</dc:title>
  <dc:subject>Introduction to Artificial Intelligence — modular and reusable teaching material</dc:subject>
  <dc:creator>AI in Action — Educational Training</dc:creator>
  <cp:lastModifiedBy>AI in Action — Educational Training</cp:lastModifiedBy>
  <cp:revision>1</cp:revision>
  <dcterms:created xsi:type="dcterms:W3CDTF">2026-10-21T06:03:49Z</dcterms:created>
  <dcterms:modified xsi:type="dcterms:W3CDTF">2026-10-21T06:03:49Z</dcterms:modified>
</cp:coreProperties>
</file>