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>
              <a:alpha val="68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086600" cy="6858000"/>
          </a:xfrm>
          <a:prstGeom prst="rect">
            <a:avLst/>
          </a:prstGeom>
          <a:solidFill>
            <a:srgbClr val="0B1328">
              <a:alpha val="82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7512" y="4480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1444752"/>
            <a:ext cx="9052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the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of AI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04088" y="3685032"/>
            <a:ext cx="768096" cy="73152"/>
          </a:xfrm>
          <a:prstGeom prst="rect">
            <a:avLst>
              <a:gd name="adj" fmla="val 125000"/>
            </a:avLst>
          </a:prstGeom>
          <a:solidFill>
            <a:srgbClr val="20DDC3"/>
          </a:solidFill>
          <a:ln w="12700">
            <a:solidFill>
              <a:srgbClr val="20DDC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4059936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DDE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in Everyday Life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04088" y="495604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•  Create  •  Build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13232" y="6291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spc="170" kern="0" dirty="0">
                <a:solidFill>
                  <a:srgbClr val="C8D9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 •  QUESTION  •  IMAGINE</a:t>
            </a:r>
            <a:endParaRPr lang="en-US" sz="12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p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B1328">
              <a:alpha val="91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760720" y="0"/>
            <a:ext cx="1920240" cy="6858000"/>
          </a:xfrm>
          <a:prstGeom prst="rect">
            <a:avLst/>
          </a:prstGeom>
          <a:solidFill>
            <a:srgbClr val="0B1328">
              <a:alpha val="32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C7D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CURIOSITY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612648" y="1307592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Have you already</a:t>
            </a:r>
            <a:endParaRPr lang="en-US" sz="3950" dirty="0"/>
          </a:p>
          <a:p>
            <a:pPr indent="0" marL="0">
              <a:buNone/>
            </a:pPr>
            <a:r>
              <a:rPr lang="en-US" sz="3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used AI today?</a:t>
            </a:r>
            <a:endParaRPr lang="en-US" sz="3950" dirty="0"/>
          </a:p>
        </p:txBody>
      </p:sp>
      <p:sp>
        <p:nvSpPr>
          <p:cNvPr id="8" name="Text 5"/>
          <p:cNvSpPr/>
          <p:nvPr/>
        </p:nvSpPr>
        <p:spPr>
          <a:xfrm>
            <a:off x="640080" y="29809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9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Perhaps without even noticing it?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58368" y="4151376"/>
            <a:ext cx="1280160" cy="429768"/>
          </a:xfrm>
          <a:prstGeom prst="roundRect">
            <a:avLst>
              <a:gd name="adj" fmla="val 21277"/>
            </a:avLst>
          </a:prstGeom>
          <a:solidFill>
            <a:srgbClr val="20DDC3"/>
          </a:solidFill>
          <a:ln w="12700">
            <a:solidFill>
              <a:srgbClr val="20DDC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42062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084832" y="4151376"/>
            <a:ext cx="1600200" cy="429768"/>
          </a:xfrm>
          <a:prstGeom prst="roundRect">
            <a:avLst>
              <a:gd name="adj" fmla="val 21277"/>
            </a:avLst>
          </a:prstGeom>
          <a:solidFill>
            <a:srgbClr val="F5E4BD"/>
          </a:solidFill>
          <a:ln w="12700">
            <a:solidFill>
              <a:srgbClr val="F5E4B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6272" y="420624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MAYBE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822192" y="4151376"/>
            <a:ext cx="1975104" cy="429768"/>
          </a:xfrm>
          <a:prstGeom prst="roundRect">
            <a:avLst>
              <a:gd name="adj" fmla="val 21277"/>
            </a:avLst>
          </a:prstGeom>
          <a:solidFill>
            <a:srgbClr val="D1DFFA"/>
          </a:solidFill>
          <a:ln w="12700">
            <a:solidFill>
              <a:srgbClr val="D1DF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3632" y="4206240"/>
            <a:ext cx="1792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7512" y="512978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D5E1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wrong starting point.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EVERYDAY INTELLIGENCE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3504" y="859536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already around us</a:t>
            </a:r>
            <a:endParaRPr lang="en-US" sz="3400" dirty="0"/>
          </a:p>
        </p:txBody>
      </p:sp>
      <p:pic>
        <p:nvPicPr>
          <p:cNvPr id="6" name="Image 0" descr="/mnt/data/AI_in_Action_Module_1/visuals/every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73352"/>
            <a:ext cx="10991088" cy="2706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4562856"/>
            <a:ext cx="3557016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864608"/>
            <a:ext cx="566928" cy="566928"/>
          </a:xfrm>
          <a:prstGeom prst="ellipse">
            <a:avLst/>
          </a:prstGeom>
          <a:solidFill>
            <a:srgbClr val="DDFFF8"/>
          </a:solidFill>
          <a:ln w="12700">
            <a:solidFill>
              <a:srgbClr val="DDFFF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49377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36192" y="4745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36192" y="51023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content you may like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334256" y="4562856"/>
            <a:ext cx="3557016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5424" y="4864608"/>
            <a:ext cx="566928" cy="566928"/>
          </a:xfrm>
          <a:prstGeom prst="ellipse">
            <a:avLst/>
          </a:prstGeom>
          <a:solidFill>
            <a:srgbClr val="ECF5FF"/>
          </a:solidFill>
          <a:ln w="12700">
            <a:solidFill>
              <a:srgbClr val="ECF5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49377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66944" y="4745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266944" y="51023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journeys and traffic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065008" y="4562856"/>
            <a:ext cx="3557016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66176" y="4864608"/>
            <a:ext cx="566928" cy="566928"/>
          </a:xfrm>
          <a:prstGeom prst="ellipse">
            <a:avLst/>
          </a:prstGeom>
          <a:solidFill>
            <a:srgbClr val="EFEAFF"/>
          </a:solidFill>
          <a:ln w="12700">
            <a:solidFill>
              <a:srgbClr val="EFEA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493776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97696" y="47457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8997696" y="51023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across languages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640080" y="5989320"/>
            <a:ext cx="10927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predictions are not guaranteed predictions.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6072" y="6437376"/>
            <a:ext cx="11036808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VS ARTIFICIAL INTELLIGENCE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4360" y="905256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does not always mean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3504" y="165506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systems can be useful for very different reasons.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" y="2331720"/>
            <a:ext cx="540410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63056" y="2331720"/>
            <a:ext cx="5404104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79192"/>
            <a:ext cx="749808" cy="749808"/>
          </a:xfrm>
          <a:prstGeom prst="ellipse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34056"/>
            <a:ext cx="749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4A8B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3500" dirty="0"/>
          </a:p>
        </p:txBody>
      </p:sp>
      <p:sp>
        <p:nvSpPr>
          <p:cNvPr id="11" name="Shape 9"/>
          <p:cNvSpPr/>
          <p:nvPr/>
        </p:nvSpPr>
        <p:spPr>
          <a:xfrm>
            <a:off x="6547104" y="2679192"/>
            <a:ext cx="749808" cy="749808"/>
          </a:xfrm>
          <a:prstGeom prst="ellipse">
            <a:avLst/>
          </a:prstGeom>
          <a:solidFill>
            <a:srgbClr val="DDFFF8"/>
          </a:solidFill>
          <a:ln w="12700">
            <a:solidFill>
              <a:srgbClr val="DDFFF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2770632"/>
            <a:ext cx="749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148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65960" y="2660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INSTRUCTIONS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16368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PATTERNS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14984" y="3721608"/>
            <a:ext cx="4297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× 17 = 391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693408" y="3712464"/>
            <a:ext cx="4334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message likely spam?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87552" y="4617720"/>
            <a:ext cx="4608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calculator follows arithmetic rules.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10528" y="4617720"/>
            <a:ext cx="48097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learns from examples to classify.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94360" y="591616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thought: not every automated feature needs AI.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76072" y="6437376"/>
            <a:ext cx="11036808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ESSENTIAL IDEAS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4360" y="905256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• Machine Learning • Generative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3504" y="165506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ideas, each with a different emphasis.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" y="2130552"/>
            <a:ext cx="3529584" cy="3273552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2276856"/>
            <a:ext cx="3236976" cy="850392"/>
          </a:xfrm>
          <a:prstGeom prst="roundRect">
            <a:avLst>
              <a:gd name="adj" fmla="val 10753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04872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BROAD FIELD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932688" y="3867912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Computers tackling tasks associated with intelligence.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88289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4A8B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 • Recommend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4334256" y="2130552"/>
            <a:ext cx="3529584" cy="3273552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276856"/>
            <a:ext cx="3236976" cy="850392"/>
          </a:xfrm>
          <a:prstGeom prst="roundRect">
            <a:avLst>
              <a:gd name="adj" fmla="val 10753"/>
            </a:avLst>
          </a:prstGeom>
          <a:solidFill>
            <a:srgbClr val="E6F9F5"/>
          </a:solidFill>
          <a:ln w="12700">
            <a:solidFill>
              <a:srgbClr val="E6F9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404872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4553712" y="335584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PATTERNS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4645152" y="3867912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learn useful patterns from data or examples.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8576" y="488289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148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• Predict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8046720" y="2130552"/>
            <a:ext cx="3529584" cy="3273552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276856"/>
            <a:ext cx="3236976" cy="850392"/>
          </a:xfrm>
          <a:prstGeom prst="roundRect">
            <a:avLst>
              <a:gd name="adj" fmla="val 10753"/>
            </a:avLst>
          </a:prstGeom>
          <a:solidFill>
            <a:srgbClr val="F2EDFF"/>
          </a:solidFill>
          <a:ln w="12700">
            <a:solidFill>
              <a:srgbClr val="F2ED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2404872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 AI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8266176" y="335584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CONTENT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8357616" y="3867912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generate text, images, audio, video or code.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488289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9F85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• Draw • Build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1014984" y="5669280"/>
            <a:ext cx="10177272" cy="530352"/>
          </a:xfrm>
          <a:prstGeom prst="roundRect">
            <a:avLst>
              <a:gd name="adj" fmla="val 17241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572414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umbrella   •   ML is an approach within AI   •   Modern generative AI commonly uses ML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576072" y="6437376"/>
            <a:ext cx="11036808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1225296"/>
          </a:xfrm>
          <a:prstGeom prst="rect">
            <a:avLst/>
          </a:prstGeom>
          <a:solidFill>
            <a:srgbClr val="0B1328">
              <a:alpha val="85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791456"/>
            <a:ext cx="12192000" cy="2066544"/>
          </a:xfrm>
          <a:prstGeom prst="rect">
            <a:avLst/>
          </a:prstGeom>
          <a:solidFill>
            <a:srgbClr val="0B1328">
              <a:alpha val="89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3504" y="3108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60" kern="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ME...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3504" y="76809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•  CREATE  •  BUILD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94360" y="4956048"/>
            <a:ext cx="3575304" cy="1197864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5166360"/>
            <a:ext cx="484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📚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289304" y="507492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680" dirty="0"/>
          </a:p>
        </p:txBody>
      </p:sp>
      <p:sp>
        <p:nvSpPr>
          <p:cNvPr id="10" name="Text 7"/>
          <p:cNvSpPr/>
          <p:nvPr/>
        </p:nvSpPr>
        <p:spPr>
          <a:xfrm>
            <a:off x="1298448" y="5440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information into understanding</a:t>
            </a:r>
            <a:endParaRPr lang="en-US" sz="1310" dirty="0"/>
          </a:p>
        </p:txBody>
      </p:sp>
      <p:sp>
        <p:nvSpPr>
          <p:cNvPr id="11" name="Shape 8"/>
          <p:cNvSpPr/>
          <p:nvPr/>
        </p:nvSpPr>
        <p:spPr>
          <a:xfrm>
            <a:off x="4416552" y="4956048"/>
            <a:ext cx="3575304" cy="1197864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81144" y="5166360"/>
            <a:ext cx="484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🎬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111496" y="507492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5120640" y="5440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ideas into videos and media</a:t>
            </a:r>
            <a:endParaRPr lang="en-US" sz="1310" dirty="0"/>
          </a:p>
        </p:txBody>
      </p:sp>
      <p:sp>
        <p:nvSpPr>
          <p:cNvPr id="15" name="Shape 12"/>
          <p:cNvSpPr/>
          <p:nvPr/>
        </p:nvSpPr>
        <p:spPr>
          <a:xfrm>
            <a:off x="8238744" y="4956048"/>
            <a:ext cx="3575304" cy="1197864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03336" y="5166360"/>
            <a:ext cx="484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8933688" y="507492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8942832" y="544068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solutions into useful applications</a:t>
            </a:r>
            <a:endParaRPr lang="en-US" sz="1310" dirty="0"/>
          </a:p>
        </p:txBody>
      </p:sp>
      <p:sp>
        <p:nvSpPr>
          <p:cNvPr id="19" name="Text 16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REQUESTS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4360" y="905256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clearly. Get a better starting point.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3504" y="165506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prompt makes your goal easier to understand.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" y="2313432"/>
            <a:ext cx="3566160" cy="987552"/>
          </a:xfrm>
          <a:prstGeom prst="roundRect">
            <a:avLst>
              <a:gd name="adj" fmla="val 925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0664" y="27889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it for?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471416" y="2313432"/>
            <a:ext cx="3566160" cy="987552"/>
          </a:xfrm>
          <a:prstGeom prst="roundRect">
            <a:avLst>
              <a:gd name="adj" fmla="val 9259"/>
            </a:avLst>
          </a:prstGeom>
          <a:solidFill>
            <a:srgbClr val="E3F8F5"/>
          </a:solidFill>
          <a:ln w="12700">
            <a:solidFill>
              <a:srgbClr val="E3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81144" y="27889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it do?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8311896" y="2313432"/>
            <a:ext cx="3566160" cy="987552"/>
          </a:xfrm>
          <a:prstGeom prst="roundRect">
            <a:avLst>
              <a:gd name="adj" fmla="val 9259"/>
            </a:avLst>
          </a:prstGeom>
          <a:solidFill>
            <a:srgbClr val="F2EAFF"/>
          </a:solidFill>
          <a:ln w="12700">
            <a:solidFill>
              <a:srgbClr val="F2E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21624" y="27889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answer look like?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58368" y="3657600"/>
            <a:ext cx="3749040" cy="1453896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3657600"/>
            <a:ext cx="6922008" cy="1453896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67912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B94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REQUEST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914400" y="4334256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algorithms.”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4864608" y="3867912"/>
            <a:ext cx="6309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8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REQUEST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4864608" y="4288536"/>
            <a:ext cx="6245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an algorithm to a beginner using four steps for planning a day trip.”</a:t>
            </a:r>
            <a:endParaRPr lang="en-US" sz="1940" dirty="0"/>
          </a:p>
        </p:txBody>
      </p:sp>
      <p:sp>
        <p:nvSpPr>
          <p:cNvPr id="22" name="Text 20"/>
          <p:cNvSpPr/>
          <p:nvPr/>
        </p:nvSpPr>
        <p:spPr>
          <a:xfrm>
            <a:off x="731520" y="5687568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prompts help. They do not guarantee correct answers.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76072" y="6437376"/>
            <a:ext cx="11036808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de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8">
              <a:alpha val="35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0B1328">
              <a:alpha val="96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C7D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AI EXPERIMENT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585216" y="120700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it: Explain an algorithm</a:t>
            </a:r>
            <a:endParaRPr lang="en-US" sz="3250" dirty="0"/>
          </a:p>
          <a:p>
            <a:pPr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day trip</a:t>
            </a:r>
            <a:endParaRPr lang="en-US" sz="3250" dirty="0"/>
          </a:p>
        </p:txBody>
      </p:sp>
      <p:sp>
        <p:nvSpPr>
          <p:cNvPr id="8" name="Shape 5"/>
          <p:cNvSpPr/>
          <p:nvPr/>
        </p:nvSpPr>
        <p:spPr>
          <a:xfrm>
            <a:off x="658368" y="2743200"/>
            <a:ext cx="6693408" cy="2231136"/>
          </a:xfrm>
          <a:prstGeom prst="roundRect">
            <a:avLst>
              <a:gd name="adj" fmla="val 4098"/>
            </a:avLst>
          </a:prstGeom>
          <a:solidFill>
            <a:srgbClr val="172743"/>
          </a:solidFill>
          <a:ln w="12700">
            <a:solidFill>
              <a:srgbClr val="415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29809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spc="150" kern="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950976" y="3502152"/>
            <a:ext cx="60807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an algorithm to a beginner with four steps for planning a one-day trip. Add a simple definition and one question to check understanding. No code; under 100 words.”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94944" y="5532120"/>
            <a:ext cx="65562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a useful answer contain?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333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THINKING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94360" y="905256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Read. Review. Improve.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3504" y="165506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 is a starting point—not the final word.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" y="2084832"/>
            <a:ext cx="6446520" cy="3621024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40864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spc="70" kern="0" dirty="0">
                <a:solidFill>
                  <a:srgbClr val="4A8B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FOUR-STEP PLAN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987552" y="2834640"/>
            <a:ext cx="457200" cy="457200"/>
          </a:xfrm>
          <a:prstGeom prst="ellipse">
            <a:avLst/>
          </a:prstGeom>
          <a:solidFill>
            <a:srgbClr val="DDFFF8"/>
          </a:solidFill>
          <a:ln w="12700">
            <a:solidFill>
              <a:srgbClr val="DDFF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6207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destination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87552" y="3474720"/>
            <a:ext cx="457200" cy="457200"/>
          </a:xfrm>
          <a:prstGeom prst="ellipse">
            <a:avLst/>
          </a:prstGeom>
          <a:solidFill>
            <a:srgbClr val="D8ECFC"/>
          </a:solidFill>
          <a:ln w="12700">
            <a:solidFill>
              <a:srgbClr val="D8EC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0215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47472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 the necessary items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87552" y="4114800"/>
            <a:ext cx="457200" cy="457200"/>
          </a:xfrm>
          <a:prstGeom prst="ellipse">
            <a:avLst/>
          </a:prstGeom>
          <a:solidFill>
            <a:srgbClr val="DDFFF8"/>
          </a:solidFill>
          <a:ln w="12700">
            <a:solidFill>
              <a:srgbClr val="DDFFF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4223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411480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to the destination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87552" y="4754880"/>
            <a:ext cx="457200" cy="457200"/>
          </a:xfrm>
          <a:prstGeom prst="ellipse">
            <a:avLst/>
          </a:prstGeom>
          <a:solidFill>
            <a:srgbClr val="D8ECFC"/>
          </a:solidFill>
          <a:ln w="12700">
            <a:solidFill>
              <a:srgbClr val="D8EC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782312"/>
            <a:ext cx="4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75488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home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324344" y="2084832"/>
            <a:ext cx="4206240" cy="3621024"/>
          </a:xfrm>
          <a:prstGeom prst="roundRect">
            <a:avLst>
              <a:gd name="adj" fmla="val 2525"/>
            </a:avLst>
          </a:prstGeom>
          <a:solidFill>
            <a:srgbClr val="E7F5F4"/>
          </a:solidFill>
          <a:ln w="12700">
            <a:solidFill>
              <a:srgbClr val="D2E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2423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A8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MISSING?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99248" y="2980944"/>
            <a:ext cx="3264408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Route?</a:t>
            </a:r>
            <a:endParaRPr lang="en-US" sz="2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time?</a:t>
            </a:r>
            <a:endParaRPr lang="en-US" sz="2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Budget?</a:t>
            </a:r>
            <a:endParaRPr lang="en-US" sz="2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hours?</a:t>
            </a:r>
            <a:endParaRPr lang="en-US" sz="2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30" dirty="0">
                <a:solidFill>
                  <a:srgbClr val="18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weather?</a:t>
            </a:r>
            <a:endParaRPr lang="en-US" sz="2030" dirty="0"/>
          </a:p>
        </p:txBody>
      </p:sp>
      <p:sp>
        <p:nvSpPr>
          <p:cNvPr id="24" name="Text 22"/>
          <p:cNvSpPr/>
          <p:nvPr/>
        </p:nvSpPr>
        <p:spPr>
          <a:xfrm>
            <a:off x="685800" y="5934456"/>
            <a:ext cx="10771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sensible answer becomes more useful when we check and refine it.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76072" y="6437376"/>
            <a:ext cx="11036808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responsi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42632" cy="6858000"/>
          </a:xfrm>
          <a:prstGeom prst="rect">
            <a:avLst/>
          </a:prstGeom>
          <a:solidFill>
            <a:srgbClr val="0B1328">
              <a:alpha val="84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0" y="0"/>
            <a:ext cx="1645920" cy="6858000"/>
          </a:xfrm>
          <a:prstGeom prst="rect">
            <a:avLst/>
          </a:prstGeom>
          <a:solidFill>
            <a:srgbClr val="0B1328">
              <a:alpha val="20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C7D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585216" y="1225296"/>
            <a:ext cx="8065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habits for</a:t>
            </a:r>
            <a:endParaRPr lang="en-US" sz="3470" dirty="0"/>
          </a:p>
          <a:p>
            <a:pPr indent="0" marL="0">
              <a:buNone/>
            </a:pPr>
            <a:r>
              <a:rPr lang="en-US" sz="34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well with AI</a:t>
            </a:r>
            <a:endParaRPr lang="en-US" sz="347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576072" cy="576072"/>
          </a:xfrm>
          <a:prstGeom prst="ellipse">
            <a:avLst/>
          </a:prstGeom>
          <a:solidFill>
            <a:srgbClr val="20DDC3"/>
          </a:solidFill>
          <a:ln w="12700">
            <a:solidFill>
              <a:srgbClr val="20DDC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798064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40" dirty="0"/>
          </a:p>
        </p:txBody>
      </p:sp>
      <p:sp>
        <p:nvSpPr>
          <p:cNvPr id="10" name="Text 7"/>
          <p:cNvSpPr/>
          <p:nvPr/>
        </p:nvSpPr>
        <p:spPr>
          <a:xfrm>
            <a:off x="1472184" y="2715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490472" y="3118104"/>
            <a:ext cx="5916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E8F4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important facts and test results.</a:t>
            </a:r>
            <a:endParaRPr lang="en-US" sz="1570" dirty="0"/>
          </a:p>
        </p:txBody>
      </p:sp>
      <p:sp>
        <p:nvSpPr>
          <p:cNvPr id="12" name="Shape 9"/>
          <p:cNvSpPr/>
          <p:nvPr/>
        </p:nvSpPr>
        <p:spPr>
          <a:xfrm>
            <a:off x="713232" y="3703320"/>
            <a:ext cx="576072" cy="576072"/>
          </a:xfrm>
          <a:prstGeom prst="ellipse">
            <a:avLst/>
          </a:prstGeom>
          <a:solidFill>
            <a:srgbClr val="FFC977"/>
          </a:solidFill>
          <a:ln w="12700">
            <a:solidFill>
              <a:srgbClr val="FFC97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758184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◇</a:t>
            </a:r>
            <a:endParaRPr lang="en-US" sz="2340" dirty="0"/>
          </a:p>
        </p:txBody>
      </p:sp>
      <p:sp>
        <p:nvSpPr>
          <p:cNvPr id="14" name="Text 11"/>
          <p:cNvSpPr/>
          <p:nvPr/>
        </p:nvSpPr>
        <p:spPr>
          <a:xfrm>
            <a:off x="1472184" y="3675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90472" y="4078224"/>
            <a:ext cx="5916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E8F4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sensitive and confidential data safe.</a:t>
            </a:r>
            <a:endParaRPr lang="en-US" sz="1570" dirty="0"/>
          </a:p>
        </p:txBody>
      </p:sp>
      <p:sp>
        <p:nvSpPr>
          <p:cNvPr id="16" name="Shape 13"/>
          <p:cNvSpPr/>
          <p:nvPr/>
        </p:nvSpPr>
        <p:spPr>
          <a:xfrm>
            <a:off x="713232" y="4663440"/>
            <a:ext cx="576072" cy="576072"/>
          </a:xfrm>
          <a:prstGeom prst="ellipse">
            <a:avLst/>
          </a:prstGeom>
          <a:solidFill>
            <a:srgbClr val="9F85FC"/>
          </a:solidFill>
          <a:ln w="12700">
            <a:solidFill>
              <a:srgbClr val="9F85F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718304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1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340" dirty="0"/>
          </a:p>
        </p:txBody>
      </p:sp>
      <p:sp>
        <p:nvSpPr>
          <p:cNvPr id="18" name="Text 15"/>
          <p:cNvSpPr/>
          <p:nvPr/>
        </p:nvSpPr>
        <p:spPr>
          <a:xfrm>
            <a:off x="1472184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PRACTISE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490472" y="5038344"/>
            <a:ext cx="5916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E8F4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strengthen your own thinking.</a:t>
            </a:r>
            <a:endParaRPr lang="en-US" sz="1570" dirty="0"/>
          </a:p>
        </p:txBody>
      </p:sp>
      <p:sp>
        <p:nvSpPr>
          <p:cNvPr id="20" name="Text 17"/>
          <p:cNvSpPr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spc="140" kern="0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 ·  CREATE  ·  BUILD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11000232" y="6483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0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1/visuals/lear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159752" cy="6858000"/>
          </a:xfrm>
          <a:prstGeom prst="rect">
            <a:avLst/>
          </a:prstGeom>
          <a:solidFill>
            <a:srgbClr val="0B1328">
              <a:alpha val="88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126480" y="0"/>
            <a:ext cx="1828800" cy="6858000"/>
          </a:xfrm>
          <a:prstGeom prst="rect">
            <a:avLst/>
          </a:prstGeom>
          <a:solidFill>
            <a:srgbClr val="0B1328">
              <a:alpha val="22000"/>
            </a:srgbClr>
          </a:solidFill>
          <a:ln w="12700">
            <a:solidFill>
              <a:srgbClr val="0B13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310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  AI IN ACTION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680960" y="310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spc="130" kern="0" dirty="0">
                <a:solidFill>
                  <a:srgbClr val="C7D7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COMING NEXT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594360" y="1307592"/>
            <a:ext cx="85039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your notes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come alive?</a:t>
            </a:r>
            <a:endParaRPr lang="en-US" sz="3700" dirty="0"/>
          </a:p>
        </p:txBody>
      </p:sp>
      <p:sp>
        <p:nvSpPr>
          <p:cNvPr id="8" name="Shape 5"/>
          <p:cNvSpPr/>
          <p:nvPr/>
        </p:nvSpPr>
        <p:spPr>
          <a:xfrm>
            <a:off x="649224" y="3017520"/>
            <a:ext cx="5815584" cy="484632"/>
          </a:xfrm>
          <a:prstGeom prst="roundRect">
            <a:avLst/>
          </a:prstGeom>
          <a:solidFill>
            <a:srgbClr val="172745">
              <a:alpha val="84000"/>
            </a:srgbClr>
          </a:solidFill>
          <a:ln w="12700">
            <a:solidFill>
              <a:srgbClr val="17274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308152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📖</a:t>
            </a:r>
            <a:endParaRPr lang="en-US" sz="1780" dirty="0"/>
          </a:p>
        </p:txBody>
      </p:sp>
      <p:sp>
        <p:nvSpPr>
          <p:cNvPr id="10" name="Text 7"/>
          <p:cNvSpPr/>
          <p:nvPr/>
        </p:nvSpPr>
        <p:spPr>
          <a:xfrm>
            <a:off x="1280160" y="3072384"/>
            <a:ext cx="4901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explanations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49224" y="3584448"/>
            <a:ext cx="5815584" cy="484632"/>
          </a:xfrm>
          <a:prstGeom prst="roundRect">
            <a:avLst/>
          </a:prstGeom>
          <a:solidFill>
            <a:srgbClr val="172745">
              <a:alpha val="84000"/>
            </a:srgbClr>
          </a:solidFill>
          <a:ln w="12700">
            <a:solidFill>
              <a:srgbClr val="17274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3648456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❓</a:t>
            </a:r>
            <a:endParaRPr lang="en-US" sz="1780" dirty="0"/>
          </a:p>
        </p:txBody>
      </p:sp>
      <p:sp>
        <p:nvSpPr>
          <p:cNvPr id="13" name="Text 10"/>
          <p:cNvSpPr/>
          <p:nvPr/>
        </p:nvSpPr>
        <p:spPr>
          <a:xfrm>
            <a:off x="1280160" y="3639312"/>
            <a:ext cx="4901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quizzes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649224" y="4151376"/>
            <a:ext cx="5815584" cy="484632"/>
          </a:xfrm>
          <a:prstGeom prst="roundRect">
            <a:avLst/>
          </a:prstGeom>
          <a:solidFill>
            <a:srgbClr val="172745">
              <a:alpha val="84000"/>
            </a:srgbClr>
          </a:solidFill>
          <a:ln w="12700">
            <a:solidFill>
              <a:srgbClr val="17274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21538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🗺</a:t>
            </a:r>
            <a:endParaRPr lang="en-US" sz="1780" dirty="0"/>
          </a:p>
        </p:txBody>
      </p:sp>
      <p:sp>
        <p:nvSpPr>
          <p:cNvPr id="16" name="Text 13"/>
          <p:cNvSpPr/>
          <p:nvPr/>
        </p:nvSpPr>
        <p:spPr>
          <a:xfrm>
            <a:off x="1280160" y="4206240"/>
            <a:ext cx="4901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mind maps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649224" y="4718304"/>
            <a:ext cx="5815584" cy="484632"/>
          </a:xfrm>
          <a:prstGeom prst="roundRect">
            <a:avLst/>
          </a:prstGeom>
          <a:solidFill>
            <a:srgbClr val="172745">
              <a:alpha val="84000"/>
            </a:srgbClr>
          </a:solidFill>
          <a:ln w="12700">
            <a:solidFill>
              <a:srgbClr val="17274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4782312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20DD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♫</a:t>
            </a:r>
            <a:endParaRPr lang="en-US" sz="1780" dirty="0"/>
          </a:p>
        </p:txBody>
      </p:sp>
      <p:sp>
        <p:nvSpPr>
          <p:cNvPr id="19" name="Text 16"/>
          <p:cNvSpPr/>
          <p:nvPr/>
        </p:nvSpPr>
        <p:spPr>
          <a:xfrm>
            <a:off x="1280160" y="4773168"/>
            <a:ext cx="4901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discussions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630936" y="5779008"/>
            <a:ext cx="5961888" cy="557784"/>
          </a:xfrm>
          <a:prstGeom prst="roundRect">
            <a:avLst>
              <a:gd name="adj" fmla="val 16393"/>
            </a:avLst>
          </a:prstGeom>
          <a:solidFill>
            <a:srgbClr val="20DDC3"/>
          </a:solidFill>
          <a:ln w="12700">
            <a:solidFill>
              <a:srgbClr val="20DDC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79592"/>
            <a:ext cx="5641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LEARN  →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Training programme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Action — Module 1: Discover the Power of AI</dc:title>
  <dc:subject>Introduction to Artificial Intelligence — modular and reusable teaching material</dc:subject>
  <dc:creator>AI in Action — Educational Training</dc:creator>
  <cp:lastModifiedBy>AI in Action — Educational Training</cp:lastModifiedBy>
  <cp:revision>1</cp:revision>
  <dcterms:created xsi:type="dcterms:W3CDTF">2026-10-21T06:03:49Z</dcterms:created>
  <dcterms:modified xsi:type="dcterms:W3CDTF">2026-10-21T06:03:49Z</dcterms:modified>
</cp:coreProperties>
</file>