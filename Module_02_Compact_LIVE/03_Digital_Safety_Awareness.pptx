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B0C2"/>
          </a:solidFill>
          <a:ln w="8890">
            <a:solidFill>
              <a:srgbClr val="2AB0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0"/>
            <a:ext cx="3867912" cy="6858000"/>
          </a:xfrm>
          <a:prstGeom prst="roundRect">
            <a:avLst>
              <a:gd name="adj" fmla="val 16548"/>
            </a:avLst>
          </a:prstGeom>
          <a:solidFill>
            <a:srgbClr val="183C60"/>
          </a:solidFill>
          <a:ln w="8890">
            <a:solidFill>
              <a:srgbClr val="183C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09560" y="640080"/>
            <a:ext cx="59436" cy="59436"/>
          </a:xfrm>
          <a:prstGeom prst="ellipse">
            <a:avLst/>
          </a:prstGeom>
          <a:solidFill>
            <a:srgbClr val="F4B64B"/>
          </a:solidFill>
          <a:ln w="12700">
            <a:solidFill>
              <a:srgbClr val="F4B6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640080"/>
            <a:ext cx="59436" cy="59436"/>
          </a:xfrm>
          <a:prstGeom prst="ellipse">
            <a:avLst/>
          </a:prstGeom>
          <a:solidFill>
            <a:srgbClr val="2AB0C2"/>
          </a:solidFill>
          <a:ln w="12700">
            <a:solidFill>
              <a:srgbClr val="2AB0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0" y="640080"/>
            <a:ext cx="59436" cy="59436"/>
          </a:xfrm>
          <a:prstGeom prst="ellipse">
            <a:avLst/>
          </a:prstGeom>
          <a:solidFill>
            <a:srgbClr val="2AB0C2"/>
          </a:solidFill>
          <a:ln w="12700">
            <a:solidFill>
              <a:srgbClr val="2AB0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640080"/>
            <a:ext cx="59436" cy="59436"/>
          </a:xfrm>
          <a:prstGeom prst="ellipse">
            <a:avLst/>
          </a:prstGeom>
          <a:solidFill>
            <a:srgbClr val="F4B64B"/>
          </a:solidFill>
          <a:ln w="12700">
            <a:solidFill>
              <a:srgbClr val="F4B6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21240" y="640080"/>
            <a:ext cx="59436" cy="59436"/>
          </a:xfrm>
          <a:prstGeom prst="ellipse">
            <a:avLst/>
          </a:prstGeom>
          <a:solidFill>
            <a:srgbClr val="2AB0C2"/>
          </a:solidFill>
          <a:ln w="12700">
            <a:solidFill>
              <a:srgbClr val="2AB0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0" y="640080"/>
            <a:ext cx="59436" cy="59436"/>
          </a:xfrm>
          <a:prstGeom prst="ellipse">
            <a:avLst/>
          </a:prstGeom>
          <a:solidFill>
            <a:srgbClr val="2AB0C2"/>
          </a:solidFill>
          <a:ln w="12700">
            <a:solidFill>
              <a:srgbClr val="2AB0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27080" y="640080"/>
            <a:ext cx="59436" cy="59436"/>
          </a:xfrm>
          <a:prstGeom prst="ellipse">
            <a:avLst/>
          </a:prstGeom>
          <a:solidFill>
            <a:srgbClr val="F4B64B"/>
          </a:solidFill>
          <a:ln w="12700">
            <a:solidFill>
              <a:srgbClr val="F4B6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9560" y="1874520"/>
            <a:ext cx="59436" cy="59436"/>
          </a:xfrm>
          <a:prstGeom prst="ellipse">
            <a:avLst/>
          </a:prstGeom>
          <a:solidFill>
            <a:srgbClr val="2AB0C2"/>
          </a:solidFill>
          <a:ln w="12700">
            <a:solidFill>
              <a:srgbClr val="2AB0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0" y="1874520"/>
            <a:ext cx="59436" cy="59436"/>
          </a:xfrm>
          <a:prstGeom prst="ellipse">
            <a:avLst/>
          </a:prstGeom>
          <a:solidFill>
            <a:srgbClr val="2AB0C2"/>
          </a:solidFill>
          <a:ln w="12700">
            <a:solidFill>
              <a:srgbClr val="2AB0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15400" y="1874520"/>
            <a:ext cx="59436" cy="59436"/>
          </a:xfrm>
          <a:prstGeom prst="ellipse">
            <a:avLst/>
          </a:prstGeom>
          <a:solidFill>
            <a:srgbClr val="F4B64B"/>
          </a:solidFill>
          <a:ln w="12700">
            <a:solidFill>
              <a:srgbClr val="F4B6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0" y="1874520"/>
            <a:ext cx="59436" cy="59436"/>
          </a:xfrm>
          <a:prstGeom prst="ellipse">
            <a:avLst/>
          </a:prstGeom>
          <a:solidFill>
            <a:srgbClr val="2AB0C2"/>
          </a:solidFill>
          <a:ln w="12700">
            <a:solidFill>
              <a:srgbClr val="2AB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21240" y="1874520"/>
            <a:ext cx="59436" cy="59436"/>
          </a:xfrm>
          <a:prstGeom prst="ellipse">
            <a:avLst/>
          </a:prstGeom>
          <a:solidFill>
            <a:srgbClr val="2AB0C2"/>
          </a:solidFill>
          <a:ln w="12700">
            <a:solidFill>
              <a:srgbClr val="2AB0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24160" y="1874520"/>
            <a:ext cx="59436" cy="59436"/>
          </a:xfrm>
          <a:prstGeom prst="ellipse">
            <a:avLst/>
          </a:prstGeom>
          <a:solidFill>
            <a:srgbClr val="F4B64B"/>
          </a:solidFill>
          <a:ln w="12700">
            <a:solidFill>
              <a:srgbClr val="F4B6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27080" y="1874520"/>
            <a:ext cx="59436" cy="59436"/>
          </a:xfrm>
          <a:prstGeom prst="ellipse">
            <a:avLst/>
          </a:prstGeom>
          <a:solidFill>
            <a:srgbClr val="2AB0C2"/>
          </a:solidFill>
          <a:ln w="12700">
            <a:solidFill>
              <a:srgbClr val="2AB0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3108960"/>
            <a:ext cx="59436" cy="59436"/>
          </a:xfrm>
          <a:prstGeom prst="ellipse">
            <a:avLst/>
          </a:prstGeom>
          <a:solidFill>
            <a:srgbClr val="2AB0C2"/>
          </a:solidFill>
          <a:ln w="12700">
            <a:solidFill>
              <a:srgbClr val="2AB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3108960"/>
            <a:ext cx="59436" cy="59436"/>
          </a:xfrm>
          <a:prstGeom prst="ellipse">
            <a:avLst/>
          </a:prstGeom>
          <a:solidFill>
            <a:srgbClr val="F4B64B"/>
          </a:solidFill>
          <a:ln w="12700">
            <a:solidFill>
              <a:srgbClr val="F4B6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15400" y="3108960"/>
            <a:ext cx="59436" cy="59436"/>
          </a:xfrm>
          <a:prstGeom prst="ellipse">
            <a:avLst/>
          </a:prstGeom>
          <a:solidFill>
            <a:srgbClr val="2AB0C2"/>
          </a:solidFill>
          <a:ln w="12700">
            <a:solidFill>
              <a:srgbClr val="2AB0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18320" y="3108960"/>
            <a:ext cx="59436" cy="59436"/>
          </a:xfrm>
          <a:prstGeom prst="ellipse">
            <a:avLst/>
          </a:prstGeom>
          <a:solidFill>
            <a:srgbClr val="2AB0C2"/>
          </a:solidFill>
          <a:ln w="12700">
            <a:solidFill>
              <a:srgbClr val="2AB0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21240" y="3108960"/>
            <a:ext cx="59436" cy="59436"/>
          </a:xfrm>
          <a:prstGeom prst="ellipse">
            <a:avLst/>
          </a:prstGeom>
          <a:solidFill>
            <a:srgbClr val="F4B64B"/>
          </a:solidFill>
          <a:ln w="12700">
            <a:solidFill>
              <a:srgbClr val="F4B6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24160" y="3108960"/>
            <a:ext cx="59436" cy="59436"/>
          </a:xfrm>
          <a:prstGeom prst="ellipse">
            <a:avLst/>
          </a:prstGeom>
          <a:solidFill>
            <a:srgbClr val="2AB0C2"/>
          </a:solidFill>
          <a:ln w="12700">
            <a:solidFill>
              <a:srgbClr val="2AB0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27080" y="3108960"/>
            <a:ext cx="59436" cy="59436"/>
          </a:xfrm>
          <a:prstGeom prst="ellipse">
            <a:avLst/>
          </a:prstGeom>
          <a:solidFill>
            <a:srgbClr val="2AB0C2"/>
          </a:solidFill>
          <a:ln w="12700">
            <a:solidFill>
              <a:srgbClr val="2AB0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9560" y="4343400"/>
            <a:ext cx="59436" cy="59436"/>
          </a:xfrm>
          <a:prstGeom prst="ellipse">
            <a:avLst/>
          </a:prstGeom>
          <a:solidFill>
            <a:srgbClr val="F4B64B"/>
          </a:solidFill>
          <a:ln w="12700">
            <a:solidFill>
              <a:srgbClr val="F4B6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4343400"/>
            <a:ext cx="59436" cy="59436"/>
          </a:xfrm>
          <a:prstGeom prst="ellipse">
            <a:avLst/>
          </a:prstGeom>
          <a:solidFill>
            <a:srgbClr val="2AB0C2"/>
          </a:solidFill>
          <a:ln w="12700">
            <a:solidFill>
              <a:srgbClr val="2AB0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15400" y="4343400"/>
            <a:ext cx="59436" cy="59436"/>
          </a:xfrm>
          <a:prstGeom prst="ellipse">
            <a:avLst/>
          </a:prstGeom>
          <a:solidFill>
            <a:srgbClr val="2AB0C2"/>
          </a:solidFill>
          <a:ln w="12700">
            <a:solidFill>
              <a:srgbClr val="2AB0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18320" y="4343400"/>
            <a:ext cx="59436" cy="59436"/>
          </a:xfrm>
          <a:prstGeom prst="ellipse">
            <a:avLst/>
          </a:prstGeom>
          <a:solidFill>
            <a:srgbClr val="F4B64B"/>
          </a:solidFill>
          <a:ln w="12700">
            <a:solidFill>
              <a:srgbClr val="F4B6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21240" y="4343400"/>
            <a:ext cx="59436" cy="59436"/>
          </a:xfrm>
          <a:prstGeom prst="ellipse">
            <a:avLst/>
          </a:prstGeom>
          <a:solidFill>
            <a:srgbClr val="2AB0C2"/>
          </a:solidFill>
          <a:ln w="12700">
            <a:solidFill>
              <a:srgbClr val="2AB0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24160" y="4343400"/>
            <a:ext cx="59436" cy="59436"/>
          </a:xfrm>
          <a:prstGeom prst="ellipse">
            <a:avLst/>
          </a:prstGeom>
          <a:solidFill>
            <a:srgbClr val="2AB0C2"/>
          </a:solidFill>
          <a:ln w="12700">
            <a:solidFill>
              <a:srgbClr val="2AB0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27080" y="4343400"/>
            <a:ext cx="59436" cy="59436"/>
          </a:xfrm>
          <a:prstGeom prst="ellipse">
            <a:avLst/>
          </a:prstGeom>
          <a:solidFill>
            <a:srgbClr val="F4B64B"/>
          </a:solidFill>
          <a:ln w="12700">
            <a:solidFill>
              <a:srgbClr val="F4B64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1200000">
            <a:off x="8092440" y="1188720"/>
            <a:ext cx="3383280" cy="3474720"/>
          </a:xfrm>
          <a:prstGeom prst="arc">
            <a:avLst/>
          </a:prstGeom>
          <a:solidFill>
            <a:srgbClr val="14273F">
              <a:alpha val="0"/>
            </a:srgbClr>
          </a:solidFill>
          <a:ln w="38100">
            <a:solidFill>
              <a:srgbClr val="2AB0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69680" y="1828800"/>
            <a:ext cx="2240280" cy="2240280"/>
          </a:xfrm>
          <a:prstGeom prst="ellipse">
            <a:avLst/>
          </a:prstGeom>
          <a:solidFill>
            <a:srgbClr val="2B70AE">
              <a:alpha val="44000"/>
            </a:srgbClr>
          </a:solidFill>
          <a:ln w="25400">
            <a:solidFill>
              <a:srgbClr val="2AB0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" y="1600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SMART IN THE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94944" y="22860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5CE1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WORLD</a:t>
            </a:r>
            <a:endParaRPr lang="en-US" sz="4200" dirty="0"/>
          </a:p>
        </p:txBody>
      </p:sp>
      <p:sp>
        <p:nvSpPr>
          <p:cNvPr id="36" name="Text 34"/>
          <p:cNvSpPr/>
          <p:nvPr/>
        </p:nvSpPr>
        <p:spPr>
          <a:xfrm>
            <a:off x="713232" y="33375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Safety Awareness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13232" y="40599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EE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Recognise risk   •   Protect accounts   •   Verify information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13232" y="4992624"/>
            <a:ext cx="2304288" cy="347472"/>
          </a:xfrm>
          <a:prstGeom prst="roundRect">
            <a:avLst>
              <a:gd name="adj" fmla="val 42105"/>
            </a:avLst>
          </a:prstGeom>
          <a:solidFill>
            <a:srgbClr val="158C74"/>
          </a:solidFill>
          <a:ln w="8890">
            <a:solidFill>
              <a:srgbClr val="158C7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5006340"/>
            <a:ext cx="212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PRESENTATION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" y="623620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3C9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Fictional examples  |  General-purpose learning material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B0C2"/>
          </a:solidFill>
          <a:ln w="8890">
            <a:solidFill>
              <a:srgbClr val="2AB0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C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makes a message suspicious?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attention to the request - not just the sender name or visual design.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6510528"/>
            <a:ext cx="11045952" cy="10973"/>
          </a:xfrm>
          <a:prstGeom prst="rect">
            <a:avLst/>
          </a:prstGeom>
          <a:solidFill>
            <a:srgbClr val="DCE9EF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SAFETY  /  LEARN • VERIFY • PROTECT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82528" y="6519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5257800" cy="1170432"/>
          </a:xfrm>
          <a:prstGeom prst="roundRect">
            <a:avLst>
              <a:gd name="adj" fmla="val 14063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920240"/>
            <a:ext cx="64008" cy="1170432"/>
          </a:xfrm>
          <a:prstGeom prst="rect">
            <a:avLst/>
          </a:prstGeom>
          <a:solidFill>
            <a:srgbClr val="D85C5C"/>
          </a:solidFill>
          <a:ln w="8890">
            <a:solidFill>
              <a:srgbClr val="D85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121408"/>
            <a:ext cx="4818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7824" y="263347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immediately or lose access.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920240"/>
            <a:ext cx="5257800" cy="1170432"/>
          </a:xfrm>
          <a:prstGeom prst="roundRect">
            <a:avLst>
              <a:gd name="adj" fmla="val 14063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920240"/>
            <a:ext cx="64008" cy="1170432"/>
          </a:xfrm>
          <a:prstGeom prst="rect">
            <a:avLst/>
          </a:prstGeom>
          <a:solidFill>
            <a:srgbClr val="2B70AE"/>
          </a:solidFill>
          <a:ln w="8890">
            <a:solidFill>
              <a:srgbClr val="2B70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2121408"/>
            <a:ext cx="4818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IMPERSONATION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9944" y="263347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Claims to be a trusted organisation.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264408"/>
            <a:ext cx="5257800" cy="1170432"/>
          </a:xfrm>
          <a:prstGeom prst="roundRect">
            <a:avLst>
              <a:gd name="adj" fmla="val 14063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264408"/>
            <a:ext cx="64008" cy="1170432"/>
          </a:xfrm>
          <a:prstGeom prst="rect">
            <a:avLst/>
          </a:prstGeom>
          <a:solidFill>
            <a:srgbClr val="2B70AE"/>
          </a:solidFill>
          <a:ln w="8890">
            <a:solidFill>
              <a:srgbClr val="2B70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465576"/>
            <a:ext cx="4818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CODES &amp; DATA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7824" y="39776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Asks for passwords, OTPs or identity data.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3264408"/>
            <a:ext cx="5257800" cy="1170432"/>
          </a:xfrm>
          <a:prstGeom prst="roundRect">
            <a:avLst>
              <a:gd name="adj" fmla="val 14063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3264408"/>
            <a:ext cx="64008" cy="1170432"/>
          </a:xfrm>
          <a:prstGeom prst="rect">
            <a:avLst/>
          </a:prstGeom>
          <a:solidFill>
            <a:srgbClr val="2B70AE"/>
          </a:solidFill>
          <a:ln w="8890">
            <a:solidFill>
              <a:srgbClr val="2B70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3465576"/>
            <a:ext cx="4818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UNUSUAL LINK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9944" y="39776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destination does not match expectations.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608576"/>
            <a:ext cx="10881360" cy="1170432"/>
          </a:xfrm>
          <a:prstGeom prst="roundRect">
            <a:avLst>
              <a:gd name="adj" fmla="val 14063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608576"/>
            <a:ext cx="64008" cy="1170432"/>
          </a:xfrm>
          <a:prstGeom prst="rect">
            <a:avLst/>
          </a:prstGeom>
          <a:solidFill>
            <a:srgbClr val="2B70AE"/>
          </a:solidFill>
          <a:ln w="8890">
            <a:solidFill>
              <a:srgbClr val="2B70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4809744"/>
            <a:ext cx="10442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BYPASS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77824" y="532180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Tries to prevent independent checking.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B0C2"/>
          </a:solidFill>
          <a:ln w="8890">
            <a:solidFill>
              <a:srgbClr val="2AB0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C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habits that protect your digital life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repeatable actions reduce exposure to common threats.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6510528"/>
            <a:ext cx="11045952" cy="10973"/>
          </a:xfrm>
          <a:prstGeom prst="rect">
            <a:avLst/>
          </a:prstGeom>
          <a:solidFill>
            <a:srgbClr val="DCE9EF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SAFETY  /  LEARN • VERIFY • PROTECT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82528" y="6519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029968"/>
            <a:ext cx="5257800" cy="1591056"/>
          </a:xfrm>
          <a:prstGeom prst="roundRect">
            <a:avLst>
              <a:gd name="adj" fmla="val 10345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258568"/>
            <a:ext cx="502920" cy="502920"/>
          </a:xfrm>
          <a:prstGeom prst="ellipse">
            <a:avLst/>
          </a:prstGeom>
          <a:solidFill>
            <a:srgbClr val="2B70AE"/>
          </a:solidFill>
          <a:ln w="12700">
            <a:solidFill>
              <a:srgbClr val="2B70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26771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2585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PASSWORDS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27157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strong, unique credentials; consider a password manager.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029968"/>
            <a:ext cx="5257800" cy="1591056"/>
          </a:xfrm>
          <a:prstGeom prst="roundRect">
            <a:avLst>
              <a:gd name="adj" fmla="val 10345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4808" y="2258568"/>
            <a:ext cx="502920" cy="502920"/>
          </a:xfrm>
          <a:prstGeom prst="ellipse">
            <a:avLst/>
          </a:prstGeom>
          <a:solidFill>
            <a:srgbClr val="158C74"/>
          </a:solidFill>
          <a:ln w="12700">
            <a:solidFill>
              <a:srgbClr val="158C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226771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0" y="22585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MULTIFACTOR SIGN-IN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27157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on MFA or passkeys where supported.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858768"/>
            <a:ext cx="5257800" cy="1591056"/>
          </a:xfrm>
          <a:prstGeom prst="roundRect">
            <a:avLst>
              <a:gd name="adj" fmla="val 10345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4087368"/>
            <a:ext cx="502920" cy="502920"/>
          </a:xfrm>
          <a:prstGeom prst="ellipse">
            <a:avLst/>
          </a:prstGeom>
          <a:solidFill>
            <a:srgbClr val="2AB0C2"/>
          </a:solidFill>
          <a:ln w="12700">
            <a:solidFill>
              <a:srgbClr val="2AB0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09651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40873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SOFTWARE UPDATED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45445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operating system, app and browser security updates.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3858768"/>
            <a:ext cx="5257800" cy="1591056"/>
          </a:xfrm>
          <a:prstGeom prst="roundRect">
            <a:avLst>
              <a:gd name="adj" fmla="val 10345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64808" y="4087368"/>
            <a:ext cx="502920" cy="502920"/>
          </a:xfrm>
          <a:prstGeom prst="ellipse">
            <a:avLst/>
          </a:prstGeom>
          <a:solidFill>
            <a:srgbClr val="F4B64B"/>
          </a:solidFill>
          <a:ln w="12700">
            <a:solidFill>
              <a:srgbClr val="F4B6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4808" y="409651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32320" y="40873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RECOGNISE &amp; REPORT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2320" y="45445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unexpected links and report suspicious messages.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B0C2"/>
          </a:solidFill>
          <a:ln w="8890">
            <a:solidFill>
              <a:srgbClr val="2AB0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C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 → Verify → Decide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clear routine helps whenever a message asks for money or personal information.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6510528"/>
            <a:ext cx="11045952" cy="10973"/>
          </a:xfrm>
          <a:prstGeom prst="rect">
            <a:avLst/>
          </a:prstGeom>
          <a:solidFill>
            <a:srgbClr val="DCE9EF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SAFETY  /  LEARN • VERIFY • PROTECT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82528" y="6519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" y="2194560"/>
            <a:ext cx="2167128" cy="2011680"/>
          </a:xfrm>
          <a:prstGeom prst="roundRect">
            <a:avLst>
              <a:gd name="adj" fmla="val 8182"/>
            </a:avLst>
          </a:prstGeom>
          <a:solidFill>
            <a:srgbClr val="E9F6F7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441448"/>
            <a:ext cx="667512" cy="667512"/>
          </a:xfrm>
          <a:prstGeom prst="ellipse">
            <a:avLst/>
          </a:prstGeom>
          <a:solidFill>
            <a:srgbClr val="2B70AE"/>
          </a:solidFill>
          <a:ln w="12700">
            <a:solidFill>
              <a:srgbClr val="2B70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468880"/>
            <a:ext cx="667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4672" y="325526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5528" y="36850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Resist pressure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61488" y="288036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7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44368" y="2194560"/>
            <a:ext cx="2167128" cy="2011680"/>
          </a:xfrm>
          <a:prstGeom prst="roundRect">
            <a:avLst>
              <a:gd name="adj" fmla="val 8182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94176" y="2441448"/>
            <a:ext cx="667512" cy="667512"/>
          </a:xfrm>
          <a:prstGeom prst="ellipse">
            <a:avLst/>
          </a:prstGeom>
          <a:solidFill>
            <a:srgbClr val="2B70AE"/>
          </a:solidFill>
          <a:ln w="12700">
            <a:solidFill>
              <a:srgbClr val="2B70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94176" y="2468880"/>
            <a:ext cx="667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27248" y="325526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18104" y="36850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Clarify the request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84064" y="288036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7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66944" y="2194560"/>
            <a:ext cx="2167128" cy="2011680"/>
          </a:xfrm>
          <a:prstGeom prst="roundRect">
            <a:avLst>
              <a:gd name="adj" fmla="val 8182"/>
            </a:avLst>
          </a:prstGeom>
          <a:solidFill>
            <a:srgbClr val="E9F6F7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16752" y="2441448"/>
            <a:ext cx="667512" cy="667512"/>
          </a:xfrm>
          <a:prstGeom prst="ellipse">
            <a:avLst/>
          </a:prstGeom>
          <a:solidFill>
            <a:srgbClr val="158C74"/>
          </a:solidFill>
          <a:ln w="12700">
            <a:solidFill>
              <a:srgbClr val="158C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2468880"/>
            <a:ext cx="667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49824" y="325526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40680" y="36850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known channel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288036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7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89520" y="2194560"/>
            <a:ext cx="2167128" cy="2011680"/>
          </a:xfrm>
          <a:prstGeom prst="roundRect">
            <a:avLst>
              <a:gd name="adj" fmla="val 8182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39328" y="2441448"/>
            <a:ext cx="667512" cy="667512"/>
          </a:xfrm>
          <a:prstGeom prst="ellipse">
            <a:avLst/>
          </a:prstGeom>
          <a:solidFill>
            <a:srgbClr val="2B70AE"/>
          </a:solidFill>
          <a:ln w="12700">
            <a:solidFill>
              <a:srgbClr val="2B70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9328" y="2468880"/>
            <a:ext cx="667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772400" y="325526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63256" y="36850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less data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29216" y="288036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7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912096" y="2194560"/>
            <a:ext cx="2167128" cy="2011680"/>
          </a:xfrm>
          <a:prstGeom prst="roundRect">
            <a:avLst>
              <a:gd name="adj" fmla="val 8182"/>
            </a:avLst>
          </a:prstGeom>
          <a:solidFill>
            <a:srgbClr val="E9F6F7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61904" y="2441448"/>
            <a:ext cx="667512" cy="667512"/>
          </a:xfrm>
          <a:prstGeom prst="ellipse">
            <a:avLst/>
          </a:prstGeom>
          <a:solidFill>
            <a:srgbClr val="2B70AE"/>
          </a:solidFill>
          <a:ln w="12700">
            <a:solidFill>
              <a:srgbClr val="2B70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61904" y="2468880"/>
            <a:ext cx="667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094976" y="325526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085832" y="36850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the safe next step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14400" y="4800600"/>
            <a:ext cx="10332720" cy="667512"/>
          </a:xfrm>
          <a:prstGeom prst="roundRect">
            <a:avLst>
              <a:gd name="adj" fmla="val 24658"/>
            </a:avLst>
          </a:prstGeom>
          <a:solidFill>
            <a:srgbClr val="EBF6F2"/>
          </a:solidFill>
          <a:ln w="8890">
            <a:solidFill>
              <a:srgbClr val="EBF6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34440" y="49377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C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Independently open the official app or use contact information you already trust.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B0C2"/>
          </a:solidFill>
          <a:ln w="8890">
            <a:solidFill>
              <a:srgbClr val="2AB0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C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challenge: the parcel message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Fictional case - use it to practise checking a claim.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6510528"/>
            <a:ext cx="11045952" cy="10973"/>
          </a:xfrm>
          <a:prstGeom prst="rect">
            <a:avLst/>
          </a:prstGeom>
          <a:solidFill>
            <a:srgbClr val="DCE9EF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SAFETY  /  LEARN • VERIFY • PROTECT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82528" y="6519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05840" y="1920240"/>
            <a:ext cx="5989320" cy="3154680"/>
          </a:xfrm>
          <a:prstGeom prst="roundRect">
            <a:avLst>
              <a:gd name="adj" fmla="val 5217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98448" y="2176272"/>
            <a:ext cx="3063240" cy="347472"/>
          </a:xfrm>
          <a:prstGeom prst="roundRect">
            <a:avLst>
              <a:gd name="adj" fmla="val 42105"/>
            </a:avLst>
          </a:prstGeom>
          <a:solidFill>
            <a:srgbClr val="D85C5C"/>
          </a:solidFill>
          <a:ln w="8890">
            <a:solidFill>
              <a:srgbClr val="D85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9888" y="21899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UNEXPECTED TEXT MESSAGE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44168" y="2761488"/>
            <a:ext cx="5340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"Delivery held. Update your address and pay a small redelivery charge before tonight."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344168" y="427939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B7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parcel-help.example/track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52360" y="1920240"/>
            <a:ext cx="3758184" cy="1298448"/>
          </a:xfrm>
          <a:prstGeom prst="roundRect">
            <a:avLst>
              <a:gd name="adj" fmla="val 12676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2360" y="1920240"/>
            <a:ext cx="64008" cy="1298448"/>
          </a:xfrm>
          <a:prstGeom prst="rect">
            <a:avLst/>
          </a:prstGeom>
          <a:solidFill>
            <a:srgbClr val="F4B64B"/>
          </a:solidFill>
          <a:ln w="8890">
            <a:solidFill>
              <a:srgbClr val="F4B6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90104" y="2121408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90104" y="2633472"/>
            <a:ext cx="3300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parcel may genuinely be expected.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52360" y="3364992"/>
            <a:ext cx="3758184" cy="1572768"/>
          </a:xfrm>
          <a:prstGeom prst="roundRect">
            <a:avLst>
              <a:gd name="adj" fmla="val 10465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0" y="3364992"/>
            <a:ext cx="64008" cy="1572768"/>
          </a:xfrm>
          <a:prstGeom prst="rect">
            <a:avLst/>
          </a:prstGeom>
          <a:solidFill>
            <a:srgbClr val="158C74"/>
          </a:solidFill>
          <a:ln w="8890">
            <a:solidFill>
              <a:srgbClr val="158C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90104" y="35661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90104" y="4078224"/>
            <a:ext cx="3300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trusted app or official source can verify its status?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557784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idea: Context can make a scam plausible - it does not prove authenticity.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B0C2"/>
          </a:solidFill>
          <a:ln w="8890">
            <a:solidFill>
              <a:srgbClr val="2AB0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C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Passwords and MFA work together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account security uses more than a single line of defence.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6510528"/>
            <a:ext cx="11045952" cy="10973"/>
          </a:xfrm>
          <a:prstGeom prst="rect">
            <a:avLst/>
          </a:prstGeom>
          <a:solidFill>
            <a:srgbClr val="DCE9EF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SAFETY  /  LEARN • VERIFY • PROTECT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82528" y="6519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993392"/>
            <a:ext cx="5175504" cy="2971800"/>
          </a:xfrm>
          <a:prstGeom prst="roundRect">
            <a:avLst>
              <a:gd name="adj" fmla="val 5538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993392"/>
            <a:ext cx="64008" cy="2971800"/>
          </a:xfrm>
          <a:prstGeom prst="rect">
            <a:avLst/>
          </a:prstGeom>
          <a:solidFill>
            <a:srgbClr val="2B70AE"/>
          </a:solidFill>
          <a:ln w="8890">
            <a:solidFill>
              <a:srgbClr val="2B70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194560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 / PASSPHRASE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9264" y="2706624"/>
            <a:ext cx="4718304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long, unique credential for each account. A password manager can help store different passwords.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54496" y="1993392"/>
            <a:ext cx="5175504" cy="2971800"/>
          </a:xfrm>
          <a:prstGeom prst="roundRect">
            <a:avLst>
              <a:gd name="adj" fmla="val 5538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4496" y="1993392"/>
            <a:ext cx="64008" cy="2971800"/>
          </a:xfrm>
          <a:prstGeom prst="rect">
            <a:avLst/>
          </a:prstGeom>
          <a:solidFill>
            <a:srgbClr val="158C74"/>
          </a:solidFill>
          <a:ln w="8890">
            <a:solidFill>
              <a:srgbClr val="158C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94560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MULTIFACTOR AUTHENTICATION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706624"/>
            <a:ext cx="4718304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second sign-in factor can reduce risk if a password is exposed. Never disclose unexpected login codes.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71600" y="5349240"/>
            <a:ext cx="9528048" cy="594360"/>
          </a:xfrm>
          <a:prstGeom prst="roundRect">
            <a:avLst>
              <a:gd name="adj" fmla="val 27692"/>
            </a:avLst>
          </a:prstGeom>
          <a:solidFill>
            <a:srgbClr val="EFF7FB"/>
          </a:solidFill>
          <a:ln w="8890">
            <a:solidFill>
              <a:srgbClr val="EFF7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5468112"/>
            <a:ext cx="8869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available, phishing-resistant passkeys and security keys are valuable options.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B0C2"/>
          </a:solidFill>
          <a:ln w="8890">
            <a:solidFill>
              <a:srgbClr val="2AB0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C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CAREFULLY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useful document can still be overshared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access settings before sending files or collaborative links.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6510528"/>
            <a:ext cx="11045952" cy="10973"/>
          </a:xfrm>
          <a:prstGeom prst="rect">
            <a:avLst/>
          </a:prstGeom>
          <a:solidFill>
            <a:srgbClr val="DCE9EF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SAFETY  /  LEARN • VERIFY • PROTECT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82528" y="6519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95528" y="2029968"/>
            <a:ext cx="5257800" cy="2606040"/>
          </a:xfrm>
          <a:prstGeom prst="roundRect">
            <a:avLst>
              <a:gd name="adj" fmla="val 6316"/>
            </a:avLst>
          </a:prstGeom>
          <a:solidFill>
            <a:srgbClr val="FFF4F2"/>
          </a:solidFill>
          <a:ln w="8890">
            <a:solidFill>
              <a:srgbClr val="F5D7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322576"/>
            <a:ext cx="1938528" cy="347472"/>
          </a:xfrm>
          <a:prstGeom prst="roundRect">
            <a:avLst>
              <a:gd name="adj" fmla="val 42105"/>
            </a:avLst>
          </a:prstGeom>
          <a:solidFill>
            <a:srgbClr val="D85C5C"/>
          </a:solidFill>
          <a:ln w="8890">
            <a:solidFill>
              <a:srgbClr val="D85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336292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RISKY SETTING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953512"/>
            <a:ext cx="4581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Anyone with the link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expose data to unintended readers.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91072" y="2029968"/>
            <a:ext cx="5120640" cy="2606040"/>
          </a:xfrm>
          <a:prstGeom prst="roundRect">
            <a:avLst>
              <a:gd name="adj" fmla="val 6316"/>
            </a:avLst>
          </a:prstGeom>
          <a:solidFill>
            <a:srgbClr val="EDF8F4"/>
          </a:solidFill>
          <a:ln w="8890">
            <a:solidFill>
              <a:srgbClr val="CFEE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11112" y="2322576"/>
            <a:ext cx="2560320" cy="347472"/>
          </a:xfrm>
          <a:prstGeom prst="roundRect">
            <a:avLst>
              <a:gd name="adj" fmla="val 42105"/>
            </a:avLst>
          </a:prstGeom>
          <a:solidFill>
            <a:srgbClr val="158C74"/>
          </a:solidFill>
          <a:ln w="8890">
            <a:solidFill>
              <a:srgbClr val="158C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2552" y="233629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SAFER WHEN APPROPRIATE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953512"/>
            <a:ext cx="4581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Named, approved people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370332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only the access needed for the task.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2144" y="523036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depends on both the content and who can access it.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B0C2"/>
          </a:solidFill>
          <a:ln w="8890">
            <a:solidFill>
              <a:srgbClr val="2AB0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C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 CRITICALLY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AI-generated content also needs verification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Fluent text, impressive visuals, and a familiar voice are not proof.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6510528"/>
            <a:ext cx="11045952" cy="10973"/>
          </a:xfrm>
          <a:prstGeom prst="rect">
            <a:avLst/>
          </a:prstGeom>
          <a:solidFill>
            <a:srgbClr val="DCE9EF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SAFETY  /  LEARN • VERIFY • PROTECT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82528" y="6519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2066544"/>
            <a:ext cx="5266944" cy="1563624"/>
          </a:xfrm>
          <a:prstGeom prst="roundRect">
            <a:avLst>
              <a:gd name="adj" fmla="val 10526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066544"/>
            <a:ext cx="64008" cy="1563624"/>
          </a:xfrm>
          <a:prstGeom prst="rect">
            <a:avLst/>
          </a:prstGeom>
          <a:solidFill>
            <a:srgbClr val="2AB0C2"/>
          </a:solidFill>
          <a:ln w="8890">
            <a:solidFill>
              <a:srgbClr val="2AB0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267712"/>
            <a:ext cx="4828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2779776"/>
            <a:ext cx="48097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source supports the information?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45352" y="2066544"/>
            <a:ext cx="5266944" cy="1563624"/>
          </a:xfrm>
          <a:prstGeom prst="roundRect">
            <a:avLst>
              <a:gd name="adj" fmla="val 10526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2066544"/>
            <a:ext cx="64008" cy="1563624"/>
          </a:xfrm>
          <a:prstGeom prst="rect">
            <a:avLst/>
          </a:prstGeom>
          <a:solidFill>
            <a:srgbClr val="158C74"/>
          </a:solidFill>
          <a:ln w="8890">
            <a:solidFill>
              <a:srgbClr val="158C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3096" y="2267712"/>
            <a:ext cx="4828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83096" y="2779776"/>
            <a:ext cx="48097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the sender or speaker be independently confirmed?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" y="3895344"/>
            <a:ext cx="5266944" cy="1563624"/>
          </a:xfrm>
          <a:prstGeom prst="roundRect">
            <a:avLst>
              <a:gd name="adj" fmla="val 10526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3895344"/>
            <a:ext cx="64008" cy="1563624"/>
          </a:xfrm>
          <a:prstGeom prst="rect">
            <a:avLst/>
          </a:prstGeom>
          <a:solidFill>
            <a:srgbClr val="2AB0C2"/>
          </a:solidFill>
          <a:ln w="8890">
            <a:solidFill>
              <a:srgbClr val="2AB0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4096512"/>
            <a:ext cx="4828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0976" y="4608576"/>
            <a:ext cx="48097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important detail missing or misleading?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45352" y="3895344"/>
            <a:ext cx="5266944" cy="1563624"/>
          </a:xfrm>
          <a:prstGeom prst="roundRect">
            <a:avLst>
              <a:gd name="adj" fmla="val 10526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3895344"/>
            <a:ext cx="64008" cy="1563624"/>
          </a:xfrm>
          <a:prstGeom prst="rect">
            <a:avLst/>
          </a:prstGeom>
          <a:solidFill>
            <a:srgbClr val="158C74"/>
          </a:solidFill>
          <a:ln w="8890">
            <a:solidFill>
              <a:srgbClr val="158C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83096" y="4096512"/>
            <a:ext cx="4828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83096" y="4608576"/>
            <a:ext cx="48097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we sharing data we should protect?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B0C2"/>
          </a:solidFill>
          <a:ln w="8890">
            <a:solidFill>
              <a:srgbClr val="2AB0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C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safer digital day starts with small decisions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these habits into learning, work and everyday life.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6510528"/>
            <a:ext cx="11045952" cy="10973"/>
          </a:xfrm>
          <a:prstGeom prst="rect">
            <a:avLst/>
          </a:prstGeom>
          <a:solidFill>
            <a:srgbClr val="DCE9EF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SAFETY  /  LEARN • VERIFY • PROTECT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82528" y="6519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993392"/>
            <a:ext cx="502920" cy="502920"/>
          </a:xfrm>
          <a:prstGeom prst="ellipse">
            <a:avLst/>
          </a:prstGeom>
          <a:solidFill>
            <a:srgbClr val="2B70AE"/>
          </a:solidFill>
          <a:ln w="12700">
            <a:solidFill>
              <a:srgbClr val="2B70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0253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01168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 before responding to unexpected requests.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724912"/>
            <a:ext cx="502920" cy="502920"/>
          </a:xfrm>
          <a:prstGeom prst="ellipse">
            <a:avLst/>
          </a:prstGeom>
          <a:solidFill>
            <a:srgbClr val="158C74"/>
          </a:solidFill>
          <a:ln w="12700">
            <a:solidFill>
              <a:srgbClr val="158C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3405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274320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identity and destination through trusted channels.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456432"/>
            <a:ext cx="502920" cy="502920"/>
          </a:xfrm>
          <a:prstGeom prst="ellipse">
            <a:avLst/>
          </a:prstGeom>
          <a:solidFill>
            <a:srgbClr val="2B70AE"/>
          </a:solidFill>
          <a:ln w="12700">
            <a:solidFill>
              <a:srgbClr val="2B70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6557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47472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unique credentials, MFA and up-to-date software.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187952"/>
            <a:ext cx="502920" cy="502920"/>
          </a:xfrm>
          <a:prstGeom prst="ellipse">
            <a:avLst/>
          </a:prstGeom>
          <a:solidFill>
            <a:srgbClr val="158C74"/>
          </a:solidFill>
          <a:ln w="12700">
            <a:solidFill>
              <a:srgbClr val="158C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19709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420624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 access to documents and personal information.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4919472"/>
            <a:ext cx="502920" cy="502920"/>
          </a:xfrm>
          <a:prstGeom prst="ellipse">
            <a:avLst/>
          </a:prstGeom>
          <a:solidFill>
            <a:srgbClr val="2B70AE"/>
          </a:solidFill>
          <a:ln w="12700">
            <a:solidFill>
              <a:srgbClr val="2B70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92861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493776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 AI output as a starting point - inspect the original sources.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94360" y="6016752"/>
            <a:ext cx="11018520" cy="256032"/>
          </a:xfrm>
          <a:prstGeom prst="roundRect">
            <a:avLst>
              <a:gd name="adj" fmla="val 64286"/>
            </a:avLst>
          </a:prstGeom>
          <a:solidFill>
            <a:srgbClr val="DCF3F2"/>
          </a:solidFill>
          <a:ln w="8890">
            <a:solidFill>
              <a:srgbClr val="DCF3F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B0C2"/>
          </a:solidFill>
          <a:ln w="8890">
            <a:solidFill>
              <a:srgbClr val="2AB0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C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 from authoritative guidance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your own materials with reputable, independently checked sources.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6510528"/>
            <a:ext cx="11045952" cy="10973"/>
          </a:xfrm>
          <a:prstGeom prst="rect">
            <a:avLst/>
          </a:prstGeom>
          <a:solidFill>
            <a:srgbClr val="DCE9EF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SAFETY  /  LEARN • VERIFY • PROTECT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82528" y="6519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993392"/>
            <a:ext cx="10561320" cy="941832"/>
          </a:xfrm>
          <a:prstGeom prst="roundRect">
            <a:avLst>
              <a:gd name="adj" fmla="val 17476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993392"/>
            <a:ext cx="64008" cy="941832"/>
          </a:xfrm>
          <a:prstGeom prst="rect">
            <a:avLst/>
          </a:prstGeom>
          <a:solidFill>
            <a:srgbClr val="2B70AE"/>
          </a:solidFill>
          <a:ln w="8890">
            <a:solidFill>
              <a:srgbClr val="2B70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2194560"/>
            <a:ext cx="10122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CISA — Secure Our World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14984" y="2706624"/>
            <a:ext cx="101041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https://www.cisa.gov/secure-our-world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3136392"/>
            <a:ext cx="10561320" cy="941832"/>
          </a:xfrm>
          <a:prstGeom prst="roundRect">
            <a:avLst>
              <a:gd name="adj" fmla="val 17476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136392"/>
            <a:ext cx="64008" cy="941832"/>
          </a:xfrm>
          <a:prstGeom prst="rect">
            <a:avLst/>
          </a:prstGeom>
          <a:solidFill>
            <a:srgbClr val="158C74"/>
          </a:solidFill>
          <a:ln w="8890">
            <a:solidFill>
              <a:srgbClr val="158C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" y="3337560"/>
            <a:ext cx="10122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FTC — Recognise and Avoid Phishing Scams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14984" y="3849624"/>
            <a:ext cx="101041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https://consumer.ftc.gov/articles/how-recognize-avoid-phishing-scams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4279392"/>
            <a:ext cx="10561320" cy="941832"/>
          </a:xfrm>
          <a:prstGeom prst="roundRect">
            <a:avLst>
              <a:gd name="adj" fmla="val 17476"/>
            </a:avLst>
          </a:prstGeom>
          <a:solidFill>
            <a:srgbClr val="F2F7FA"/>
          </a:solidFill>
          <a:ln w="8890">
            <a:solidFill>
              <a:srgbClr val="DC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279392"/>
            <a:ext cx="64008" cy="941832"/>
          </a:xfrm>
          <a:prstGeom prst="rect">
            <a:avLst/>
          </a:prstGeom>
          <a:solidFill>
            <a:srgbClr val="2AB0C2"/>
          </a:solidFill>
          <a:ln w="8890">
            <a:solidFill>
              <a:srgbClr val="2AB0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" y="4480560"/>
            <a:ext cx="10122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7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FTC — How To Avoid a Scam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14984" y="4992624"/>
            <a:ext cx="101041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https://consumer.ftc.gov/articles/how-avoid-scam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3816" y="56692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8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message scenarios in the companion learning resources are fictional.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Reusable Learning Series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Safety Awareness</dc:title>
  <dc:subject>Digital safety awareness source material for Gemini Notebook</dc:subject>
  <dc:creator>AI in Action — Learning Resources</dc:creator>
  <cp:lastModifiedBy>AI in Action — Learning Resources</cp:lastModifiedBy>
  <cp:revision>1</cp:revision>
  <dcterms:created xsi:type="dcterms:W3CDTF">2026-10-21T07:53:16Z</dcterms:created>
  <dcterms:modified xsi:type="dcterms:W3CDTF">2026-10-21T07:53:16Z</dcterms:modified>
</cp:coreProperties>
</file>