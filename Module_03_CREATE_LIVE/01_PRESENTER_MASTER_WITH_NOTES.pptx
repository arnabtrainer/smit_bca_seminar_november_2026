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real-product advertising challenge and connect to earlier Chengmari film as quality benchmark. State it is independent educational concept, not official Milton advertisement. No visible session duration.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client brief: bottle black 750ml, correct facts from official Milton page. Ask: what can audience relate to? Everyday travel. Emphasize no misleading product claims.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 every stage to one user-visible output, but keep sequencing guidance in notes. Explain image still vs video footage distinction.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first human action, second walking action, third product hero motion. Film duration is fine to show; module instruction minutes must not be shown.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example prompt anatomy: real action, camera tracking, lighting and continuity. Explain one physical action per clip. Read a shortened example from detailed prompt library.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ChatGPT Images; use continuity bible and JSON scene spec to generate one keyframe per scene. Do not show manufacturer logo as generated true brand image. Before moving on approve plausible hands, shapes, clothing.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instructions: Google Vids desktop -&gt; Create AI videos -&gt; Animate or Image to video. Upload approved JPG/PNG. Prompt a single motion with physically believable action; generate and preview clip; genuine action is essential. Availability differs by plan.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Stress listening to auditions; robotic voices must be rejected. The TTS narration is separate from music and video-native dialogue. Ask audience which tone fits the product and why.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instrumental prompt. Make sure no lyrics. Discuss ducking under voiceover, slight ambience from video shots, and separate tracks.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8+8+4 visual regions. Final title overlay in editor with approved logo. Then export MP4 after QA. If there are no rendered clip assets, do not falsely present still preview as a generated movie.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 checklist; show one reliable moving clip if access. Discuss quality standards: actor movement, product accuracy, natural voice, licensed audio and approved wording. Distinguish education vs brand endorsement.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Bridge naturally into AI Can Help Me Build. Ask: what everyday product would you choose and what motion would you show? Do not present unfinished film as final.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Hidden trainer slide: use control sheet, verify tool access and approved product rights. Contingency if live gen fails: play genuine prerecorded moving Veo, not an artificial slideshow.</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Private notes: public distribution deck excludes this slide. No actual Veo clips or voice files are supplied in the source pack. Create and approve before classroom delivery.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3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45D1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tretch>
            <a:fillRect/>
          </a:stretch>
        </p:blipFill>
        <p:spPr>
          <a:xfrm>
            <a:off x="6446520" y="0"/>
            <a:ext cx="5760720" cy="6858000"/>
          </a:xfrm>
          <a:prstGeom prst="rect">
            <a:avLst/>
          </a:prstGeom>
        </p:spPr>
      </p:pic>
      <p:sp>
        <p:nvSpPr>
          <p:cNvPr id="4" name="Rectangle 3"/>
          <p:cNvSpPr/>
          <p:nvPr/>
        </p:nvSpPr>
        <p:spPr>
          <a:xfrm>
            <a:off x="6382512" y="0"/>
            <a:ext cx="109728" cy="6858000"/>
          </a:xfrm>
          <a:prstGeom prst="rect">
            <a:avLst/>
          </a:prstGeom>
          <a:solidFill>
            <a:srgbClr val="F5C1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75488" y="283464"/>
            <a:ext cx="5852160" cy="274320"/>
          </a:xfrm>
          <a:prstGeom prst="rect">
            <a:avLst/>
          </a:prstGeom>
          <a:noFill/>
        </p:spPr>
        <p:txBody>
          <a:bodyPr wrap="square" lIns="18288" rIns="18288" tIns="18288">
            <a:spAutoFit/>
          </a:bodyPr>
          <a:lstStyle/>
          <a:p>
            <a:pPr>
              <a:spcAft>
                <a:spcPts val="400"/>
              </a:spcAft>
              <a:defRPr sz="1100" b="1">
                <a:solidFill>
                  <a:srgbClr val="45D1BF"/>
                </a:solidFill>
                <a:latin typeface="Aptos"/>
              </a:defRPr>
            </a:pPr>
            <a:r>
              <a:t>AI IN ACTION   /   MODULE 03</a:t>
            </a:r>
          </a:p>
        </p:txBody>
      </p:sp>
      <p:sp>
        <p:nvSpPr>
          <p:cNvPr id="6" name="TextBox 5"/>
          <p:cNvSpPr txBox="1"/>
          <p:nvPr/>
        </p:nvSpPr>
        <p:spPr>
          <a:xfrm>
            <a:off x="438912" y="685800"/>
            <a:ext cx="5806440" cy="1188720"/>
          </a:xfrm>
          <a:prstGeom prst="rect">
            <a:avLst/>
          </a:prstGeom>
          <a:noFill/>
        </p:spPr>
        <p:txBody>
          <a:bodyPr wrap="square" lIns="18288" rIns="18288" tIns="18288">
            <a:spAutoFit/>
          </a:bodyPr>
          <a:lstStyle/>
          <a:p>
            <a:pPr>
              <a:spcAft>
                <a:spcPts val="400"/>
              </a:spcAft>
              <a:defRPr sz="3300" b="1">
                <a:solidFill>
                  <a:srgbClr val="EAF1FA"/>
                </a:solidFill>
                <a:latin typeface="Aptos"/>
              </a:defRPr>
            </a:pPr>
            <a:r>
              <a:t>From Idea to Film</a:t>
            </a:r>
          </a:p>
        </p:txBody>
      </p:sp>
      <p:sp>
        <p:nvSpPr>
          <p:cNvPr id="7" name="TextBox 6"/>
          <p:cNvSpPr txBox="1"/>
          <p:nvPr/>
        </p:nvSpPr>
        <p:spPr>
          <a:xfrm>
            <a:off x="457200" y="1847088"/>
            <a:ext cx="5715000" cy="393192"/>
          </a:xfrm>
          <a:prstGeom prst="rect">
            <a:avLst/>
          </a:prstGeom>
          <a:noFill/>
        </p:spPr>
        <p:txBody>
          <a:bodyPr wrap="square" lIns="18288" rIns="18288" tIns="18288">
            <a:spAutoFit/>
          </a:bodyPr>
          <a:lstStyle/>
          <a:p>
            <a:pPr>
              <a:spcAft>
                <a:spcPts val="400"/>
              </a:spcAft>
              <a:defRPr sz="1300" b="0">
                <a:solidFill>
                  <a:srgbClr val="F5C16C"/>
                </a:solidFill>
                <a:latin typeface="Aptos"/>
              </a:defRPr>
            </a:pPr>
            <a:r>
              <a:t>THE ART OF AI VIDEO CREATION</a:t>
            </a:r>
          </a:p>
        </p:txBody>
      </p:sp>
      <p:sp>
        <p:nvSpPr>
          <p:cNvPr id="8" name="TextBox 7"/>
          <p:cNvSpPr txBox="1"/>
          <p:nvPr/>
        </p:nvSpPr>
        <p:spPr>
          <a:xfrm>
            <a:off x="11448288" y="6492240"/>
            <a:ext cx="384048" cy="210312"/>
          </a:xfrm>
          <a:prstGeom prst="rect">
            <a:avLst/>
          </a:prstGeom>
          <a:noFill/>
        </p:spPr>
        <p:txBody>
          <a:bodyPr wrap="square" lIns="18288" rIns="18288" tIns="18288">
            <a:spAutoFit/>
          </a:bodyPr>
          <a:lstStyle/>
          <a:p>
            <a:pPr>
              <a:spcAft>
                <a:spcPts val="400"/>
              </a:spcAft>
              <a:defRPr sz="1000" b="0">
                <a:solidFill>
                  <a:srgbClr val="AFC0D6"/>
                </a:solidFill>
                <a:latin typeface="Aptos"/>
              </a:defRPr>
            </a:pPr>
            <a:r>
              <a:t>01</a:t>
            </a:r>
          </a:p>
        </p:txBody>
      </p:sp>
      <p:sp>
        <p:nvSpPr>
          <p:cNvPr id="9" name="TextBox 8"/>
          <p:cNvSpPr txBox="1"/>
          <p:nvPr/>
        </p:nvSpPr>
        <p:spPr>
          <a:xfrm>
            <a:off x="502920" y="2834640"/>
            <a:ext cx="5532120" cy="1371600"/>
          </a:xfrm>
          <a:prstGeom prst="rect">
            <a:avLst/>
          </a:prstGeom>
          <a:noFill/>
        </p:spPr>
        <p:txBody>
          <a:bodyPr wrap="square" lIns="18288" rIns="18288" tIns="18288">
            <a:spAutoFit/>
          </a:bodyPr>
          <a:lstStyle/>
          <a:p>
            <a:pPr>
              <a:spcAft>
                <a:spcPts val="400"/>
              </a:spcAft>
              <a:defRPr sz="2200" b="0">
                <a:solidFill>
                  <a:srgbClr val="EAF1FA"/>
                </a:solidFill>
                <a:latin typeface="Aptos"/>
              </a:defRPr>
            </a:pPr>
            <a:r>
              <a:t>One product. One story.</a:t>
            </a:r>
          </a:p>
          <a:p>
            <a:pPr>
              <a:spcAft>
                <a:spcPts val="400"/>
              </a:spcAft>
              <a:defRPr sz="2200" b="0">
                <a:solidFill>
                  <a:srgbClr val="EAF1FA"/>
                </a:solidFill>
                <a:latin typeface="Aptos"/>
              </a:defRPr>
            </a:pPr>
            <a:r>
              <a:t>Real moving footage. Human-sounding voice.</a:t>
            </a:r>
          </a:p>
        </p:txBody>
      </p:sp>
      <p:sp>
        <p:nvSpPr>
          <p:cNvPr id="10" name="Rounded Rectangle 9"/>
          <p:cNvSpPr/>
          <p:nvPr/>
        </p:nvSpPr>
        <p:spPr>
          <a:xfrm>
            <a:off x="502920" y="5257800"/>
            <a:ext cx="5074920" cy="594360"/>
          </a:xfrm>
          <a:prstGeom prst="roundRect">
            <a:avLst/>
          </a:prstGeom>
          <a:solidFill>
            <a:srgbClr val="132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5431536"/>
            <a:ext cx="4718304" cy="292608"/>
          </a:xfrm>
          <a:prstGeom prst="rect">
            <a:avLst/>
          </a:prstGeom>
          <a:noFill/>
        </p:spPr>
        <p:txBody>
          <a:bodyPr wrap="square" lIns="18288" rIns="18288" tIns="18288">
            <a:spAutoFit/>
          </a:bodyPr>
          <a:lstStyle/>
          <a:p>
            <a:pPr>
              <a:spcAft>
                <a:spcPts val="400"/>
              </a:spcAft>
              <a:defRPr sz="1500" b="1">
                <a:solidFill>
                  <a:srgbClr val="45D1BF"/>
                </a:solidFill>
                <a:latin typeface="Aptos"/>
              </a:defRPr>
            </a:pPr>
            <a:r>
              <a:t>Milton Atlantis Thermosteel  ·  Concept ad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3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45D1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75488" y="283464"/>
            <a:ext cx="5852160" cy="274320"/>
          </a:xfrm>
          <a:prstGeom prst="rect">
            <a:avLst/>
          </a:prstGeom>
          <a:noFill/>
        </p:spPr>
        <p:txBody>
          <a:bodyPr wrap="square" lIns="18288" rIns="18288" tIns="18288">
            <a:spAutoFit/>
          </a:bodyPr>
          <a:lstStyle/>
          <a:p>
            <a:pPr>
              <a:spcAft>
                <a:spcPts val="400"/>
              </a:spcAft>
              <a:defRPr sz="1100" b="1">
                <a:solidFill>
                  <a:srgbClr val="45D1BF"/>
                </a:solidFill>
                <a:latin typeface="Aptos"/>
              </a:defRPr>
            </a:pPr>
            <a:r>
              <a:t>AI IN ACTION   /   MODULE 03</a:t>
            </a:r>
          </a:p>
        </p:txBody>
      </p:sp>
      <p:sp>
        <p:nvSpPr>
          <p:cNvPr id="4" name="TextBox 3"/>
          <p:cNvSpPr txBox="1"/>
          <p:nvPr/>
        </p:nvSpPr>
        <p:spPr>
          <a:xfrm>
            <a:off x="438912" y="685800"/>
            <a:ext cx="5806440" cy="1188720"/>
          </a:xfrm>
          <a:prstGeom prst="rect">
            <a:avLst/>
          </a:prstGeom>
          <a:noFill/>
        </p:spPr>
        <p:txBody>
          <a:bodyPr wrap="square" lIns="18288" rIns="18288" tIns="18288">
            <a:spAutoFit/>
          </a:bodyPr>
          <a:lstStyle/>
          <a:p>
            <a:pPr>
              <a:spcAft>
                <a:spcPts val="400"/>
              </a:spcAft>
              <a:defRPr sz="3300" b="1">
                <a:solidFill>
                  <a:srgbClr val="EAF1FA"/>
                </a:solidFill>
                <a:latin typeface="Aptos"/>
              </a:defRPr>
            </a:pPr>
            <a:r>
              <a:t>The Creative Challenge</a:t>
            </a:r>
          </a:p>
        </p:txBody>
      </p:sp>
      <p:sp>
        <p:nvSpPr>
          <p:cNvPr id="5" name="TextBox 4"/>
          <p:cNvSpPr txBox="1"/>
          <p:nvPr/>
        </p:nvSpPr>
        <p:spPr>
          <a:xfrm>
            <a:off x="457200" y="1847088"/>
            <a:ext cx="5715000" cy="393192"/>
          </a:xfrm>
          <a:prstGeom prst="rect">
            <a:avLst/>
          </a:prstGeom>
          <a:noFill/>
        </p:spPr>
        <p:txBody>
          <a:bodyPr wrap="square" lIns="18288" rIns="18288" tIns="18288">
            <a:spAutoFit/>
          </a:bodyPr>
          <a:lstStyle/>
          <a:p>
            <a:pPr>
              <a:spcAft>
                <a:spcPts val="400"/>
              </a:spcAft>
              <a:defRPr sz="1300" b="0">
                <a:solidFill>
                  <a:srgbClr val="F5C16C"/>
                </a:solidFill>
                <a:latin typeface="Aptos"/>
              </a:defRPr>
            </a:pPr>
            <a:r>
              <a:t>A REAL PRODUCT • A SIMPLE, EMOTIONAL STORY</a:t>
            </a:r>
          </a:p>
        </p:txBody>
      </p:sp>
      <p:sp>
        <p:nvSpPr>
          <p:cNvPr id="6" name="TextBox 5"/>
          <p:cNvSpPr txBox="1"/>
          <p:nvPr/>
        </p:nvSpPr>
        <p:spPr>
          <a:xfrm>
            <a:off x="11448288" y="6492240"/>
            <a:ext cx="384048" cy="210312"/>
          </a:xfrm>
          <a:prstGeom prst="rect">
            <a:avLst/>
          </a:prstGeom>
          <a:noFill/>
        </p:spPr>
        <p:txBody>
          <a:bodyPr wrap="square" lIns="18288" rIns="18288" tIns="18288">
            <a:spAutoFit/>
          </a:bodyPr>
          <a:lstStyle/>
          <a:p>
            <a:pPr>
              <a:spcAft>
                <a:spcPts val="400"/>
              </a:spcAft>
              <a:defRPr sz="1000" b="0">
                <a:solidFill>
                  <a:srgbClr val="AFC0D6"/>
                </a:solidFill>
                <a:latin typeface="Aptos"/>
              </a:defRPr>
            </a:pPr>
            <a:r>
              <a:t>02</a:t>
            </a:r>
          </a:p>
        </p:txBody>
      </p:sp>
      <p:sp>
        <p:nvSpPr>
          <p:cNvPr id="7" name="Rounded Rectangle 6"/>
          <p:cNvSpPr/>
          <p:nvPr/>
        </p:nvSpPr>
        <p:spPr>
          <a:xfrm>
            <a:off x="585216" y="2514600"/>
            <a:ext cx="10789920" cy="841248"/>
          </a:xfrm>
          <a:prstGeom prst="roundRect">
            <a:avLst/>
          </a:prstGeom>
          <a:solidFill>
            <a:srgbClr val="132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724912"/>
            <a:ext cx="2103120" cy="274320"/>
          </a:xfrm>
          <a:prstGeom prst="rect">
            <a:avLst/>
          </a:prstGeom>
          <a:noFill/>
        </p:spPr>
        <p:txBody>
          <a:bodyPr wrap="square" lIns="18288" rIns="18288" tIns="18288">
            <a:spAutoFit/>
          </a:bodyPr>
          <a:lstStyle/>
          <a:p>
            <a:pPr>
              <a:spcAft>
                <a:spcPts val="400"/>
              </a:spcAft>
              <a:defRPr sz="1600" b="1">
                <a:solidFill>
                  <a:srgbClr val="45D1BF"/>
                </a:solidFill>
                <a:latin typeface="Aptos"/>
              </a:defRPr>
            </a:pPr>
            <a:r>
              <a:t>PRODUCT</a:t>
            </a:r>
          </a:p>
        </p:txBody>
      </p:sp>
      <p:sp>
        <p:nvSpPr>
          <p:cNvPr id="9" name="TextBox 8"/>
          <p:cNvSpPr txBox="1"/>
          <p:nvPr/>
        </p:nvSpPr>
        <p:spPr>
          <a:xfrm>
            <a:off x="2926080" y="2715768"/>
            <a:ext cx="8229600" cy="320040"/>
          </a:xfrm>
          <a:prstGeom prst="rect">
            <a:avLst/>
          </a:prstGeom>
          <a:noFill/>
        </p:spPr>
        <p:txBody>
          <a:bodyPr wrap="square" lIns="18288" rIns="18288" tIns="18288">
            <a:spAutoFit/>
          </a:bodyPr>
          <a:lstStyle/>
          <a:p>
            <a:pPr>
              <a:spcAft>
                <a:spcPts val="400"/>
              </a:spcAft>
              <a:defRPr sz="2000" b="0">
                <a:solidFill>
                  <a:srgbClr val="EAF1FA"/>
                </a:solidFill>
                <a:latin typeface="Aptos"/>
              </a:defRPr>
            </a:pPr>
            <a:r>
              <a:t>Milton Atlantis Thermosteel</a:t>
            </a:r>
          </a:p>
        </p:txBody>
      </p:sp>
      <p:sp>
        <p:nvSpPr>
          <p:cNvPr id="10" name="Rounded Rectangle 9"/>
          <p:cNvSpPr/>
          <p:nvPr/>
        </p:nvSpPr>
        <p:spPr>
          <a:xfrm>
            <a:off x="585216" y="3575304"/>
            <a:ext cx="10789920" cy="841248"/>
          </a:xfrm>
          <a:prstGeom prst="roundRect">
            <a:avLst/>
          </a:prstGeom>
          <a:solidFill>
            <a:srgbClr val="132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3785615"/>
            <a:ext cx="2103120" cy="274320"/>
          </a:xfrm>
          <a:prstGeom prst="rect">
            <a:avLst/>
          </a:prstGeom>
          <a:noFill/>
        </p:spPr>
        <p:txBody>
          <a:bodyPr wrap="square" lIns="18288" rIns="18288" tIns="18288">
            <a:spAutoFit/>
          </a:bodyPr>
          <a:lstStyle/>
          <a:p>
            <a:pPr>
              <a:spcAft>
                <a:spcPts val="400"/>
              </a:spcAft>
              <a:defRPr sz="1600" b="1">
                <a:solidFill>
                  <a:srgbClr val="45D1BF"/>
                </a:solidFill>
                <a:latin typeface="Aptos"/>
              </a:defRPr>
            </a:pPr>
            <a:r>
              <a:t>GOAL</a:t>
            </a:r>
          </a:p>
        </p:txBody>
      </p:sp>
      <p:sp>
        <p:nvSpPr>
          <p:cNvPr id="12" name="TextBox 11"/>
          <p:cNvSpPr txBox="1"/>
          <p:nvPr/>
        </p:nvSpPr>
        <p:spPr>
          <a:xfrm>
            <a:off x="2926080" y="3776472"/>
            <a:ext cx="8229600" cy="320040"/>
          </a:xfrm>
          <a:prstGeom prst="rect">
            <a:avLst/>
          </a:prstGeom>
          <a:noFill/>
        </p:spPr>
        <p:txBody>
          <a:bodyPr wrap="square" lIns="18288" rIns="18288" tIns="18288">
            <a:spAutoFit/>
          </a:bodyPr>
          <a:lstStyle/>
          <a:p>
            <a:pPr>
              <a:spcAft>
                <a:spcPts val="400"/>
              </a:spcAft>
              <a:defRPr sz="2000" b="0">
                <a:solidFill>
                  <a:srgbClr val="EAF1FA"/>
                </a:solidFill>
                <a:latin typeface="Aptos"/>
              </a:defRPr>
            </a:pPr>
            <a:r>
              <a:t>Make everyday journeys memorable</a:t>
            </a:r>
          </a:p>
        </p:txBody>
      </p:sp>
      <p:sp>
        <p:nvSpPr>
          <p:cNvPr id="13" name="Rounded Rectangle 12"/>
          <p:cNvSpPr/>
          <p:nvPr/>
        </p:nvSpPr>
        <p:spPr>
          <a:xfrm>
            <a:off x="585216" y="4636008"/>
            <a:ext cx="10789920" cy="841248"/>
          </a:xfrm>
          <a:prstGeom prst="roundRect">
            <a:avLst/>
          </a:prstGeom>
          <a:solidFill>
            <a:srgbClr val="132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846320"/>
            <a:ext cx="2103120" cy="274320"/>
          </a:xfrm>
          <a:prstGeom prst="rect">
            <a:avLst/>
          </a:prstGeom>
          <a:noFill/>
        </p:spPr>
        <p:txBody>
          <a:bodyPr wrap="square" lIns="18288" rIns="18288" tIns="18288">
            <a:spAutoFit/>
          </a:bodyPr>
          <a:lstStyle/>
          <a:p>
            <a:pPr>
              <a:spcAft>
                <a:spcPts val="400"/>
              </a:spcAft>
              <a:defRPr sz="1600" b="1">
                <a:solidFill>
                  <a:srgbClr val="45D1BF"/>
                </a:solidFill>
                <a:latin typeface="Aptos"/>
              </a:defRPr>
            </a:pPr>
            <a:r>
              <a:t>STORY</a:t>
            </a:r>
          </a:p>
        </p:txBody>
      </p:sp>
      <p:sp>
        <p:nvSpPr>
          <p:cNvPr id="15" name="TextBox 14"/>
          <p:cNvSpPr txBox="1"/>
          <p:nvPr/>
        </p:nvSpPr>
        <p:spPr>
          <a:xfrm>
            <a:off x="2926080" y="4837176"/>
            <a:ext cx="8229600" cy="320040"/>
          </a:xfrm>
          <a:prstGeom prst="rect">
            <a:avLst/>
          </a:prstGeom>
          <a:noFill/>
        </p:spPr>
        <p:txBody>
          <a:bodyPr wrap="square" lIns="18288" rIns="18288" tIns="18288">
            <a:spAutoFit/>
          </a:bodyPr>
          <a:lstStyle/>
          <a:p>
            <a:pPr>
              <a:spcAft>
                <a:spcPts val="400"/>
              </a:spcAft>
              <a:defRPr sz="2000" b="0">
                <a:solidFill>
                  <a:srgbClr val="EAF1FA"/>
                </a:solidFill>
                <a:latin typeface="Aptos"/>
              </a:defRPr>
            </a:pPr>
            <a:r>
              <a:t>Morning → Journey → Product close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3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45D1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75488" y="283464"/>
            <a:ext cx="5852160" cy="274320"/>
          </a:xfrm>
          <a:prstGeom prst="rect">
            <a:avLst/>
          </a:prstGeom>
          <a:noFill/>
        </p:spPr>
        <p:txBody>
          <a:bodyPr wrap="square" lIns="18288" rIns="18288" tIns="18288">
            <a:spAutoFit/>
          </a:bodyPr>
          <a:lstStyle/>
          <a:p>
            <a:pPr>
              <a:spcAft>
                <a:spcPts val="400"/>
              </a:spcAft>
              <a:defRPr sz="1100" b="1">
                <a:solidFill>
                  <a:srgbClr val="45D1BF"/>
                </a:solidFill>
                <a:latin typeface="Aptos"/>
              </a:defRPr>
            </a:pPr>
            <a:r>
              <a:t>AI IN ACTION   /   MODULE 03</a:t>
            </a:r>
          </a:p>
        </p:txBody>
      </p:sp>
      <p:sp>
        <p:nvSpPr>
          <p:cNvPr id="4" name="TextBox 3"/>
          <p:cNvSpPr txBox="1"/>
          <p:nvPr/>
        </p:nvSpPr>
        <p:spPr>
          <a:xfrm>
            <a:off x="438912" y="685800"/>
            <a:ext cx="5806440" cy="1188720"/>
          </a:xfrm>
          <a:prstGeom prst="rect">
            <a:avLst/>
          </a:prstGeom>
          <a:noFill/>
        </p:spPr>
        <p:txBody>
          <a:bodyPr wrap="square" lIns="18288" rIns="18288" tIns="18288">
            <a:spAutoFit/>
          </a:bodyPr>
          <a:lstStyle/>
          <a:p>
            <a:pPr>
              <a:spcAft>
                <a:spcPts val="400"/>
              </a:spcAft>
              <a:defRPr sz="3300" b="1">
                <a:solidFill>
                  <a:srgbClr val="EAF1FA"/>
                </a:solidFill>
                <a:latin typeface="Aptos"/>
              </a:defRPr>
            </a:pPr>
            <a:r>
              <a:t>The Production Journey</a:t>
            </a:r>
          </a:p>
        </p:txBody>
      </p:sp>
      <p:sp>
        <p:nvSpPr>
          <p:cNvPr id="5" name="TextBox 4"/>
          <p:cNvSpPr txBox="1"/>
          <p:nvPr/>
        </p:nvSpPr>
        <p:spPr>
          <a:xfrm>
            <a:off x="457200" y="1847088"/>
            <a:ext cx="5715000" cy="393192"/>
          </a:xfrm>
          <a:prstGeom prst="rect">
            <a:avLst/>
          </a:prstGeom>
          <a:noFill/>
        </p:spPr>
        <p:txBody>
          <a:bodyPr wrap="square" lIns="18288" rIns="18288" tIns="18288">
            <a:spAutoFit/>
          </a:bodyPr>
          <a:lstStyle/>
          <a:p>
            <a:pPr>
              <a:spcAft>
                <a:spcPts val="400"/>
              </a:spcAft>
              <a:defRPr sz="1300" b="0">
                <a:solidFill>
                  <a:srgbClr val="F5C16C"/>
                </a:solidFill>
                <a:latin typeface="Aptos"/>
              </a:defRPr>
            </a:pPr>
            <a:r>
              <a:t>PLAN → GENERATE → FINISH</a:t>
            </a:r>
          </a:p>
        </p:txBody>
      </p:sp>
      <p:sp>
        <p:nvSpPr>
          <p:cNvPr id="6" name="TextBox 5"/>
          <p:cNvSpPr txBox="1"/>
          <p:nvPr/>
        </p:nvSpPr>
        <p:spPr>
          <a:xfrm>
            <a:off x="11448288" y="6492240"/>
            <a:ext cx="384048" cy="210312"/>
          </a:xfrm>
          <a:prstGeom prst="rect">
            <a:avLst/>
          </a:prstGeom>
          <a:noFill/>
        </p:spPr>
        <p:txBody>
          <a:bodyPr wrap="square" lIns="18288" rIns="18288" tIns="18288">
            <a:spAutoFit/>
          </a:bodyPr>
          <a:lstStyle/>
          <a:p>
            <a:pPr>
              <a:spcAft>
                <a:spcPts val="400"/>
              </a:spcAft>
              <a:defRPr sz="1000" b="0">
                <a:solidFill>
                  <a:srgbClr val="AFC0D6"/>
                </a:solidFill>
                <a:latin typeface="Aptos"/>
              </a:defRPr>
            </a:pPr>
            <a:r>
              <a:t>03</a:t>
            </a:r>
          </a:p>
        </p:txBody>
      </p:sp>
      <p:sp>
        <p:nvSpPr>
          <p:cNvPr id="7" name="Rounded Rectangle 6"/>
          <p:cNvSpPr/>
          <p:nvPr/>
        </p:nvSpPr>
        <p:spPr>
          <a:xfrm>
            <a:off x="521207" y="2423160"/>
            <a:ext cx="10972800" cy="923544"/>
          </a:xfrm>
          <a:prstGeom prst="roundRect">
            <a:avLst/>
          </a:prstGeom>
          <a:solidFill>
            <a:srgbClr val="132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2606040"/>
            <a:ext cx="2286000" cy="384048"/>
          </a:xfrm>
          <a:prstGeom prst="rect">
            <a:avLst/>
          </a:prstGeom>
          <a:noFill/>
        </p:spPr>
        <p:txBody>
          <a:bodyPr wrap="square" lIns="18288" rIns="18288" tIns="18288">
            <a:spAutoFit/>
          </a:bodyPr>
          <a:lstStyle/>
          <a:p>
            <a:pPr>
              <a:spcAft>
                <a:spcPts val="400"/>
              </a:spcAft>
              <a:defRPr sz="1900" b="1">
                <a:solidFill>
                  <a:srgbClr val="45D1BF"/>
                </a:solidFill>
                <a:latin typeface="Aptos"/>
              </a:defRPr>
            </a:pPr>
            <a:r>
              <a:t>01  Plan</a:t>
            </a:r>
          </a:p>
        </p:txBody>
      </p:sp>
      <p:sp>
        <p:nvSpPr>
          <p:cNvPr id="9" name="TextBox 8"/>
          <p:cNvSpPr txBox="1"/>
          <p:nvPr/>
        </p:nvSpPr>
        <p:spPr>
          <a:xfrm>
            <a:off x="3108960" y="2606040"/>
            <a:ext cx="7955279" cy="402336"/>
          </a:xfrm>
          <a:prstGeom prst="rect">
            <a:avLst/>
          </a:prstGeom>
          <a:noFill/>
        </p:spPr>
        <p:txBody>
          <a:bodyPr wrap="square" lIns="18288" rIns="18288" tIns="18288">
            <a:spAutoFit/>
          </a:bodyPr>
          <a:lstStyle/>
          <a:p>
            <a:pPr>
              <a:spcAft>
                <a:spcPts val="400"/>
              </a:spcAft>
              <a:defRPr sz="2000" b="0">
                <a:solidFill>
                  <a:srgbClr val="EAF1FA"/>
                </a:solidFill>
                <a:latin typeface="Aptos"/>
              </a:defRPr>
            </a:pPr>
            <a:r>
              <a:t>Brief, story, narration &amp; JSON shots</a:t>
            </a:r>
          </a:p>
        </p:txBody>
      </p:sp>
      <p:sp>
        <p:nvSpPr>
          <p:cNvPr id="10" name="Rounded Rectangle 9"/>
          <p:cNvSpPr/>
          <p:nvPr/>
        </p:nvSpPr>
        <p:spPr>
          <a:xfrm>
            <a:off x="521207" y="3547872"/>
            <a:ext cx="10972800" cy="923544"/>
          </a:xfrm>
          <a:prstGeom prst="roundRect">
            <a:avLst/>
          </a:prstGeom>
          <a:solidFill>
            <a:srgbClr val="132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3730752"/>
            <a:ext cx="2286000" cy="384048"/>
          </a:xfrm>
          <a:prstGeom prst="rect">
            <a:avLst/>
          </a:prstGeom>
          <a:noFill/>
        </p:spPr>
        <p:txBody>
          <a:bodyPr wrap="square" lIns="18288" rIns="18288" tIns="18288">
            <a:spAutoFit/>
          </a:bodyPr>
          <a:lstStyle/>
          <a:p>
            <a:pPr>
              <a:spcAft>
                <a:spcPts val="400"/>
              </a:spcAft>
              <a:defRPr sz="1900" b="1">
                <a:solidFill>
                  <a:srgbClr val="45D1BF"/>
                </a:solidFill>
                <a:latin typeface="Aptos"/>
              </a:defRPr>
            </a:pPr>
            <a:r>
              <a:t>02  Generate</a:t>
            </a:r>
          </a:p>
        </p:txBody>
      </p:sp>
      <p:sp>
        <p:nvSpPr>
          <p:cNvPr id="12" name="TextBox 11"/>
          <p:cNvSpPr txBox="1"/>
          <p:nvPr/>
        </p:nvSpPr>
        <p:spPr>
          <a:xfrm>
            <a:off x="3108960" y="3730752"/>
            <a:ext cx="7955279" cy="402336"/>
          </a:xfrm>
          <a:prstGeom prst="rect">
            <a:avLst/>
          </a:prstGeom>
          <a:noFill/>
        </p:spPr>
        <p:txBody>
          <a:bodyPr wrap="square" lIns="18288" rIns="18288" tIns="18288">
            <a:spAutoFit/>
          </a:bodyPr>
          <a:lstStyle/>
          <a:p>
            <a:pPr>
              <a:spcAft>
                <a:spcPts val="400"/>
              </a:spcAft>
              <a:defRPr sz="2000" b="0">
                <a:solidFill>
                  <a:srgbClr val="EAF1FA"/>
                </a:solidFill>
                <a:latin typeface="Aptos"/>
              </a:defRPr>
            </a:pPr>
            <a:r>
              <a:t>Storyboard frames → real motion → audio</a:t>
            </a:r>
          </a:p>
        </p:txBody>
      </p:sp>
      <p:sp>
        <p:nvSpPr>
          <p:cNvPr id="13" name="Rounded Rectangle 12"/>
          <p:cNvSpPr/>
          <p:nvPr/>
        </p:nvSpPr>
        <p:spPr>
          <a:xfrm>
            <a:off x="521207" y="4672583"/>
            <a:ext cx="10972800" cy="923544"/>
          </a:xfrm>
          <a:prstGeom prst="roundRect">
            <a:avLst/>
          </a:prstGeom>
          <a:solidFill>
            <a:srgbClr val="132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855464"/>
            <a:ext cx="2286000" cy="384048"/>
          </a:xfrm>
          <a:prstGeom prst="rect">
            <a:avLst/>
          </a:prstGeom>
          <a:noFill/>
        </p:spPr>
        <p:txBody>
          <a:bodyPr wrap="square" lIns="18288" rIns="18288" tIns="18288">
            <a:spAutoFit/>
          </a:bodyPr>
          <a:lstStyle/>
          <a:p>
            <a:pPr>
              <a:spcAft>
                <a:spcPts val="400"/>
              </a:spcAft>
              <a:defRPr sz="1900" b="1">
                <a:solidFill>
                  <a:srgbClr val="45D1BF"/>
                </a:solidFill>
                <a:latin typeface="Aptos"/>
              </a:defRPr>
            </a:pPr>
            <a:r>
              <a:t>03  Finish</a:t>
            </a:r>
          </a:p>
        </p:txBody>
      </p:sp>
      <p:sp>
        <p:nvSpPr>
          <p:cNvPr id="15" name="TextBox 14"/>
          <p:cNvSpPr txBox="1"/>
          <p:nvPr/>
        </p:nvSpPr>
        <p:spPr>
          <a:xfrm>
            <a:off x="3108960" y="4855464"/>
            <a:ext cx="7955279" cy="402336"/>
          </a:xfrm>
          <a:prstGeom prst="rect">
            <a:avLst/>
          </a:prstGeom>
          <a:noFill/>
        </p:spPr>
        <p:txBody>
          <a:bodyPr wrap="square" lIns="18288" rIns="18288" tIns="18288">
            <a:spAutoFit/>
          </a:bodyPr>
          <a:lstStyle/>
          <a:p>
            <a:pPr>
              <a:spcAft>
                <a:spcPts val="400"/>
              </a:spcAft>
              <a:defRPr sz="2000" b="0">
                <a:solidFill>
                  <a:srgbClr val="EAF1FA"/>
                </a:solidFill>
                <a:latin typeface="Aptos"/>
              </a:defRPr>
            </a:pPr>
            <a:r>
              <a:t>Edit, brand, review &amp; export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3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45D1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75488" y="283464"/>
            <a:ext cx="5852160" cy="274320"/>
          </a:xfrm>
          <a:prstGeom prst="rect">
            <a:avLst/>
          </a:prstGeom>
          <a:noFill/>
        </p:spPr>
        <p:txBody>
          <a:bodyPr wrap="square" lIns="18288" rIns="18288" tIns="18288">
            <a:spAutoFit/>
          </a:bodyPr>
          <a:lstStyle/>
          <a:p>
            <a:pPr>
              <a:spcAft>
                <a:spcPts val="400"/>
              </a:spcAft>
              <a:defRPr sz="1100" b="1">
                <a:solidFill>
                  <a:srgbClr val="45D1BF"/>
                </a:solidFill>
                <a:latin typeface="Aptos"/>
              </a:defRPr>
            </a:pPr>
            <a:r>
              <a:t>AI IN ACTION   /   MODULE 03</a:t>
            </a:r>
          </a:p>
        </p:txBody>
      </p:sp>
      <p:sp>
        <p:nvSpPr>
          <p:cNvPr id="4" name="TextBox 3"/>
          <p:cNvSpPr txBox="1"/>
          <p:nvPr/>
        </p:nvSpPr>
        <p:spPr>
          <a:xfrm>
            <a:off x="438912" y="685800"/>
            <a:ext cx="5806440" cy="1188720"/>
          </a:xfrm>
          <a:prstGeom prst="rect">
            <a:avLst/>
          </a:prstGeom>
          <a:noFill/>
        </p:spPr>
        <p:txBody>
          <a:bodyPr wrap="square" lIns="18288" rIns="18288" tIns="18288">
            <a:spAutoFit/>
          </a:bodyPr>
          <a:lstStyle/>
          <a:p>
            <a:pPr>
              <a:spcAft>
                <a:spcPts val="400"/>
              </a:spcAft>
              <a:defRPr sz="3300" b="1">
                <a:solidFill>
                  <a:srgbClr val="EAF1FA"/>
                </a:solidFill>
                <a:latin typeface="Aptos"/>
              </a:defRPr>
            </a:pPr>
            <a:r>
              <a:t>One Story, Three Cinematic Shots</a:t>
            </a:r>
          </a:p>
        </p:txBody>
      </p:sp>
      <p:sp>
        <p:nvSpPr>
          <p:cNvPr id="5" name="TextBox 4"/>
          <p:cNvSpPr txBox="1"/>
          <p:nvPr/>
        </p:nvSpPr>
        <p:spPr>
          <a:xfrm>
            <a:off x="457200" y="1847088"/>
            <a:ext cx="5715000" cy="393192"/>
          </a:xfrm>
          <a:prstGeom prst="rect">
            <a:avLst/>
          </a:prstGeom>
          <a:noFill/>
        </p:spPr>
        <p:txBody>
          <a:bodyPr wrap="square" lIns="18288" rIns="18288" tIns="18288">
            <a:spAutoFit/>
          </a:bodyPr>
          <a:lstStyle/>
          <a:p>
            <a:pPr>
              <a:spcAft>
                <a:spcPts val="400"/>
              </a:spcAft>
              <a:defRPr sz="1300" b="0">
                <a:solidFill>
                  <a:srgbClr val="F5C16C"/>
                </a:solidFill>
                <a:latin typeface="Aptos"/>
              </a:defRPr>
            </a:pPr>
            <a:r>
              <a:t>AN ORIGINAL 20-SECOND EDUCATIONAL CONCEPT</a:t>
            </a:r>
          </a:p>
        </p:txBody>
      </p:sp>
      <p:sp>
        <p:nvSpPr>
          <p:cNvPr id="6" name="TextBox 5"/>
          <p:cNvSpPr txBox="1"/>
          <p:nvPr/>
        </p:nvSpPr>
        <p:spPr>
          <a:xfrm>
            <a:off x="11448288" y="6492240"/>
            <a:ext cx="384048" cy="210312"/>
          </a:xfrm>
          <a:prstGeom prst="rect">
            <a:avLst/>
          </a:prstGeom>
          <a:noFill/>
        </p:spPr>
        <p:txBody>
          <a:bodyPr wrap="square" lIns="18288" rIns="18288" tIns="18288">
            <a:spAutoFit/>
          </a:bodyPr>
          <a:lstStyle/>
          <a:p>
            <a:pPr>
              <a:spcAft>
                <a:spcPts val="400"/>
              </a:spcAft>
              <a:defRPr sz="1000" b="0">
                <a:solidFill>
                  <a:srgbClr val="AFC0D6"/>
                </a:solidFill>
                <a:latin typeface="Aptos"/>
              </a:defRPr>
            </a:pPr>
            <a:r>
              <a:t>04</a:t>
            </a:r>
          </a:p>
        </p:txBody>
      </p:sp>
      <p:pic>
        <p:nvPicPr>
          <p:cNvPr id="7" name="Picture 6" descr="image.jpg"/>
          <p:cNvPicPr>
            <a:picLocks noChangeAspect="1"/>
          </p:cNvPicPr>
          <p:nvPr/>
        </p:nvPicPr>
        <p:blipFill>
          <a:blip r:embed="rId3"/>
          <a:stretch>
            <a:fillRect/>
          </a:stretch>
        </p:blipFill>
        <p:spPr>
          <a:xfrm>
            <a:off x="502920" y="2340864"/>
            <a:ext cx="3566160" cy="2286000"/>
          </a:xfrm>
          <a:prstGeom prst="rect">
            <a:avLst/>
          </a:prstGeom>
        </p:spPr>
      </p:pic>
      <p:sp>
        <p:nvSpPr>
          <p:cNvPr id="8" name="Rounded Rectangle 7"/>
          <p:cNvSpPr/>
          <p:nvPr/>
        </p:nvSpPr>
        <p:spPr>
          <a:xfrm>
            <a:off x="502920" y="4645152"/>
            <a:ext cx="3566160" cy="896112"/>
          </a:xfrm>
          <a:prstGeom prst="roundRect">
            <a:avLst/>
          </a:prstGeom>
          <a:solidFill>
            <a:srgbClr val="132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 y="4764024"/>
            <a:ext cx="3291840" cy="320040"/>
          </a:xfrm>
          <a:prstGeom prst="rect">
            <a:avLst/>
          </a:prstGeom>
          <a:noFill/>
        </p:spPr>
        <p:txBody>
          <a:bodyPr wrap="square" lIns="18288" rIns="18288" tIns="18288">
            <a:spAutoFit/>
          </a:bodyPr>
          <a:lstStyle/>
          <a:p>
            <a:pPr>
              <a:spcAft>
                <a:spcPts val="400"/>
              </a:spcAft>
              <a:defRPr sz="1800" b="1">
                <a:solidFill>
                  <a:srgbClr val="EAF1FA"/>
                </a:solidFill>
                <a:latin typeface="Aptos"/>
              </a:defRPr>
            </a:pPr>
            <a:r>
              <a:t>A New Day</a:t>
            </a:r>
          </a:p>
        </p:txBody>
      </p:sp>
      <p:sp>
        <p:nvSpPr>
          <p:cNvPr id="10" name="TextBox 9"/>
          <p:cNvSpPr txBox="1"/>
          <p:nvPr/>
        </p:nvSpPr>
        <p:spPr>
          <a:xfrm>
            <a:off x="630936" y="5138928"/>
            <a:ext cx="3108960" cy="237744"/>
          </a:xfrm>
          <a:prstGeom prst="rect">
            <a:avLst/>
          </a:prstGeom>
          <a:noFill/>
        </p:spPr>
        <p:txBody>
          <a:bodyPr wrap="square" lIns="18288" rIns="18288" tIns="18288">
            <a:spAutoFit/>
          </a:bodyPr>
          <a:lstStyle/>
          <a:p>
            <a:pPr>
              <a:spcAft>
                <a:spcPts val="400"/>
              </a:spcAft>
              <a:defRPr sz="1200" b="0">
                <a:solidFill>
                  <a:srgbClr val="45D1BF"/>
                </a:solidFill>
                <a:latin typeface="Aptos"/>
              </a:defRPr>
            </a:pPr>
            <a:r>
              <a:t>00–08 seconds · Scene 1</a:t>
            </a:r>
          </a:p>
        </p:txBody>
      </p:sp>
      <p:pic>
        <p:nvPicPr>
          <p:cNvPr id="11" name="Picture 10" descr="image.jpg"/>
          <p:cNvPicPr>
            <a:picLocks noChangeAspect="1"/>
          </p:cNvPicPr>
          <p:nvPr/>
        </p:nvPicPr>
        <p:blipFill>
          <a:blip r:embed="rId4"/>
          <a:stretch>
            <a:fillRect/>
          </a:stretch>
        </p:blipFill>
        <p:spPr>
          <a:xfrm>
            <a:off x="4370832" y="2340864"/>
            <a:ext cx="3566160" cy="2286000"/>
          </a:xfrm>
          <a:prstGeom prst="rect">
            <a:avLst/>
          </a:prstGeom>
        </p:spPr>
      </p:pic>
      <p:sp>
        <p:nvSpPr>
          <p:cNvPr id="12" name="Rounded Rectangle 11"/>
          <p:cNvSpPr/>
          <p:nvPr/>
        </p:nvSpPr>
        <p:spPr>
          <a:xfrm>
            <a:off x="4370832" y="4645152"/>
            <a:ext cx="3566160" cy="896112"/>
          </a:xfrm>
          <a:prstGeom prst="roundRect">
            <a:avLst/>
          </a:prstGeom>
          <a:solidFill>
            <a:srgbClr val="132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98848" y="4764024"/>
            <a:ext cx="3291840" cy="320040"/>
          </a:xfrm>
          <a:prstGeom prst="rect">
            <a:avLst/>
          </a:prstGeom>
          <a:noFill/>
        </p:spPr>
        <p:txBody>
          <a:bodyPr wrap="square" lIns="18288" rIns="18288" tIns="18288">
            <a:spAutoFit/>
          </a:bodyPr>
          <a:lstStyle/>
          <a:p>
            <a:pPr>
              <a:spcAft>
                <a:spcPts val="400"/>
              </a:spcAft>
              <a:defRPr sz="1800" b="1">
                <a:solidFill>
                  <a:srgbClr val="EAF1FA"/>
                </a:solidFill>
                <a:latin typeface="Aptos"/>
              </a:defRPr>
            </a:pPr>
            <a:r>
              <a:t>Into the World</a:t>
            </a:r>
          </a:p>
        </p:txBody>
      </p:sp>
      <p:sp>
        <p:nvSpPr>
          <p:cNvPr id="14" name="TextBox 13"/>
          <p:cNvSpPr txBox="1"/>
          <p:nvPr/>
        </p:nvSpPr>
        <p:spPr>
          <a:xfrm>
            <a:off x="4498848" y="5138928"/>
            <a:ext cx="3108960" cy="237744"/>
          </a:xfrm>
          <a:prstGeom prst="rect">
            <a:avLst/>
          </a:prstGeom>
          <a:noFill/>
        </p:spPr>
        <p:txBody>
          <a:bodyPr wrap="square" lIns="18288" rIns="18288" tIns="18288">
            <a:spAutoFit/>
          </a:bodyPr>
          <a:lstStyle/>
          <a:p>
            <a:pPr>
              <a:spcAft>
                <a:spcPts val="400"/>
              </a:spcAft>
              <a:defRPr sz="1200" b="0">
                <a:solidFill>
                  <a:srgbClr val="45D1BF"/>
                </a:solidFill>
                <a:latin typeface="Aptos"/>
              </a:defRPr>
            </a:pPr>
            <a:r>
              <a:t>08–16 seconds · Scene 2</a:t>
            </a:r>
          </a:p>
        </p:txBody>
      </p:sp>
      <p:pic>
        <p:nvPicPr>
          <p:cNvPr id="15" name="Picture 14" descr="image.jpg"/>
          <p:cNvPicPr>
            <a:picLocks noChangeAspect="1"/>
          </p:cNvPicPr>
          <p:nvPr/>
        </p:nvPicPr>
        <p:blipFill>
          <a:blip r:embed="rId5"/>
          <a:stretch>
            <a:fillRect/>
          </a:stretch>
        </p:blipFill>
        <p:spPr>
          <a:xfrm>
            <a:off x="8238744" y="2340864"/>
            <a:ext cx="3566160" cy="2286000"/>
          </a:xfrm>
          <a:prstGeom prst="rect">
            <a:avLst/>
          </a:prstGeom>
        </p:spPr>
      </p:pic>
      <p:sp>
        <p:nvSpPr>
          <p:cNvPr id="16" name="Rounded Rectangle 15"/>
          <p:cNvSpPr/>
          <p:nvPr/>
        </p:nvSpPr>
        <p:spPr>
          <a:xfrm>
            <a:off x="8238744" y="4645152"/>
            <a:ext cx="3566160" cy="896112"/>
          </a:xfrm>
          <a:prstGeom prst="roundRect">
            <a:avLst/>
          </a:prstGeom>
          <a:solidFill>
            <a:srgbClr val="132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66760" y="4764024"/>
            <a:ext cx="3291840" cy="320040"/>
          </a:xfrm>
          <a:prstGeom prst="rect">
            <a:avLst/>
          </a:prstGeom>
          <a:noFill/>
        </p:spPr>
        <p:txBody>
          <a:bodyPr wrap="square" lIns="18288" rIns="18288" tIns="18288">
            <a:spAutoFit/>
          </a:bodyPr>
          <a:lstStyle/>
          <a:p>
            <a:pPr>
              <a:spcAft>
                <a:spcPts val="400"/>
              </a:spcAft>
              <a:defRPr sz="1800" b="1">
                <a:solidFill>
                  <a:srgbClr val="EAF1FA"/>
                </a:solidFill>
                <a:latin typeface="Aptos"/>
              </a:defRPr>
            </a:pPr>
            <a:r>
              <a:t>Product Moment</a:t>
            </a:r>
          </a:p>
        </p:txBody>
      </p:sp>
      <p:sp>
        <p:nvSpPr>
          <p:cNvPr id="18" name="TextBox 17"/>
          <p:cNvSpPr txBox="1"/>
          <p:nvPr/>
        </p:nvSpPr>
        <p:spPr>
          <a:xfrm>
            <a:off x="8366760" y="5138928"/>
            <a:ext cx="3108960" cy="237744"/>
          </a:xfrm>
          <a:prstGeom prst="rect">
            <a:avLst/>
          </a:prstGeom>
          <a:noFill/>
        </p:spPr>
        <p:txBody>
          <a:bodyPr wrap="square" lIns="18288" rIns="18288" tIns="18288">
            <a:spAutoFit/>
          </a:bodyPr>
          <a:lstStyle/>
          <a:p>
            <a:pPr>
              <a:spcAft>
                <a:spcPts val="400"/>
              </a:spcAft>
              <a:defRPr sz="1200" b="0">
                <a:solidFill>
                  <a:srgbClr val="45D1BF"/>
                </a:solidFill>
                <a:latin typeface="Aptos"/>
              </a:defRPr>
            </a:pPr>
            <a:r>
              <a:t>16–20 seconds · Scene 3</a:t>
            </a:r>
          </a:p>
        </p:txBody>
      </p:sp>
      <p:sp>
        <p:nvSpPr>
          <p:cNvPr id="19" name="TextBox 18"/>
          <p:cNvSpPr txBox="1"/>
          <p:nvPr/>
        </p:nvSpPr>
        <p:spPr>
          <a:xfrm>
            <a:off x="548640" y="6007608"/>
            <a:ext cx="10058400" cy="292608"/>
          </a:xfrm>
          <a:prstGeom prst="rect">
            <a:avLst/>
          </a:prstGeom>
          <a:noFill/>
        </p:spPr>
        <p:txBody>
          <a:bodyPr wrap="square" lIns="18288" rIns="18288" tIns="18288">
            <a:spAutoFit/>
          </a:bodyPr>
          <a:lstStyle/>
          <a:p>
            <a:pPr>
              <a:spcAft>
                <a:spcPts val="400"/>
              </a:spcAft>
              <a:defRPr sz="1200" b="0">
                <a:solidFill>
                  <a:srgbClr val="AFC0D6"/>
                </a:solidFill>
                <a:latin typeface="Aptos"/>
              </a:defRPr>
            </a:pPr>
            <a:r>
              <a:t>Illustrative concept frames · Actual moving Veo clips created separately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3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45D1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75488" y="283464"/>
            <a:ext cx="5852160" cy="274320"/>
          </a:xfrm>
          <a:prstGeom prst="rect">
            <a:avLst/>
          </a:prstGeom>
          <a:noFill/>
        </p:spPr>
        <p:txBody>
          <a:bodyPr wrap="square" lIns="18288" rIns="18288" tIns="18288">
            <a:spAutoFit/>
          </a:bodyPr>
          <a:lstStyle/>
          <a:p>
            <a:pPr>
              <a:spcAft>
                <a:spcPts val="400"/>
              </a:spcAft>
              <a:defRPr sz="1100" b="1">
                <a:solidFill>
                  <a:srgbClr val="45D1BF"/>
                </a:solidFill>
                <a:latin typeface="Aptos"/>
              </a:defRPr>
            </a:pPr>
            <a:r>
              <a:t>AI IN ACTION   /   MODULE 03</a:t>
            </a:r>
          </a:p>
        </p:txBody>
      </p:sp>
      <p:sp>
        <p:nvSpPr>
          <p:cNvPr id="4" name="TextBox 3"/>
          <p:cNvSpPr txBox="1"/>
          <p:nvPr/>
        </p:nvSpPr>
        <p:spPr>
          <a:xfrm>
            <a:off x="438912" y="685800"/>
            <a:ext cx="5806440" cy="1188720"/>
          </a:xfrm>
          <a:prstGeom prst="rect">
            <a:avLst/>
          </a:prstGeom>
          <a:noFill/>
        </p:spPr>
        <p:txBody>
          <a:bodyPr wrap="square" lIns="18288" rIns="18288" tIns="18288">
            <a:spAutoFit/>
          </a:bodyPr>
          <a:lstStyle/>
          <a:p>
            <a:pPr>
              <a:spcAft>
                <a:spcPts val="400"/>
              </a:spcAft>
              <a:defRPr sz="3300" b="1">
                <a:solidFill>
                  <a:srgbClr val="EAF1FA"/>
                </a:solidFill>
                <a:latin typeface="Aptos"/>
              </a:defRPr>
            </a:pPr>
            <a:r>
              <a:t>Give AI Clear Creative Direction</a:t>
            </a:r>
          </a:p>
        </p:txBody>
      </p:sp>
      <p:sp>
        <p:nvSpPr>
          <p:cNvPr id="5" name="TextBox 4"/>
          <p:cNvSpPr txBox="1"/>
          <p:nvPr/>
        </p:nvSpPr>
        <p:spPr>
          <a:xfrm>
            <a:off x="457200" y="1847088"/>
            <a:ext cx="5715000" cy="393192"/>
          </a:xfrm>
          <a:prstGeom prst="rect">
            <a:avLst/>
          </a:prstGeom>
          <a:noFill/>
        </p:spPr>
        <p:txBody>
          <a:bodyPr wrap="square" lIns="18288" rIns="18288" tIns="18288">
            <a:spAutoFit/>
          </a:bodyPr>
          <a:lstStyle/>
          <a:p>
            <a:pPr>
              <a:spcAft>
                <a:spcPts val="400"/>
              </a:spcAft>
              <a:defRPr sz="1300" b="0">
                <a:solidFill>
                  <a:srgbClr val="F5C16C"/>
                </a:solidFill>
                <a:latin typeface="Aptos"/>
              </a:defRPr>
            </a:pPr>
            <a:r>
              <a:t>A BEAUTIFUL RESULT STARTS WITH A SPECIFIC PROMPT</a:t>
            </a:r>
          </a:p>
        </p:txBody>
      </p:sp>
      <p:sp>
        <p:nvSpPr>
          <p:cNvPr id="6" name="TextBox 5"/>
          <p:cNvSpPr txBox="1"/>
          <p:nvPr/>
        </p:nvSpPr>
        <p:spPr>
          <a:xfrm>
            <a:off x="11448288" y="6492240"/>
            <a:ext cx="384048" cy="210312"/>
          </a:xfrm>
          <a:prstGeom prst="rect">
            <a:avLst/>
          </a:prstGeom>
          <a:noFill/>
        </p:spPr>
        <p:txBody>
          <a:bodyPr wrap="square" lIns="18288" rIns="18288" tIns="18288">
            <a:spAutoFit/>
          </a:bodyPr>
          <a:lstStyle/>
          <a:p>
            <a:pPr>
              <a:spcAft>
                <a:spcPts val="400"/>
              </a:spcAft>
              <a:defRPr sz="1000" b="0">
                <a:solidFill>
                  <a:srgbClr val="AFC0D6"/>
                </a:solidFill>
                <a:latin typeface="Aptos"/>
              </a:defRPr>
            </a:pPr>
            <a:r>
              <a:t>05</a:t>
            </a:r>
          </a:p>
        </p:txBody>
      </p:sp>
      <p:sp>
        <p:nvSpPr>
          <p:cNvPr id="7" name="Rounded Rectangle 6"/>
          <p:cNvSpPr/>
          <p:nvPr/>
        </p:nvSpPr>
        <p:spPr>
          <a:xfrm>
            <a:off x="621792" y="2514600"/>
            <a:ext cx="5303520" cy="1179576"/>
          </a:xfrm>
          <a:prstGeom prst="roundRect">
            <a:avLst/>
          </a:prstGeom>
          <a:solidFill>
            <a:srgbClr val="132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2697480"/>
            <a:ext cx="4754880" cy="301752"/>
          </a:xfrm>
          <a:prstGeom prst="rect">
            <a:avLst/>
          </a:prstGeom>
          <a:noFill/>
        </p:spPr>
        <p:txBody>
          <a:bodyPr wrap="square" lIns="18288" rIns="18288" tIns="18288">
            <a:spAutoFit/>
          </a:bodyPr>
          <a:lstStyle/>
          <a:p>
            <a:pPr>
              <a:spcAft>
                <a:spcPts val="400"/>
              </a:spcAft>
              <a:defRPr sz="1700" b="1">
                <a:solidFill>
                  <a:srgbClr val="45D1BF"/>
                </a:solidFill>
                <a:latin typeface="Aptos"/>
              </a:defRPr>
            </a:pPr>
            <a:r>
              <a:t>WHO + WHAT</a:t>
            </a:r>
          </a:p>
        </p:txBody>
      </p:sp>
      <p:sp>
        <p:nvSpPr>
          <p:cNvPr id="9" name="TextBox 8"/>
          <p:cNvSpPr txBox="1"/>
          <p:nvPr/>
        </p:nvSpPr>
        <p:spPr>
          <a:xfrm>
            <a:off x="804672" y="3099816"/>
            <a:ext cx="4754880" cy="292608"/>
          </a:xfrm>
          <a:prstGeom prst="rect">
            <a:avLst/>
          </a:prstGeom>
          <a:noFill/>
        </p:spPr>
        <p:txBody>
          <a:bodyPr wrap="square" lIns="18288" rIns="18288" tIns="18288">
            <a:spAutoFit/>
          </a:bodyPr>
          <a:lstStyle/>
          <a:p>
            <a:pPr>
              <a:spcAft>
                <a:spcPts val="400"/>
              </a:spcAft>
              <a:defRPr sz="1600" b="0">
                <a:solidFill>
                  <a:srgbClr val="EAF1FA"/>
                </a:solidFill>
                <a:latin typeface="Aptos"/>
              </a:defRPr>
            </a:pPr>
            <a:r>
              <a:t>Adult, product, physical action</a:t>
            </a:r>
          </a:p>
        </p:txBody>
      </p:sp>
      <p:sp>
        <p:nvSpPr>
          <p:cNvPr id="10" name="Rounded Rectangle 9"/>
          <p:cNvSpPr/>
          <p:nvPr/>
        </p:nvSpPr>
        <p:spPr>
          <a:xfrm>
            <a:off x="6291072" y="2514600"/>
            <a:ext cx="5303520" cy="1179576"/>
          </a:xfrm>
          <a:prstGeom prst="roundRect">
            <a:avLst/>
          </a:prstGeom>
          <a:solidFill>
            <a:srgbClr val="132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3952" y="2697480"/>
            <a:ext cx="4754880" cy="301752"/>
          </a:xfrm>
          <a:prstGeom prst="rect">
            <a:avLst/>
          </a:prstGeom>
          <a:noFill/>
        </p:spPr>
        <p:txBody>
          <a:bodyPr wrap="square" lIns="18288" rIns="18288" tIns="18288">
            <a:spAutoFit/>
          </a:bodyPr>
          <a:lstStyle/>
          <a:p>
            <a:pPr>
              <a:spcAft>
                <a:spcPts val="400"/>
              </a:spcAft>
              <a:defRPr sz="1700" b="1">
                <a:solidFill>
                  <a:srgbClr val="45D1BF"/>
                </a:solidFill>
                <a:latin typeface="Aptos"/>
              </a:defRPr>
            </a:pPr>
            <a:r>
              <a:t>HOW IT MOVES</a:t>
            </a:r>
          </a:p>
        </p:txBody>
      </p:sp>
      <p:sp>
        <p:nvSpPr>
          <p:cNvPr id="12" name="TextBox 11"/>
          <p:cNvSpPr txBox="1"/>
          <p:nvPr/>
        </p:nvSpPr>
        <p:spPr>
          <a:xfrm>
            <a:off x="6473952" y="3099816"/>
            <a:ext cx="4754880" cy="292608"/>
          </a:xfrm>
          <a:prstGeom prst="rect">
            <a:avLst/>
          </a:prstGeom>
          <a:noFill/>
        </p:spPr>
        <p:txBody>
          <a:bodyPr wrap="square" lIns="18288" rIns="18288" tIns="18288">
            <a:spAutoFit/>
          </a:bodyPr>
          <a:lstStyle/>
          <a:p>
            <a:pPr>
              <a:spcAft>
                <a:spcPts val="400"/>
              </a:spcAft>
              <a:defRPr sz="1600" b="0">
                <a:solidFill>
                  <a:srgbClr val="EAF1FA"/>
                </a:solidFill>
                <a:latin typeface="Aptos"/>
              </a:defRPr>
            </a:pPr>
            <a:r>
              <a:t>Tracking shot, hand action, breeze</a:t>
            </a:r>
          </a:p>
        </p:txBody>
      </p:sp>
      <p:sp>
        <p:nvSpPr>
          <p:cNvPr id="13" name="Rounded Rectangle 12"/>
          <p:cNvSpPr/>
          <p:nvPr/>
        </p:nvSpPr>
        <p:spPr>
          <a:xfrm>
            <a:off x="621792" y="3931920"/>
            <a:ext cx="5303520" cy="1179576"/>
          </a:xfrm>
          <a:prstGeom prst="roundRect">
            <a:avLst/>
          </a:prstGeom>
          <a:solidFill>
            <a:srgbClr val="132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4114800"/>
            <a:ext cx="4754880" cy="301752"/>
          </a:xfrm>
          <a:prstGeom prst="rect">
            <a:avLst/>
          </a:prstGeom>
          <a:noFill/>
        </p:spPr>
        <p:txBody>
          <a:bodyPr wrap="square" lIns="18288" rIns="18288" tIns="18288">
            <a:spAutoFit/>
          </a:bodyPr>
          <a:lstStyle/>
          <a:p>
            <a:pPr>
              <a:spcAft>
                <a:spcPts val="400"/>
              </a:spcAft>
              <a:defRPr sz="1700" b="1">
                <a:solidFill>
                  <a:srgbClr val="45D1BF"/>
                </a:solidFill>
                <a:latin typeface="Aptos"/>
              </a:defRPr>
            </a:pPr>
            <a:r>
              <a:t>HOW IT LOOKS</a:t>
            </a:r>
          </a:p>
        </p:txBody>
      </p:sp>
      <p:sp>
        <p:nvSpPr>
          <p:cNvPr id="15" name="TextBox 14"/>
          <p:cNvSpPr txBox="1"/>
          <p:nvPr/>
        </p:nvSpPr>
        <p:spPr>
          <a:xfrm>
            <a:off x="804672" y="4517136"/>
            <a:ext cx="4754880" cy="292608"/>
          </a:xfrm>
          <a:prstGeom prst="rect">
            <a:avLst/>
          </a:prstGeom>
          <a:noFill/>
        </p:spPr>
        <p:txBody>
          <a:bodyPr wrap="square" lIns="18288" rIns="18288" tIns="18288">
            <a:spAutoFit/>
          </a:bodyPr>
          <a:lstStyle/>
          <a:p>
            <a:pPr>
              <a:spcAft>
                <a:spcPts val="400"/>
              </a:spcAft>
              <a:defRPr sz="1600" b="0">
                <a:solidFill>
                  <a:srgbClr val="EAF1FA"/>
                </a:solidFill>
                <a:latin typeface="Aptos"/>
              </a:defRPr>
            </a:pPr>
            <a:r>
              <a:t>Golden light, lens, cinematic colour</a:t>
            </a:r>
          </a:p>
        </p:txBody>
      </p:sp>
      <p:sp>
        <p:nvSpPr>
          <p:cNvPr id="16" name="Rounded Rectangle 15"/>
          <p:cNvSpPr/>
          <p:nvPr/>
        </p:nvSpPr>
        <p:spPr>
          <a:xfrm>
            <a:off x="6291072" y="3931920"/>
            <a:ext cx="5303520" cy="1179576"/>
          </a:xfrm>
          <a:prstGeom prst="roundRect">
            <a:avLst/>
          </a:prstGeom>
          <a:solidFill>
            <a:srgbClr val="132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73952" y="4114800"/>
            <a:ext cx="4754880" cy="301752"/>
          </a:xfrm>
          <a:prstGeom prst="rect">
            <a:avLst/>
          </a:prstGeom>
          <a:noFill/>
        </p:spPr>
        <p:txBody>
          <a:bodyPr wrap="square" lIns="18288" rIns="18288" tIns="18288">
            <a:spAutoFit/>
          </a:bodyPr>
          <a:lstStyle/>
          <a:p>
            <a:pPr>
              <a:spcAft>
                <a:spcPts val="400"/>
              </a:spcAft>
              <a:defRPr sz="1700" b="1">
                <a:solidFill>
                  <a:srgbClr val="45D1BF"/>
                </a:solidFill>
                <a:latin typeface="Aptos"/>
              </a:defRPr>
            </a:pPr>
            <a:r>
              <a:t>WHAT MUST NOT CHANGE</a:t>
            </a:r>
          </a:p>
        </p:txBody>
      </p:sp>
      <p:sp>
        <p:nvSpPr>
          <p:cNvPr id="18" name="TextBox 17"/>
          <p:cNvSpPr txBox="1"/>
          <p:nvPr/>
        </p:nvSpPr>
        <p:spPr>
          <a:xfrm>
            <a:off x="6473952" y="4517136"/>
            <a:ext cx="4754880" cy="292608"/>
          </a:xfrm>
          <a:prstGeom prst="rect">
            <a:avLst/>
          </a:prstGeom>
          <a:noFill/>
        </p:spPr>
        <p:txBody>
          <a:bodyPr wrap="square" lIns="18288" rIns="18288" tIns="18288">
            <a:spAutoFit/>
          </a:bodyPr>
          <a:lstStyle/>
          <a:p>
            <a:pPr>
              <a:spcAft>
                <a:spcPts val="400"/>
              </a:spcAft>
              <a:defRPr sz="1600" b="0">
                <a:solidFill>
                  <a:srgbClr val="EAF1FA"/>
                </a:solidFill>
                <a:latin typeface="Aptos"/>
              </a:defRPr>
            </a:pPr>
            <a:r>
              <a:t>Same actor, cap, outfit, proportions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3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45D1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tretch>
            <a:fillRect/>
          </a:stretch>
        </p:blipFill>
        <p:spPr>
          <a:xfrm>
            <a:off x="6446520" y="0"/>
            <a:ext cx="5760720" cy="6858000"/>
          </a:xfrm>
          <a:prstGeom prst="rect">
            <a:avLst/>
          </a:prstGeom>
        </p:spPr>
      </p:pic>
      <p:sp>
        <p:nvSpPr>
          <p:cNvPr id="4" name="Rectangle 3"/>
          <p:cNvSpPr/>
          <p:nvPr/>
        </p:nvSpPr>
        <p:spPr>
          <a:xfrm>
            <a:off x="6382512" y="0"/>
            <a:ext cx="109728" cy="6858000"/>
          </a:xfrm>
          <a:prstGeom prst="rect">
            <a:avLst/>
          </a:prstGeom>
          <a:solidFill>
            <a:srgbClr val="F5C1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75488" y="283464"/>
            <a:ext cx="5852160" cy="274320"/>
          </a:xfrm>
          <a:prstGeom prst="rect">
            <a:avLst/>
          </a:prstGeom>
          <a:noFill/>
        </p:spPr>
        <p:txBody>
          <a:bodyPr wrap="square" lIns="18288" rIns="18288" tIns="18288">
            <a:spAutoFit/>
          </a:bodyPr>
          <a:lstStyle/>
          <a:p>
            <a:pPr>
              <a:spcAft>
                <a:spcPts val="400"/>
              </a:spcAft>
              <a:defRPr sz="1100" b="1">
                <a:solidFill>
                  <a:srgbClr val="45D1BF"/>
                </a:solidFill>
                <a:latin typeface="Aptos"/>
              </a:defRPr>
            </a:pPr>
            <a:r>
              <a:t>AI IN ACTION   /   MODULE 03</a:t>
            </a:r>
          </a:p>
        </p:txBody>
      </p:sp>
      <p:sp>
        <p:nvSpPr>
          <p:cNvPr id="6" name="TextBox 5"/>
          <p:cNvSpPr txBox="1"/>
          <p:nvPr/>
        </p:nvSpPr>
        <p:spPr>
          <a:xfrm>
            <a:off x="438912" y="685800"/>
            <a:ext cx="5806440" cy="1188720"/>
          </a:xfrm>
          <a:prstGeom prst="rect">
            <a:avLst/>
          </a:prstGeom>
          <a:noFill/>
        </p:spPr>
        <p:txBody>
          <a:bodyPr wrap="square" lIns="18288" rIns="18288" tIns="18288">
            <a:spAutoFit/>
          </a:bodyPr>
          <a:lstStyle/>
          <a:p>
            <a:pPr>
              <a:spcAft>
                <a:spcPts val="400"/>
              </a:spcAft>
              <a:defRPr sz="3300" b="1">
                <a:solidFill>
                  <a:srgbClr val="EAF1FA"/>
                </a:solidFill>
                <a:latin typeface="Aptos"/>
              </a:defRPr>
            </a:pPr>
            <a:r>
              <a:t>Generate the Reference Frames</a:t>
            </a:r>
          </a:p>
        </p:txBody>
      </p:sp>
      <p:sp>
        <p:nvSpPr>
          <p:cNvPr id="7" name="TextBox 6"/>
          <p:cNvSpPr txBox="1"/>
          <p:nvPr/>
        </p:nvSpPr>
        <p:spPr>
          <a:xfrm>
            <a:off x="457200" y="1847088"/>
            <a:ext cx="5715000" cy="393192"/>
          </a:xfrm>
          <a:prstGeom prst="rect">
            <a:avLst/>
          </a:prstGeom>
          <a:noFill/>
        </p:spPr>
        <p:txBody>
          <a:bodyPr wrap="square" lIns="18288" rIns="18288" tIns="18288">
            <a:spAutoFit/>
          </a:bodyPr>
          <a:lstStyle/>
          <a:p>
            <a:pPr>
              <a:spcAft>
                <a:spcPts val="400"/>
              </a:spcAft>
              <a:defRPr sz="1300" b="0">
                <a:solidFill>
                  <a:srgbClr val="F5C16C"/>
                </a:solidFill>
                <a:latin typeface="Aptos"/>
              </a:defRPr>
            </a:pPr>
            <a:r>
              <a:t>STORYBOARD IMAGES  ≠  FINAL VIDEO</a:t>
            </a:r>
          </a:p>
        </p:txBody>
      </p:sp>
      <p:sp>
        <p:nvSpPr>
          <p:cNvPr id="8" name="TextBox 7"/>
          <p:cNvSpPr txBox="1"/>
          <p:nvPr/>
        </p:nvSpPr>
        <p:spPr>
          <a:xfrm>
            <a:off x="11448288" y="6492240"/>
            <a:ext cx="384048" cy="210312"/>
          </a:xfrm>
          <a:prstGeom prst="rect">
            <a:avLst/>
          </a:prstGeom>
          <a:noFill/>
        </p:spPr>
        <p:txBody>
          <a:bodyPr wrap="square" lIns="18288" rIns="18288" tIns="18288">
            <a:spAutoFit/>
          </a:bodyPr>
          <a:lstStyle/>
          <a:p>
            <a:pPr>
              <a:spcAft>
                <a:spcPts val="400"/>
              </a:spcAft>
              <a:defRPr sz="1000" b="0">
                <a:solidFill>
                  <a:srgbClr val="AFC0D6"/>
                </a:solidFill>
                <a:latin typeface="Aptos"/>
              </a:defRPr>
            </a:pPr>
            <a:r>
              <a:t>06</a:t>
            </a:r>
          </a:p>
        </p:txBody>
      </p:sp>
      <p:sp>
        <p:nvSpPr>
          <p:cNvPr id="9" name="TextBox 8"/>
          <p:cNvSpPr txBox="1"/>
          <p:nvPr/>
        </p:nvSpPr>
        <p:spPr>
          <a:xfrm>
            <a:off x="502920" y="2862072"/>
            <a:ext cx="5486400" cy="2194560"/>
          </a:xfrm>
          <a:prstGeom prst="rect">
            <a:avLst/>
          </a:prstGeom>
          <a:noFill/>
        </p:spPr>
        <p:txBody>
          <a:bodyPr wrap="square" lIns="18288" rIns="18288" tIns="18288">
            <a:spAutoFit/>
          </a:bodyPr>
          <a:lstStyle/>
          <a:p>
            <a:pPr>
              <a:spcAft>
                <a:spcPts val="400"/>
              </a:spcAft>
              <a:defRPr sz="2100" b="0">
                <a:solidFill>
                  <a:srgbClr val="EAF1FA"/>
                </a:solidFill>
                <a:latin typeface="Aptos"/>
              </a:defRPr>
            </a:pPr>
            <a:r>
              <a:t>Generate one approved still per scene.</a:t>
            </a:r>
          </a:p>
          <a:p>
            <a:pPr>
              <a:spcAft>
                <a:spcPts val="400"/>
              </a:spcAft>
              <a:defRPr sz="2100" b="0">
                <a:solidFill>
                  <a:srgbClr val="EAF1FA"/>
                </a:solidFill>
                <a:latin typeface="Aptos"/>
              </a:defRPr>
            </a:pPr>
            <a:r>
              <a:t>Keep character + product DNA consistent.</a:t>
            </a:r>
          </a:p>
          <a:p>
            <a:pPr>
              <a:spcAft>
                <a:spcPts val="400"/>
              </a:spcAft>
              <a:defRPr sz="2100" b="0">
                <a:solidFill>
                  <a:srgbClr val="EAF1FA"/>
                </a:solidFill>
                <a:latin typeface="Aptos"/>
              </a:defRPr>
            </a:pPr>
            <a:r>
              <a:t>Verify the bottle against an authorised reference.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3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45D1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tretch>
            <a:fillRect/>
          </a:stretch>
        </p:blipFill>
        <p:spPr>
          <a:xfrm>
            <a:off x="6446520" y="0"/>
            <a:ext cx="5760720" cy="6858000"/>
          </a:xfrm>
          <a:prstGeom prst="rect">
            <a:avLst/>
          </a:prstGeom>
        </p:spPr>
      </p:pic>
      <p:sp>
        <p:nvSpPr>
          <p:cNvPr id="4" name="Rectangle 3"/>
          <p:cNvSpPr/>
          <p:nvPr/>
        </p:nvSpPr>
        <p:spPr>
          <a:xfrm>
            <a:off x="6382512" y="0"/>
            <a:ext cx="109728" cy="6858000"/>
          </a:xfrm>
          <a:prstGeom prst="rect">
            <a:avLst/>
          </a:prstGeom>
          <a:solidFill>
            <a:srgbClr val="F5C1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75488" y="283464"/>
            <a:ext cx="5852160" cy="274320"/>
          </a:xfrm>
          <a:prstGeom prst="rect">
            <a:avLst/>
          </a:prstGeom>
          <a:noFill/>
        </p:spPr>
        <p:txBody>
          <a:bodyPr wrap="square" lIns="18288" rIns="18288" tIns="18288">
            <a:spAutoFit/>
          </a:bodyPr>
          <a:lstStyle/>
          <a:p>
            <a:pPr>
              <a:spcAft>
                <a:spcPts val="400"/>
              </a:spcAft>
              <a:defRPr sz="1100" b="1">
                <a:solidFill>
                  <a:srgbClr val="45D1BF"/>
                </a:solidFill>
                <a:latin typeface="Aptos"/>
              </a:defRPr>
            </a:pPr>
            <a:r>
              <a:t>AI IN ACTION   /   MODULE 03</a:t>
            </a:r>
          </a:p>
        </p:txBody>
      </p:sp>
      <p:sp>
        <p:nvSpPr>
          <p:cNvPr id="6" name="TextBox 5"/>
          <p:cNvSpPr txBox="1"/>
          <p:nvPr/>
        </p:nvSpPr>
        <p:spPr>
          <a:xfrm>
            <a:off x="438912" y="685800"/>
            <a:ext cx="5806440" cy="1188720"/>
          </a:xfrm>
          <a:prstGeom prst="rect">
            <a:avLst/>
          </a:prstGeom>
          <a:noFill/>
        </p:spPr>
        <p:txBody>
          <a:bodyPr wrap="square" lIns="18288" rIns="18288" tIns="18288">
            <a:spAutoFit/>
          </a:bodyPr>
          <a:lstStyle/>
          <a:p>
            <a:pPr>
              <a:spcAft>
                <a:spcPts val="400"/>
              </a:spcAft>
              <a:defRPr sz="3300" b="1">
                <a:solidFill>
                  <a:srgbClr val="EAF1FA"/>
                </a:solidFill>
                <a:latin typeface="Aptos"/>
              </a:defRPr>
            </a:pPr>
            <a:r>
              <a:t>Turn Frames into Motion</a:t>
            </a:r>
          </a:p>
        </p:txBody>
      </p:sp>
      <p:sp>
        <p:nvSpPr>
          <p:cNvPr id="7" name="TextBox 6"/>
          <p:cNvSpPr txBox="1"/>
          <p:nvPr/>
        </p:nvSpPr>
        <p:spPr>
          <a:xfrm>
            <a:off x="457200" y="1847088"/>
            <a:ext cx="5715000" cy="393192"/>
          </a:xfrm>
          <a:prstGeom prst="rect">
            <a:avLst/>
          </a:prstGeom>
          <a:noFill/>
        </p:spPr>
        <p:txBody>
          <a:bodyPr wrap="square" lIns="18288" rIns="18288" tIns="18288">
            <a:spAutoFit/>
          </a:bodyPr>
          <a:lstStyle/>
          <a:p>
            <a:pPr>
              <a:spcAft>
                <a:spcPts val="400"/>
              </a:spcAft>
              <a:defRPr sz="1300" b="0">
                <a:solidFill>
                  <a:srgbClr val="F5C16C"/>
                </a:solidFill>
                <a:latin typeface="Aptos"/>
              </a:defRPr>
            </a:pPr>
            <a:r>
              <a:t>GOOGLE VIDS · VEO IMAGE-TO-VIDEO</a:t>
            </a:r>
          </a:p>
        </p:txBody>
      </p:sp>
      <p:sp>
        <p:nvSpPr>
          <p:cNvPr id="8" name="TextBox 7"/>
          <p:cNvSpPr txBox="1"/>
          <p:nvPr/>
        </p:nvSpPr>
        <p:spPr>
          <a:xfrm>
            <a:off x="11448288" y="6492240"/>
            <a:ext cx="384048" cy="210312"/>
          </a:xfrm>
          <a:prstGeom prst="rect">
            <a:avLst/>
          </a:prstGeom>
          <a:noFill/>
        </p:spPr>
        <p:txBody>
          <a:bodyPr wrap="square" lIns="18288" rIns="18288" tIns="18288">
            <a:spAutoFit/>
          </a:bodyPr>
          <a:lstStyle/>
          <a:p>
            <a:pPr>
              <a:spcAft>
                <a:spcPts val="400"/>
              </a:spcAft>
              <a:defRPr sz="1000" b="0">
                <a:solidFill>
                  <a:srgbClr val="AFC0D6"/>
                </a:solidFill>
                <a:latin typeface="Aptos"/>
              </a:defRPr>
            </a:pPr>
            <a:r>
              <a:t>07</a:t>
            </a:r>
          </a:p>
        </p:txBody>
      </p:sp>
      <p:sp>
        <p:nvSpPr>
          <p:cNvPr id="9" name="TextBox 8"/>
          <p:cNvSpPr txBox="1"/>
          <p:nvPr/>
        </p:nvSpPr>
        <p:spPr>
          <a:xfrm>
            <a:off x="502920" y="2880360"/>
            <a:ext cx="5394960" cy="2377440"/>
          </a:xfrm>
          <a:prstGeom prst="rect">
            <a:avLst/>
          </a:prstGeom>
          <a:noFill/>
        </p:spPr>
        <p:txBody>
          <a:bodyPr wrap="square" lIns="18288" rIns="18288" tIns="18288">
            <a:spAutoFit/>
          </a:bodyPr>
          <a:lstStyle/>
          <a:p>
            <a:pPr>
              <a:spcAft>
                <a:spcPts val="400"/>
              </a:spcAft>
              <a:defRPr sz="2100" b="0">
                <a:solidFill>
                  <a:srgbClr val="EAF1FA"/>
                </a:solidFill>
                <a:latin typeface="Aptos"/>
              </a:defRPr>
            </a:pPr>
            <a:r>
              <a:t>Person walks • Clothing moves • Camera tracks</a:t>
            </a:r>
          </a:p>
          <a:p>
            <a:pPr>
              <a:spcAft>
                <a:spcPts val="400"/>
              </a:spcAft>
              <a:defRPr sz="2100" b="0">
                <a:solidFill>
                  <a:srgbClr val="EAF1FA"/>
                </a:solidFill>
                <a:latin typeface="Aptos"/>
              </a:defRPr>
            </a:pPr>
          </a:p>
          <a:p>
            <a:pPr>
              <a:spcAft>
                <a:spcPts val="400"/>
              </a:spcAft>
              <a:defRPr sz="2100" b="0">
                <a:solidFill>
                  <a:srgbClr val="EAF1FA"/>
                </a:solidFill>
                <a:latin typeface="Aptos"/>
              </a:defRPr>
            </a:pPr>
            <a:r>
              <a:t>No slideshow zooms.</a:t>
            </a:r>
          </a:p>
          <a:p>
            <a:pPr>
              <a:spcAft>
                <a:spcPts val="400"/>
              </a:spcAft>
              <a:defRPr sz="2100" b="0">
                <a:solidFill>
                  <a:srgbClr val="EAF1FA"/>
                </a:solidFill>
                <a:latin typeface="Aptos"/>
              </a:defRPr>
            </a:pPr>
            <a:r>
              <a:t>No distorted hands or changing bottle shape.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3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45D1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75488" y="283464"/>
            <a:ext cx="5852160" cy="274320"/>
          </a:xfrm>
          <a:prstGeom prst="rect">
            <a:avLst/>
          </a:prstGeom>
          <a:noFill/>
        </p:spPr>
        <p:txBody>
          <a:bodyPr wrap="square" lIns="18288" rIns="18288" tIns="18288">
            <a:spAutoFit/>
          </a:bodyPr>
          <a:lstStyle/>
          <a:p>
            <a:pPr>
              <a:spcAft>
                <a:spcPts val="400"/>
              </a:spcAft>
              <a:defRPr sz="1100" b="1">
                <a:solidFill>
                  <a:srgbClr val="45D1BF"/>
                </a:solidFill>
                <a:latin typeface="Aptos"/>
              </a:defRPr>
            </a:pPr>
            <a:r>
              <a:t>AI IN ACTION   /   MODULE 03</a:t>
            </a:r>
          </a:p>
        </p:txBody>
      </p:sp>
      <p:sp>
        <p:nvSpPr>
          <p:cNvPr id="4" name="TextBox 3"/>
          <p:cNvSpPr txBox="1"/>
          <p:nvPr/>
        </p:nvSpPr>
        <p:spPr>
          <a:xfrm>
            <a:off x="438912" y="685800"/>
            <a:ext cx="5806440" cy="1188720"/>
          </a:xfrm>
          <a:prstGeom prst="rect">
            <a:avLst/>
          </a:prstGeom>
          <a:noFill/>
        </p:spPr>
        <p:txBody>
          <a:bodyPr wrap="square" lIns="18288" rIns="18288" tIns="18288">
            <a:spAutoFit/>
          </a:bodyPr>
          <a:lstStyle/>
          <a:p>
            <a:pPr>
              <a:spcAft>
                <a:spcPts val="400"/>
              </a:spcAft>
              <a:defRPr sz="3300" b="1">
                <a:solidFill>
                  <a:srgbClr val="EAF1FA"/>
                </a:solidFill>
                <a:latin typeface="Aptos"/>
              </a:defRPr>
            </a:pPr>
            <a:r>
              <a:t>Make the Voice Sound Human</a:t>
            </a:r>
          </a:p>
        </p:txBody>
      </p:sp>
      <p:sp>
        <p:nvSpPr>
          <p:cNvPr id="5" name="TextBox 4"/>
          <p:cNvSpPr txBox="1"/>
          <p:nvPr/>
        </p:nvSpPr>
        <p:spPr>
          <a:xfrm>
            <a:off x="457200" y="1847088"/>
            <a:ext cx="5715000" cy="393192"/>
          </a:xfrm>
          <a:prstGeom prst="rect">
            <a:avLst/>
          </a:prstGeom>
          <a:noFill/>
        </p:spPr>
        <p:txBody>
          <a:bodyPr wrap="square" lIns="18288" rIns="18288" tIns="18288">
            <a:spAutoFit/>
          </a:bodyPr>
          <a:lstStyle/>
          <a:p>
            <a:pPr>
              <a:spcAft>
                <a:spcPts val="400"/>
              </a:spcAft>
              <a:defRPr sz="1300" b="0">
                <a:solidFill>
                  <a:srgbClr val="F5C16C"/>
                </a:solidFill>
                <a:latin typeface="Aptos"/>
              </a:defRPr>
            </a:pPr>
            <a:r>
              <a:t>MINIMAX SPEECH OR ELIGIBLE GOOGLE VIDS VOICEOVER</a:t>
            </a:r>
          </a:p>
        </p:txBody>
      </p:sp>
      <p:sp>
        <p:nvSpPr>
          <p:cNvPr id="6" name="TextBox 5"/>
          <p:cNvSpPr txBox="1"/>
          <p:nvPr/>
        </p:nvSpPr>
        <p:spPr>
          <a:xfrm>
            <a:off x="11448288" y="6492240"/>
            <a:ext cx="384048" cy="210312"/>
          </a:xfrm>
          <a:prstGeom prst="rect">
            <a:avLst/>
          </a:prstGeom>
          <a:noFill/>
        </p:spPr>
        <p:txBody>
          <a:bodyPr wrap="square" lIns="18288" rIns="18288" tIns="18288">
            <a:spAutoFit/>
          </a:bodyPr>
          <a:lstStyle/>
          <a:p>
            <a:pPr>
              <a:spcAft>
                <a:spcPts val="400"/>
              </a:spcAft>
              <a:defRPr sz="1000" b="0">
                <a:solidFill>
                  <a:srgbClr val="AFC0D6"/>
                </a:solidFill>
                <a:latin typeface="Aptos"/>
              </a:defRPr>
            </a:pPr>
            <a:r>
              <a:t>08</a:t>
            </a:r>
          </a:p>
        </p:txBody>
      </p:sp>
      <p:sp>
        <p:nvSpPr>
          <p:cNvPr id="7" name="Rounded Rectangle 6"/>
          <p:cNvSpPr/>
          <p:nvPr/>
        </p:nvSpPr>
        <p:spPr>
          <a:xfrm>
            <a:off x="640080" y="2468880"/>
            <a:ext cx="10881360" cy="1325880"/>
          </a:xfrm>
          <a:prstGeom prst="roundRect">
            <a:avLst/>
          </a:prstGeom>
          <a:solidFill>
            <a:srgbClr val="132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752344"/>
            <a:ext cx="9966960" cy="960120"/>
          </a:xfrm>
          <a:prstGeom prst="rect">
            <a:avLst/>
          </a:prstGeom>
          <a:noFill/>
        </p:spPr>
        <p:txBody>
          <a:bodyPr wrap="square" lIns="18288" rIns="18288" tIns="18288">
            <a:spAutoFit/>
          </a:bodyPr>
          <a:lstStyle/>
          <a:p>
            <a:pPr>
              <a:spcAft>
                <a:spcPts val="400"/>
              </a:spcAft>
              <a:defRPr sz="2200" b="0">
                <a:solidFill>
                  <a:srgbClr val="EAF1FA"/>
                </a:solidFill>
                <a:latin typeface="Aptos"/>
              </a:defRPr>
            </a:pPr>
            <a:r>
              <a:t>“Every journey begins with a moment.</a:t>
            </a:r>
          </a:p>
          <a:p>
            <a:pPr>
              <a:spcAft>
                <a:spcPts val="400"/>
              </a:spcAft>
              <a:defRPr sz="2200" b="0">
                <a:solidFill>
                  <a:srgbClr val="EAF1FA"/>
                </a:solidFill>
                <a:latin typeface="Aptos"/>
              </a:defRPr>
            </a:pPr>
            <a:r>
              <a:t>From busy mornings to open horizons...”</a:t>
            </a:r>
          </a:p>
        </p:txBody>
      </p:sp>
      <p:sp>
        <p:nvSpPr>
          <p:cNvPr id="9" name="Rounded Rectangle 8"/>
          <p:cNvSpPr/>
          <p:nvPr/>
        </p:nvSpPr>
        <p:spPr>
          <a:xfrm>
            <a:off x="640080" y="4187952"/>
            <a:ext cx="3419856" cy="1097280"/>
          </a:xfrm>
          <a:prstGeom prst="roundRect">
            <a:avLst/>
          </a:prstGeom>
          <a:solidFill>
            <a:srgbClr val="132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425696"/>
            <a:ext cx="3063240" cy="256032"/>
          </a:xfrm>
          <a:prstGeom prst="rect">
            <a:avLst/>
          </a:prstGeom>
          <a:noFill/>
        </p:spPr>
        <p:txBody>
          <a:bodyPr wrap="square" lIns="18288" rIns="18288" tIns="18288">
            <a:spAutoFit/>
          </a:bodyPr>
          <a:lstStyle/>
          <a:p>
            <a:pPr>
              <a:spcAft>
                <a:spcPts val="400"/>
              </a:spcAft>
              <a:defRPr sz="1500" b="1">
                <a:solidFill>
                  <a:srgbClr val="45D1BF"/>
                </a:solidFill>
                <a:latin typeface="Aptos"/>
              </a:defRPr>
            </a:pPr>
            <a:r>
              <a:t>WARM</a:t>
            </a:r>
          </a:p>
        </p:txBody>
      </p:sp>
      <p:sp>
        <p:nvSpPr>
          <p:cNvPr id="11" name="TextBox 10"/>
          <p:cNvSpPr txBox="1"/>
          <p:nvPr/>
        </p:nvSpPr>
        <p:spPr>
          <a:xfrm>
            <a:off x="868680" y="4773168"/>
            <a:ext cx="2990088" cy="274320"/>
          </a:xfrm>
          <a:prstGeom prst="rect">
            <a:avLst/>
          </a:prstGeom>
          <a:noFill/>
        </p:spPr>
        <p:txBody>
          <a:bodyPr wrap="square" lIns="18288" rIns="18288" tIns="18288">
            <a:spAutoFit/>
          </a:bodyPr>
          <a:lstStyle/>
          <a:p>
            <a:pPr>
              <a:spcAft>
                <a:spcPts val="400"/>
              </a:spcAft>
              <a:defRPr sz="1300" b="0">
                <a:solidFill>
                  <a:srgbClr val="EAF1FA"/>
                </a:solidFill>
                <a:latin typeface="Aptos"/>
              </a:defRPr>
            </a:pPr>
            <a:r>
              <a:t>Natural Indian English</a:t>
            </a:r>
          </a:p>
        </p:txBody>
      </p:sp>
      <p:sp>
        <p:nvSpPr>
          <p:cNvPr id="12" name="Rounded Rectangle 11"/>
          <p:cNvSpPr/>
          <p:nvPr/>
        </p:nvSpPr>
        <p:spPr>
          <a:xfrm>
            <a:off x="4370832" y="4187952"/>
            <a:ext cx="3419856" cy="1097280"/>
          </a:xfrm>
          <a:prstGeom prst="roundRect">
            <a:avLst/>
          </a:prstGeom>
          <a:solidFill>
            <a:srgbClr val="132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9432" y="4425696"/>
            <a:ext cx="3063240" cy="256032"/>
          </a:xfrm>
          <a:prstGeom prst="rect">
            <a:avLst/>
          </a:prstGeom>
          <a:noFill/>
        </p:spPr>
        <p:txBody>
          <a:bodyPr wrap="square" lIns="18288" rIns="18288" tIns="18288">
            <a:spAutoFit/>
          </a:bodyPr>
          <a:lstStyle/>
          <a:p>
            <a:pPr>
              <a:spcAft>
                <a:spcPts val="400"/>
              </a:spcAft>
              <a:defRPr sz="1500" b="1">
                <a:solidFill>
                  <a:srgbClr val="45D1BF"/>
                </a:solidFill>
                <a:latin typeface="Aptos"/>
              </a:defRPr>
            </a:pPr>
            <a:r>
              <a:t>CONTROLLED</a:t>
            </a:r>
          </a:p>
        </p:txBody>
      </p:sp>
      <p:sp>
        <p:nvSpPr>
          <p:cNvPr id="14" name="TextBox 13"/>
          <p:cNvSpPr txBox="1"/>
          <p:nvPr/>
        </p:nvSpPr>
        <p:spPr>
          <a:xfrm>
            <a:off x="4599432" y="4773168"/>
            <a:ext cx="2990088" cy="274320"/>
          </a:xfrm>
          <a:prstGeom prst="rect">
            <a:avLst/>
          </a:prstGeom>
          <a:noFill/>
        </p:spPr>
        <p:txBody>
          <a:bodyPr wrap="square" lIns="18288" rIns="18288" tIns="18288">
            <a:spAutoFit/>
          </a:bodyPr>
          <a:lstStyle/>
          <a:p>
            <a:pPr>
              <a:spcAft>
                <a:spcPts val="400"/>
              </a:spcAft>
              <a:defRPr sz="1300" b="0">
                <a:solidFill>
                  <a:srgbClr val="EAF1FA"/>
                </a:solidFill>
                <a:latin typeface="Aptos"/>
              </a:defRPr>
            </a:pPr>
            <a:r>
              <a:t>Small pauses, no rushing</a:t>
            </a:r>
          </a:p>
        </p:txBody>
      </p:sp>
      <p:sp>
        <p:nvSpPr>
          <p:cNvPr id="15" name="Rounded Rectangle 14"/>
          <p:cNvSpPr/>
          <p:nvPr/>
        </p:nvSpPr>
        <p:spPr>
          <a:xfrm>
            <a:off x="8101583" y="4187952"/>
            <a:ext cx="3419856" cy="1097280"/>
          </a:xfrm>
          <a:prstGeom prst="roundRect">
            <a:avLst/>
          </a:prstGeom>
          <a:solidFill>
            <a:srgbClr val="132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30183" y="4425696"/>
            <a:ext cx="3063240" cy="256032"/>
          </a:xfrm>
          <a:prstGeom prst="rect">
            <a:avLst/>
          </a:prstGeom>
          <a:noFill/>
        </p:spPr>
        <p:txBody>
          <a:bodyPr wrap="square" lIns="18288" rIns="18288" tIns="18288">
            <a:spAutoFit/>
          </a:bodyPr>
          <a:lstStyle/>
          <a:p>
            <a:pPr>
              <a:spcAft>
                <a:spcPts val="400"/>
              </a:spcAft>
              <a:defRPr sz="1500" b="1">
                <a:solidFill>
                  <a:srgbClr val="45D1BF"/>
                </a:solidFill>
                <a:latin typeface="Aptos"/>
              </a:defRPr>
            </a:pPr>
            <a:r>
              <a:t>CREDIBLE</a:t>
            </a:r>
          </a:p>
        </p:txBody>
      </p:sp>
      <p:sp>
        <p:nvSpPr>
          <p:cNvPr id="17" name="TextBox 16"/>
          <p:cNvSpPr txBox="1"/>
          <p:nvPr/>
        </p:nvSpPr>
        <p:spPr>
          <a:xfrm>
            <a:off x="8330183" y="4773168"/>
            <a:ext cx="2990088" cy="274320"/>
          </a:xfrm>
          <a:prstGeom prst="rect">
            <a:avLst/>
          </a:prstGeom>
          <a:noFill/>
        </p:spPr>
        <p:txBody>
          <a:bodyPr wrap="square" lIns="18288" rIns="18288" tIns="18288">
            <a:spAutoFit/>
          </a:bodyPr>
          <a:lstStyle/>
          <a:p>
            <a:pPr>
              <a:spcAft>
                <a:spcPts val="400"/>
              </a:spcAft>
              <a:defRPr sz="1300" b="0">
                <a:solidFill>
                  <a:srgbClr val="EAF1FA"/>
                </a:solidFill>
                <a:latin typeface="Aptos"/>
              </a:defRPr>
            </a:pPr>
            <a:r>
              <a:t>Expressive, not robotic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3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45D1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75488" y="283464"/>
            <a:ext cx="5852160" cy="274320"/>
          </a:xfrm>
          <a:prstGeom prst="rect">
            <a:avLst/>
          </a:prstGeom>
          <a:noFill/>
        </p:spPr>
        <p:txBody>
          <a:bodyPr wrap="square" lIns="18288" rIns="18288" tIns="18288">
            <a:spAutoFit/>
          </a:bodyPr>
          <a:lstStyle/>
          <a:p>
            <a:pPr>
              <a:spcAft>
                <a:spcPts val="400"/>
              </a:spcAft>
              <a:defRPr sz="1100" b="1">
                <a:solidFill>
                  <a:srgbClr val="45D1BF"/>
                </a:solidFill>
                <a:latin typeface="Aptos"/>
              </a:defRPr>
            </a:pPr>
            <a:r>
              <a:t>AI IN ACTION   /   MODULE 03</a:t>
            </a:r>
          </a:p>
        </p:txBody>
      </p:sp>
      <p:sp>
        <p:nvSpPr>
          <p:cNvPr id="4" name="TextBox 3"/>
          <p:cNvSpPr txBox="1"/>
          <p:nvPr/>
        </p:nvSpPr>
        <p:spPr>
          <a:xfrm>
            <a:off x="438912" y="685800"/>
            <a:ext cx="5806440" cy="1188720"/>
          </a:xfrm>
          <a:prstGeom prst="rect">
            <a:avLst/>
          </a:prstGeom>
          <a:noFill/>
        </p:spPr>
        <p:txBody>
          <a:bodyPr wrap="square" lIns="18288" rIns="18288" tIns="18288">
            <a:spAutoFit/>
          </a:bodyPr>
          <a:lstStyle/>
          <a:p>
            <a:pPr>
              <a:spcAft>
                <a:spcPts val="400"/>
              </a:spcAft>
              <a:defRPr sz="3300" b="1">
                <a:solidFill>
                  <a:srgbClr val="EAF1FA"/>
                </a:solidFill>
                <a:latin typeface="Aptos"/>
              </a:defRPr>
            </a:pPr>
            <a:r>
              <a:t>Music Turns Clips into a Film</a:t>
            </a:r>
          </a:p>
        </p:txBody>
      </p:sp>
      <p:sp>
        <p:nvSpPr>
          <p:cNvPr id="5" name="TextBox 4"/>
          <p:cNvSpPr txBox="1"/>
          <p:nvPr/>
        </p:nvSpPr>
        <p:spPr>
          <a:xfrm>
            <a:off x="457200" y="1847088"/>
            <a:ext cx="5715000" cy="393192"/>
          </a:xfrm>
          <a:prstGeom prst="rect">
            <a:avLst/>
          </a:prstGeom>
          <a:noFill/>
        </p:spPr>
        <p:txBody>
          <a:bodyPr wrap="square" lIns="18288" rIns="18288" tIns="18288">
            <a:spAutoFit/>
          </a:bodyPr>
          <a:lstStyle/>
          <a:p>
            <a:pPr>
              <a:spcAft>
                <a:spcPts val="400"/>
              </a:spcAft>
              <a:defRPr sz="1300" b="0">
                <a:solidFill>
                  <a:srgbClr val="F5C16C"/>
                </a:solidFill>
                <a:latin typeface="Aptos"/>
              </a:defRPr>
            </a:pPr>
            <a:r>
              <a:t>MINIMAX MUSIC OR GOOGLE VIDS AI MUSIC</a:t>
            </a:r>
          </a:p>
        </p:txBody>
      </p:sp>
      <p:sp>
        <p:nvSpPr>
          <p:cNvPr id="6" name="TextBox 5"/>
          <p:cNvSpPr txBox="1"/>
          <p:nvPr/>
        </p:nvSpPr>
        <p:spPr>
          <a:xfrm>
            <a:off x="11448288" y="6492240"/>
            <a:ext cx="384048" cy="210312"/>
          </a:xfrm>
          <a:prstGeom prst="rect">
            <a:avLst/>
          </a:prstGeom>
          <a:noFill/>
        </p:spPr>
        <p:txBody>
          <a:bodyPr wrap="square" lIns="18288" rIns="18288" tIns="18288">
            <a:spAutoFit/>
          </a:bodyPr>
          <a:lstStyle/>
          <a:p>
            <a:pPr>
              <a:spcAft>
                <a:spcPts val="400"/>
              </a:spcAft>
              <a:defRPr sz="1000" b="0">
                <a:solidFill>
                  <a:srgbClr val="AFC0D6"/>
                </a:solidFill>
                <a:latin typeface="Aptos"/>
              </a:defRPr>
            </a:pPr>
            <a:r>
              <a:t>09</a:t>
            </a:r>
          </a:p>
        </p:txBody>
      </p:sp>
      <p:sp>
        <p:nvSpPr>
          <p:cNvPr id="7" name="TextBox 6"/>
          <p:cNvSpPr txBox="1"/>
          <p:nvPr/>
        </p:nvSpPr>
        <p:spPr>
          <a:xfrm>
            <a:off x="640080" y="2587752"/>
            <a:ext cx="10881360" cy="457200"/>
          </a:xfrm>
          <a:prstGeom prst="rect">
            <a:avLst/>
          </a:prstGeom>
          <a:noFill/>
        </p:spPr>
        <p:txBody>
          <a:bodyPr wrap="square" lIns="18288" rIns="18288" tIns="18288">
            <a:spAutoFit/>
          </a:bodyPr>
          <a:lstStyle/>
          <a:p>
            <a:pPr>
              <a:spcAft>
                <a:spcPts val="400"/>
              </a:spcAft>
              <a:defRPr sz="2400" b="1">
                <a:solidFill>
                  <a:srgbClr val="EAF1FA"/>
                </a:solidFill>
                <a:latin typeface="Aptos"/>
              </a:defRPr>
            </a:pPr>
            <a:r>
              <a:t>Quiet opening → gentle lift → clean product reveal</a:t>
            </a:r>
          </a:p>
        </p:txBody>
      </p:sp>
      <p:sp>
        <p:nvSpPr>
          <p:cNvPr id="8" name="Rounded Rectangle 7"/>
          <p:cNvSpPr/>
          <p:nvPr/>
        </p:nvSpPr>
        <p:spPr>
          <a:xfrm>
            <a:off x="640080" y="3474720"/>
            <a:ext cx="10881360" cy="612648"/>
          </a:xfrm>
          <a:prstGeom prst="roundRect">
            <a:avLst/>
          </a:prstGeom>
          <a:solidFill>
            <a:srgbClr val="132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630168"/>
            <a:ext cx="2148840" cy="283464"/>
          </a:xfrm>
          <a:prstGeom prst="rect">
            <a:avLst/>
          </a:prstGeom>
          <a:noFill/>
        </p:spPr>
        <p:txBody>
          <a:bodyPr wrap="square" lIns="18288" rIns="18288" tIns="18288">
            <a:spAutoFit/>
          </a:bodyPr>
          <a:lstStyle/>
          <a:p>
            <a:pPr>
              <a:spcAft>
                <a:spcPts val="400"/>
              </a:spcAft>
              <a:defRPr sz="1500" b="1">
                <a:solidFill>
                  <a:srgbClr val="45D1BF"/>
                </a:solidFill>
                <a:latin typeface="Aptos"/>
              </a:defRPr>
            </a:pPr>
            <a:r>
              <a:t>NARRATION</a:t>
            </a:r>
          </a:p>
        </p:txBody>
      </p:sp>
      <p:sp>
        <p:nvSpPr>
          <p:cNvPr id="10" name="TextBox 9"/>
          <p:cNvSpPr txBox="1"/>
          <p:nvPr/>
        </p:nvSpPr>
        <p:spPr>
          <a:xfrm>
            <a:off x="3063240" y="3630168"/>
            <a:ext cx="7772400" cy="283464"/>
          </a:xfrm>
          <a:prstGeom prst="rect">
            <a:avLst/>
          </a:prstGeom>
          <a:noFill/>
        </p:spPr>
        <p:txBody>
          <a:bodyPr wrap="square" lIns="18288" rIns="18288" tIns="18288">
            <a:spAutoFit/>
          </a:bodyPr>
          <a:lstStyle/>
          <a:p>
            <a:pPr>
              <a:spcAft>
                <a:spcPts val="400"/>
              </a:spcAft>
              <a:defRPr sz="1800" b="0">
                <a:solidFill>
                  <a:srgbClr val="EAF1FA"/>
                </a:solidFill>
                <a:latin typeface="Aptos"/>
              </a:defRPr>
            </a:pPr>
            <a:r>
              <a:t>Lead track — always intelligible</a:t>
            </a:r>
          </a:p>
        </p:txBody>
      </p:sp>
      <p:sp>
        <p:nvSpPr>
          <p:cNvPr id="11" name="Rounded Rectangle 10"/>
          <p:cNvSpPr/>
          <p:nvPr/>
        </p:nvSpPr>
        <p:spPr>
          <a:xfrm>
            <a:off x="640080" y="4224528"/>
            <a:ext cx="10881360" cy="612648"/>
          </a:xfrm>
          <a:prstGeom prst="roundRect">
            <a:avLst/>
          </a:prstGeom>
          <a:solidFill>
            <a:srgbClr val="132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4379976"/>
            <a:ext cx="2148840" cy="283464"/>
          </a:xfrm>
          <a:prstGeom prst="rect">
            <a:avLst/>
          </a:prstGeom>
          <a:noFill/>
        </p:spPr>
        <p:txBody>
          <a:bodyPr wrap="square" lIns="18288" rIns="18288" tIns="18288">
            <a:spAutoFit/>
          </a:bodyPr>
          <a:lstStyle/>
          <a:p>
            <a:pPr>
              <a:spcAft>
                <a:spcPts val="400"/>
              </a:spcAft>
              <a:defRPr sz="1500" b="1">
                <a:solidFill>
                  <a:srgbClr val="45D1BF"/>
                </a:solidFill>
                <a:latin typeface="Aptos"/>
              </a:defRPr>
            </a:pPr>
            <a:r>
              <a:t>MUSIC</a:t>
            </a:r>
          </a:p>
        </p:txBody>
      </p:sp>
      <p:sp>
        <p:nvSpPr>
          <p:cNvPr id="13" name="TextBox 12"/>
          <p:cNvSpPr txBox="1"/>
          <p:nvPr/>
        </p:nvSpPr>
        <p:spPr>
          <a:xfrm>
            <a:off x="3063240" y="4379976"/>
            <a:ext cx="7772400" cy="283464"/>
          </a:xfrm>
          <a:prstGeom prst="rect">
            <a:avLst/>
          </a:prstGeom>
          <a:noFill/>
        </p:spPr>
        <p:txBody>
          <a:bodyPr wrap="square" lIns="18288" rIns="18288" tIns="18288">
            <a:spAutoFit/>
          </a:bodyPr>
          <a:lstStyle/>
          <a:p>
            <a:pPr>
              <a:spcAft>
                <a:spcPts val="400"/>
              </a:spcAft>
              <a:defRPr sz="1800" b="0">
                <a:solidFill>
                  <a:srgbClr val="EAF1FA"/>
                </a:solidFill>
                <a:latin typeface="Aptos"/>
              </a:defRPr>
            </a:pPr>
            <a:r>
              <a:t>Instrumental — lower during speech</a:t>
            </a:r>
          </a:p>
        </p:txBody>
      </p:sp>
      <p:sp>
        <p:nvSpPr>
          <p:cNvPr id="14" name="Rounded Rectangle 13"/>
          <p:cNvSpPr/>
          <p:nvPr/>
        </p:nvSpPr>
        <p:spPr>
          <a:xfrm>
            <a:off x="640080" y="4974336"/>
            <a:ext cx="10881360" cy="612648"/>
          </a:xfrm>
          <a:prstGeom prst="roundRect">
            <a:avLst/>
          </a:prstGeom>
          <a:solidFill>
            <a:srgbClr val="132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1248" y="5129784"/>
            <a:ext cx="2148840" cy="283464"/>
          </a:xfrm>
          <a:prstGeom prst="rect">
            <a:avLst/>
          </a:prstGeom>
          <a:noFill/>
        </p:spPr>
        <p:txBody>
          <a:bodyPr wrap="square" lIns="18288" rIns="18288" tIns="18288">
            <a:spAutoFit/>
          </a:bodyPr>
          <a:lstStyle/>
          <a:p>
            <a:pPr>
              <a:spcAft>
                <a:spcPts val="400"/>
              </a:spcAft>
              <a:defRPr sz="1500" b="1">
                <a:solidFill>
                  <a:srgbClr val="45D1BF"/>
                </a:solidFill>
                <a:latin typeface="Aptos"/>
              </a:defRPr>
            </a:pPr>
            <a:r>
              <a:t>AMBIENCE</a:t>
            </a:r>
          </a:p>
        </p:txBody>
      </p:sp>
      <p:sp>
        <p:nvSpPr>
          <p:cNvPr id="16" name="TextBox 15"/>
          <p:cNvSpPr txBox="1"/>
          <p:nvPr/>
        </p:nvSpPr>
        <p:spPr>
          <a:xfrm>
            <a:off x="3063240" y="5129784"/>
            <a:ext cx="7772400" cy="283464"/>
          </a:xfrm>
          <a:prstGeom prst="rect">
            <a:avLst/>
          </a:prstGeom>
          <a:noFill/>
        </p:spPr>
        <p:txBody>
          <a:bodyPr wrap="square" lIns="18288" rIns="18288" tIns="18288">
            <a:spAutoFit/>
          </a:bodyPr>
          <a:lstStyle/>
          <a:p>
            <a:pPr>
              <a:spcAft>
                <a:spcPts val="400"/>
              </a:spcAft>
              <a:defRPr sz="1800" b="0">
                <a:solidFill>
                  <a:srgbClr val="EAF1FA"/>
                </a:solidFill>
                <a:latin typeface="Aptos"/>
              </a:defRPr>
            </a:pPr>
            <a:r>
              <a:t>Realistic room and outdoor sounds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3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45D1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75488" y="283464"/>
            <a:ext cx="5852160" cy="274320"/>
          </a:xfrm>
          <a:prstGeom prst="rect">
            <a:avLst/>
          </a:prstGeom>
          <a:noFill/>
        </p:spPr>
        <p:txBody>
          <a:bodyPr wrap="square" lIns="18288" rIns="18288" tIns="18288">
            <a:spAutoFit/>
          </a:bodyPr>
          <a:lstStyle/>
          <a:p>
            <a:pPr>
              <a:spcAft>
                <a:spcPts val="400"/>
              </a:spcAft>
              <a:defRPr sz="1100" b="1">
                <a:solidFill>
                  <a:srgbClr val="45D1BF"/>
                </a:solidFill>
                <a:latin typeface="Aptos"/>
              </a:defRPr>
            </a:pPr>
            <a:r>
              <a:t>AI IN ACTION   /   MODULE 03</a:t>
            </a:r>
          </a:p>
        </p:txBody>
      </p:sp>
      <p:sp>
        <p:nvSpPr>
          <p:cNvPr id="4" name="TextBox 3"/>
          <p:cNvSpPr txBox="1"/>
          <p:nvPr/>
        </p:nvSpPr>
        <p:spPr>
          <a:xfrm>
            <a:off x="438912" y="685800"/>
            <a:ext cx="5806440" cy="1188720"/>
          </a:xfrm>
          <a:prstGeom prst="rect">
            <a:avLst/>
          </a:prstGeom>
          <a:noFill/>
        </p:spPr>
        <p:txBody>
          <a:bodyPr wrap="square" lIns="18288" rIns="18288" tIns="18288">
            <a:spAutoFit/>
          </a:bodyPr>
          <a:lstStyle/>
          <a:p>
            <a:pPr>
              <a:spcAft>
                <a:spcPts val="400"/>
              </a:spcAft>
              <a:defRPr sz="3300" b="1">
                <a:solidFill>
                  <a:srgbClr val="EAF1FA"/>
                </a:solidFill>
                <a:latin typeface="Aptos"/>
              </a:defRPr>
            </a:pPr>
            <a:r>
              <a:t>Edit. Brand. Export.</a:t>
            </a:r>
          </a:p>
        </p:txBody>
      </p:sp>
      <p:sp>
        <p:nvSpPr>
          <p:cNvPr id="5" name="TextBox 4"/>
          <p:cNvSpPr txBox="1"/>
          <p:nvPr/>
        </p:nvSpPr>
        <p:spPr>
          <a:xfrm>
            <a:off x="457200" y="1847088"/>
            <a:ext cx="5715000" cy="393192"/>
          </a:xfrm>
          <a:prstGeom prst="rect">
            <a:avLst/>
          </a:prstGeom>
          <a:noFill/>
        </p:spPr>
        <p:txBody>
          <a:bodyPr wrap="square" lIns="18288" rIns="18288" tIns="18288">
            <a:spAutoFit/>
          </a:bodyPr>
          <a:lstStyle/>
          <a:p>
            <a:pPr>
              <a:spcAft>
                <a:spcPts val="400"/>
              </a:spcAft>
              <a:defRPr sz="1300" b="0">
                <a:solidFill>
                  <a:srgbClr val="F5C16C"/>
                </a:solidFill>
                <a:latin typeface="Aptos"/>
              </a:defRPr>
            </a:pPr>
            <a:r>
              <a:t>GOOGLE VIDS EDITING TIMELINE</a:t>
            </a:r>
          </a:p>
        </p:txBody>
      </p:sp>
      <p:sp>
        <p:nvSpPr>
          <p:cNvPr id="6" name="TextBox 5"/>
          <p:cNvSpPr txBox="1"/>
          <p:nvPr/>
        </p:nvSpPr>
        <p:spPr>
          <a:xfrm>
            <a:off x="11448288" y="6492240"/>
            <a:ext cx="384048" cy="210312"/>
          </a:xfrm>
          <a:prstGeom prst="rect">
            <a:avLst/>
          </a:prstGeom>
          <a:noFill/>
        </p:spPr>
        <p:txBody>
          <a:bodyPr wrap="square" lIns="18288" rIns="18288" tIns="18288">
            <a:spAutoFit/>
          </a:bodyPr>
          <a:lstStyle/>
          <a:p>
            <a:pPr>
              <a:spcAft>
                <a:spcPts val="400"/>
              </a:spcAft>
              <a:defRPr sz="1000" b="0">
                <a:solidFill>
                  <a:srgbClr val="AFC0D6"/>
                </a:solidFill>
                <a:latin typeface="Aptos"/>
              </a:defRPr>
            </a:pPr>
            <a:r>
              <a:t>10</a:t>
            </a:r>
          </a:p>
        </p:txBody>
      </p:sp>
      <p:sp>
        <p:nvSpPr>
          <p:cNvPr id="7" name="Rounded Rectangle 6"/>
          <p:cNvSpPr/>
          <p:nvPr/>
        </p:nvSpPr>
        <p:spPr>
          <a:xfrm>
            <a:off x="640080" y="2743200"/>
            <a:ext cx="4325112" cy="1005840"/>
          </a:xfrm>
          <a:prstGeom prst="roundRect">
            <a:avLst/>
          </a:prstGeom>
          <a:solidFill>
            <a:srgbClr val="1B65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19" y="3090672"/>
            <a:ext cx="4142232" cy="292608"/>
          </a:xfrm>
          <a:prstGeom prst="rect">
            <a:avLst/>
          </a:prstGeom>
          <a:noFill/>
        </p:spPr>
        <p:txBody>
          <a:bodyPr wrap="square" lIns="18288" rIns="18288" tIns="18288">
            <a:spAutoFit/>
          </a:bodyPr>
          <a:lstStyle/>
          <a:p>
            <a:pPr algn="ctr">
              <a:spcAft>
                <a:spcPts val="400"/>
              </a:spcAft>
              <a:defRPr sz="1400" b="1">
                <a:solidFill>
                  <a:srgbClr val="FFFFFF"/>
                </a:solidFill>
                <a:latin typeface="Aptos"/>
              </a:defRPr>
            </a:pPr>
            <a:r>
              <a:t>MORNING · 8s</a:t>
            </a:r>
          </a:p>
        </p:txBody>
      </p:sp>
      <p:sp>
        <p:nvSpPr>
          <p:cNvPr id="9" name="Rounded Rectangle 8"/>
          <p:cNvSpPr/>
          <p:nvPr/>
        </p:nvSpPr>
        <p:spPr>
          <a:xfrm>
            <a:off x="5038344" y="2743200"/>
            <a:ext cx="4325112" cy="1005840"/>
          </a:xfrm>
          <a:prstGeom prst="roundRect">
            <a:avLst/>
          </a:prstGeom>
          <a:solidFill>
            <a:srgbClr val="247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29784" y="3090672"/>
            <a:ext cx="4142232" cy="292608"/>
          </a:xfrm>
          <a:prstGeom prst="rect">
            <a:avLst/>
          </a:prstGeom>
          <a:noFill/>
        </p:spPr>
        <p:txBody>
          <a:bodyPr wrap="square" lIns="18288" rIns="18288" tIns="18288">
            <a:spAutoFit/>
          </a:bodyPr>
          <a:lstStyle/>
          <a:p>
            <a:pPr algn="ctr">
              <a:spcAft>
                <a:spcPts val="400"/>
              </a:spcAft>
              <a:defRPr sz="1400" b="1">
                <a:solidFill>
                  <a:srgbClr val="FFFFFF"/>
                </a:solidFill>
                <a:latin typeface="Aptos"/>
              </a:defRPr>
            </a:pPr>
            <a:r>
              <a:t>JOURNEY · 8s</a:t>
            </a:r>
          </a:p>
        </p:txBody>
      </p:sp>
      <p:sp>
        <p:nvSpPr>
          <p:cNvPr id="11" name="Rounded Rectangle 10"/>
          <p:cNvSpPr/>
          <p:nvPr/>
        </p:nvSpPr>
        <p:spPr>
          <a:xfrm>
            <a:off x="9436608" y="2743200"/>
            <a:ext cx="2148840" cy="1005840"/>
          </a:xfrm>
          <a:prstGeom prst="roundRect">
            <a:avLst/>
          </a:prstGeom>
          <a:solidFill>
            <a:srgbClr val="8A6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28048" y="3090672"/>
            <a:ext cx="1965960" cy="292608"/>
          </a:xfrm>
          <a:prstGeom prst="rect">
            <a:avLst/>
          </a:prstGeom>
          <a:noFill/>
        </p:spPr>
        <p:txBody>
          <a:bodyPr wrap="square" lIns="18288" rIns="18288" tIns="18288">
            <a:spAutoFit/>
          </a:bodyPr>
          <a:lstStyle/>
          <a:p>
            <a:pPr algn="ctr">
              <a:spcAft>
                <a:spcPts val="400"/>
              </a:spcAft>
              <a:defRPr sz="1400" b="1">
                <a:solidFill>
                  <a:srgbClr val="FFFFFF"/>
                </a:solidFill>
                <a:latin typeface="Aptos"/>
              </a:defRPr>
            </a:pPr>
            <a:r>
              <a:t>PRODUCT · 4s</a:t>
            </a:r>
          </a:p>
        </p:txBody>
      </p:sp>
      <p:sp>
        <p:nvSpPr>
          <p:cNvPr id="13" name="TextBox 12"/>
          <p:cNvSpPr txBox="1"/>
          <p:nvPr/>
        </p:nvSpPr>
        <p:spPr>
          <a:xfrm>
            <a:off x="731520" y="4078224"/>
            <a:ext cx="3474720" cy="283464"/>
          </a:xfrm>
          <a:prstGeom prst="rect">
            <a:avLst/>
          </a:prstGeom>
          <a:noFill/>
        </p:spPr>
        <p:txBody>
          <a:bodyPr wrap="square" lIns="18288" rIns="18288" tIns="18288">
            <a:spAutoFit/>
          </a:bodyPr>
          <a:lstStyle/>
          <a:p>
            <a:pPr>
              <a:spcAft>
                <a:spcPts val="400"/>
              </a:spcAft>
              <a:defRPr sz="1600" b="1">
                <a:solidFill>
                  <a:srgbClr val="45D1BF"/>
                </a:solidFill>
                <a:latin typeface="Aptos"/>
              </a:defRPr>
            </a:pPr>
            <a:r>
              <a:t>Narration track</a:t>
            </a:r>
          </a:p>
        </p:txBody>
      </p:sp>
      <p:sp>
        <p:nvSpPr>
          <p:cNvPr id="14" name="Rounded Rectangle 13"/>
          <p:cNvSpPr/>
          <p:nvPr/>
        </p:nvSpPr>
        <p:spPr>
          <a:xfrm>
            <a:off x="4023360" y="3986784"/>
            <a:ext cx="7223760" cy="484632"/>
          </a:xfrm>
          <a:prstGeom prst="roundRect">
            <a:avLst/>
          </a:prstGeom>
          <a:solidFill>
            <a:srgbClr val="132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4818888"/>
            <a:ext cx="3200400" cy="283464"/>
          </a:xfrm>
          <a:prstGeom prst="rect">
            <a:avLst/>
          </a:prstGeom>
          <a:noFill/>
        </p:spPr>
        <p:txBody>
          <a:bodyPr wrap="square" lIns="18288" rIns="18288" tIns="18288">
            <a:spAutoFit/>
          </a:bodyPr>
          <a:lstStyle/>
          <a:p>
            <a:pPr>
              <a:spcAft>
                <a:spcPts val="400"/>
              </a:spcAft>
              <a:defRPr sz="1600" b="1">
                <a:solidFill>
                  <a:srgbClr val="45D1BF"/>
                </a:solidFill>
                <a:latin typeface="Aptos"/>
              </a:defRPr>
            </a:pPr>
            <a:r>
              <a:t>Instrumental + ambience</a:t>
            </a:r>
          </a:p>
        </p:txBody>
      </p:sp>
      <p:sp>
        <p:nvSpPr>
          <p:cNvPr id="16" name="Rounded Rectangle 15"/>
          <p:cNvSpPr/>
          <p:nvPr/>
        </p:nvSpPr>
        <p:spPr>
          <a:xfrm>
            <a:off x="4023360" y="4727448"/>
            <a:ext cx="7223760" cy="484632"/>
          </a:xfrm>
          <a:prstGeom prst="roundRect">
            <a:avLst/>
          </a:prstGeom>
          <a:solidFill>
            <a:srgbClr val="132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3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45D1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75488" y="283464"/>
            <a:ext cx="5852160" cy="274320"/>
          </a:xfrm>
          <a:prstGeom prst="rect">
            <a:avLst/>
          </a:prstGeom>
          <a:noFill/>
        </p:spPr>
        <p:txBody>
          <a:bodyPr wrap="square" lIns="18288" rIns="18288" tIns="18288">
            <a:spAutoFit/>
          </a:bodyPr>
          <a:lstStyle/>
          <a:p>
            <a:pPr>
              <a:spcAft>
                <a:spcPts val="400"/>
              </a:spcAft>
              <a:defRPr sz="1100" b="1">
                <a:solidFill>
                  <a:srgbClr val="45D1BF"/>
                </a:solidFill>
                <a:latin typeface="Aptos"/>
              </a:defRPr>
            </a:pPr>
            <a:r>
              <a:t>AI IN ACTION   /   MODULE 03</a:t>
            </a:r>
          </a:p>
        </p:txBody>
      </p:sp>
      <p:sp>
        <p:nvSpPr>
          <p:cNvPr id="4" name="TextBox 3"/>
          <p:cNvSpPr txBox="1"/>
          <p:nvPr/>
        </p:nvSpPr>
        <p:spPr>
          <a:xfrm>
            <a:off x="438912" y="685800"/>
            <a:ext cx="5806440" cy="1188720"/>
          </a:xfrm>
          <a:prstGeom prst="rect">
            <a:avLst/>
          </a:prstGeom>
          <a:noFill/>
        </p:spPr>
        <p:txBody>
          <a:bodyPr wrap="square" lIns="18288" rIns="18288" tIns="18288">
            <a:spAutoFit/>
          </a:bodyPr>
          <a:lstStyle/>
          <a:p>
            <a:pPr>
              <a:spcAft>
                <a:spcPts val="400"/>
              </a:spcAft>
              <a:defRPr sz="3300" b="1">
                <a:solidFill>
                  <a:srgbClr val="EAF1FA"/>
                </a:solidFill>
                <a:latin typeface="Aptos"/>
              </a:defRPr>
            </a:pPr>
            <a:r>
              <a:t>The Quality Test</a:t>
            </a:r>
          </a:p>
        </p:txBody>
      </p:sp>
      <p:sp>
        <p:nvSpPr>
          <p:cNvPr id="5" name="TextBox 4"/>
          <p:cNvSpPr txBox="1"/>
          <p:nvPr/>
        </p:nvSpPr>
        <p:spPr>
          <a:xfrm>
            <a:off x="457200" y="1847088"/>
            <a:ext cx="5715000" cy="393192"/>
          </a:xfrm>
          <a:prstGeom prst="rect">
            <a:avLst/>
          </a:prstGeom>
          <a:noFill/>
        </p:spPr>
        <p:txBody>
          <a:bodyPr wrap="square" lIns="18288" rIns="18288" tIns="18288">
            <a:spAutoFit/>
          </a:bodyPr>
          <a:lstStyle/>
          <a:p>
            <a:pPr>
              <a:spcAft>
                <a:spcPts val="400"/>
              </a:spcAft>
              <a:defRPr sz="1300" b="0">
                <a:solidFill>
                  <a:srgbClr val="F5C16C"/>
                </a:solidFill>
                <a:latin typeface="Aptos"/>
              </a:defRPr>
            </a:pPr>
            <a:r>
              <a:t>A REAL MOVING AD, NOT A SLIDESHOW</a:t>
            </a:r>
          </a:p>
        </p:txBody>
      </p:sp>
      <p:sp>
        <p:nvSpPr>
          <p:cNvPr id="6" name="TextBox 5"/>
          <p:cNvSpPr txBox="1"/>
          <p:nvPr/>
        </p:nvSpPr>
        <p:spPr>
          <a:xfrm>
            <a:off x="11448288" y="6492240"/>
            <a:ext cx="384048" cy="210312"/>
          </a:xfrm>
          <a:prstGeom prst="rect">
            <a:avLst/>
          </a:prstGeom>
          <a:noFill/>
        </p:spPr>
        <p:txBody>
          <a:bodyPr wrap="square" lIns="18288" rIns="18288" tIns="18288">
            <a:spAutoFit/>
          </a:bodyPr>
          <a:lstStyle/>
          <a:p>
            <a:pPr>
              <a:spcAft>
                <a:spcPts val="400"/>
              </a:spcAft>
              <a:defRPr sz="1000" b="0">
                <a:solidFill>
                  <a:srgbClr val="AFC0D6"/>
                </a:solidFill>
                <a:latin typeface="Aptos"/>
              </a:defRPr>
            </a:pPr>
            <a:r>
              <a:t>11</a:t>
            </a:r>
          </a:p>
        </p:txBody>
      </p:sp>
      <p:sp>
        <p:nvSpPr>
          <p:cNvPr id="7" name="TextBox 6"/>
          <p:cNvSpPr txBox="1"/>
          <p:nvPr/>
        </p:nvSpPr>
        <p:spPr>
          <a:xfrm>
            <a:off x="822960" y="2286000"/>
            <a:ext cx="10469880" cy="374904"/>
          </a:xfrm>
          <a:prstGeom prst="rect">
            <a:avLst/>
          </a:prstGeom>
          <a:noFill/>
        </p:spPr>
        <p:txBody>
          <a:bodyPr wrap="square" lIns="18288" rIns="18288" tIns="18288">
            <a:spAutoFit/>
          </a:bodyPr>
          <a:lstStyle/>
          <a:p>
            <a:pPr>
              <a:spcAft>
                <a:spcPts val="400"/>
              </a:spcAft>
              <a:defRPr sz="2200" b="0">
                <a:solidFill>
                  <a:srgbClr val="EAF1FA"/>
                </a:solidFill>
                <a:latin typeface="Aptos"/>
              </a:defRPr>
            </a:pPr>
            <a:r>
              <a:t>✓  Genuine actor and camera motion</a:t>
            </a:r>
          </a:p>
        </p:txBody>
      </p:sp>
      <p:sp>
        <p:nvSpPr>
          <p:cNvPr id="8" name="TextBox 7"/>
          <p:cNvSpPr txBox="1"/>
          <p:nvPr/>
        </p:nvSpPr>
        <p:spPr>
          <a:xfrm>
            <a:off x="822960" y="2926080"/>
            <a:ext cx="10469880" cy="374904"/>
          </a:xfrm>
          <a:prstGeom prst="rect">
            <a:avLst/>
          </a:prstGeom>
          <a:noFill/>
        </p:spPr>
        <p:txBody>
          <a:bodyPr wrap="square" lIns="18288" rIns="18288" tIns="18288">
            <a:spAutoFit/>
          </a:bodyPr>
          <a:lstStyle/>
          <a:p>
            <a:pPr>
              <a:spcAft>
                <a:spcPts val="400"/>
              </a:spcAft>
              <a:defRPr sz="2200" b="0">
                <a:solidFill>
                  <a:srgbClr val="EAF1FA"/>
                </a:solidFill>
                <a:latin typeface="Aptos"/>
              </a:defRPr>
            </a:pPr>
            <a:r>
              <a:t>✓  Consistent person and exact product</a:t>
            </a:r>
          </a:p>
        </p:txBody>
      </p:sp>
      <p:sp>
        <p:nvSpPr>
          <p:cNvPr id="9" name="TextBox 8"/>
          <p:cNvSpPr txBox="1"/>
          <p:nvPr/>
        </p:nvSpPr>
        <p:spPr>
          <a:xfrm>
            <a:off x="822960" y="3566160"/>
            <a:ext cx="10469880" cy="374904"/>
          </a:xfrm>
          <a:prstGeom prst="rect">
            <a:avLst/>
          </a:prstGeom>
          <a:noFill/>
        </p:spPr>
        <p:txBody>
          <a:bodyPr wrap="square" lIns="18288" rIns="18288" tIns="18288">
            <a:spAutoFit/>
          </a:bodyPr>
          <a:lstStyle/>
          <a:p>
            <a:pPr>
              <a:spcAft>
                <a:spcPts val="400"/>
              </a:spcAft>
              <a:defRPr sz="2200" b="0">
                <a:solidFill>
                  <a:srgbClr val="EAF1FA"/>
                </a:solidFill>
                <a:latin typeface="Aptos"/>
              </a:defRPr>
            </a:pPr>
            <a:r>
              <a:t>✓  Human-sounding voice + balanced soundtrack</a:t>
            </a:r>
          </a:p>
        </p:txBody>
      </p:sp>
      <p:sp>
        <p:nvSpPr>
          <p:cNvPr id="10" name="TextBox 9"/>
          <p:cNvSpPr txBox="1"/>
          <p:nvPr/>
        </p:nvSpPr>
        <p:spPr>
          <a:xfrm>
            <a:off x="822960" y="4206240"/>
            <a:ext cx="10469880" cy="374904"/>
          </a:xfrm>
          <a:prstGeom prst="rect">
            <a:avLst/>
          </a:prstGeom>
          <a:noFill/>
        </p:spPr>
        <p:txBody>
          <a:bodyPr wrap="square" lIns="18288" rIns="18288" tIns="18288">
            <a:spAutoFit/>
          </a:bodyPr>
          <a:lstStyle/>
          <a:p>
            <a:pPr>
              <a:spcAft>
                <a:spcPts val="400"/>
              </a:spcAft>
              <a:defRPr sz="2200" b="0">
                <a:solidFill>
                  <a:srgbClr val="EAF1FA"/>
                </a:solidFill>
                <a:latin typeface="Aptos"/>
              </a:defRPr>
            </a:pPr>
            <a:r>
              <a:t>✓  Accurate text, authorised assets, checked claims</a:t>
            </a:r>
          </a:p>
        </p:txBody>
      </p:sp>
      <p:sp>
        <p:nvSpPr>
          <p:cNvPr id="11" name="TextBox 10"/>
          <p:cNvSpPr txBox="1"/>
          <p:nvPr/>
        </p:nvSpPr>
        <p:spPr>
          <a:xfrm>
            <a:off x="822960" y="4846320"/>
            <a:ext cx="10469880" cy="374904"/>
          </a:xfrm>
          <a:prstGeom prst="rect">
            <a:avLst/>
          </a:prstGeom>
          <a:noFill/>
        </p:spPr>
        <p:txBody>
          <a:bodyPr wrap="square" lIns="18288" rIns="18288" tIns="18288">
            <a:spAutoFit/>
          </a:bodyPr>
          <a:lstStyle/>
          <a:p>
            <a:pPr>
              <a:spcAft>
                <a:spcPts val="400"/>
              </a:spcAft>
              <a:defRPr sz="2200" b="0">
                <a:solidFill>
                  <a:srgbClr val="EAF1FA"/>
                </a:solidFill>
                <a:latin typeface="Aptos"/>
              </a:defRPr>
            </a:pPr>
            <a:r>
              <a:t>✓  Finished MP4 plays correctly with audio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3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45D1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tretch>
            <a:fillRect/>
          </a:stretch>
        </p:blipFill>
        <p:spPr>
          <a:xfrm>
            <a:off x="6446520" y="0"/>
            <a:ext cx="5760720" cy="6858000"/>
          </a:xfrm>
          <a:prstGeom prst="rect">
            <a:avLst/>
          </a:prstGeom>
        </p:spPr>
      </p:pic>
      <p:sp>
        <p:nvSpPr>
          <p:cNvPr id="4" name="Rectangle 3"/>
          <p:cNvSpPr/>
          <p:nvPr/>
        </p:nvSpPr>
        <p:spPr>
          <a:xfrm>
            <a:off x="6382512" y="0"/>
            <a:ext cx="109728" cy="6858000"/>
          </a:xfrm>
          <a:prstGeom prst="rect">
            <a:avLst/>
          </a:prstGeom>
          <a:solidFill>
            <a:srgbClr val="F5C1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75488" y="283464"/>
            <a:ext cx="5852160" cy="274320"/>
          </a:xfrm>
          <a:prstGeom prst="rect">
            <a:avLst/>
          </a:prstGeom>
          <a:noFill/>
        </p:spPr>
        <p:txBody>
          <a:bodyPr wrap="square" lIns="18288" rIns="18288" tIns="18288">
            <a:spAutoFit/>
          </a:bodyPr>
          <a:lstStyle/>
          <a:p>
            <a:pPr>
              <a:spcAft>
                <a:spcPts val="400"/>
              </a:spcAft>
              <a:defRPr sz="1100" b="1">
                <a:solidFill>
                  <a:srgbClr val="45D1BF"/>
                </a:solidFill>
                <a:latin typeface="Aptos"/>
              </a:defRPr>
            </a:pPr>
            <a:r>
              <a:t>AI IN ACTION   /   MODULE 03</a:t>
            </a:r>
          </a:p>
        </p:txBody>
      </p:sp>
      <p:sp>
        <p:nvSpPr>
          <p:cNvPr id="6" name="TextBox 5"/>
          <p:cNvSpPr txBox="1"/>
          <p:nvPr/>
        </p:nvSpPr>
        <p:spPr>
          <a:xfrm>
            <a:off x="438912" y="685800"/>
            <a:ext cx="5806440" cy="1188720"/>
          </a:xfrm>
          <a:prstGeom prst="rect">
            <a:avLst/>
          </a:prstGeom>
          <a:noFill/>
        </p:spPr>
        <p:txBody>
          <a:bodyPr wrap="square" lIns="18288" rIns="18288" tIns="18288">
            <a:spAutoFit/>
          </a:bodyPr>
          <a:lstStyle/>
          <a:p>
            <a:pPr>
              <a:spcAft>
                <a:spcPts val="400"/>
              </a:spcAft>
              <a:defRPr sz="3300" b="1">
                <a:solidFill>
                  <a:srgbClr val="EAF1FA"/>
                </a:solidFill>
                <a:latin typeface="Aptos"/>
              </a:defRPr>
            </a:pPr>
            <a:r>
              <a:t>Now You Can Create</a:t>
            </a:r>
          </a:p>
        </p:txBody>
      </p:sp>
      <p:sp>
        <p:nvSpPr>
          <p:cNvPr id="7" name="TextBox 6"/>
          <p:cNvSpPr txBox="1"/>
          <p:nvPr/>
        </p:nvSpPr>
        <p:spPr>
          <a:xfrm>
            <a:off x="457200" y="1847088"/>
            <a:ext cx="5715000" cy="393192"/>
          </a:xfrm>
          <a:prstGeom prst="rect">
            <a:avLst/>
          </a:prstGeom>
          <a:noFill/>
        </p:spPr>
        <p:txBody>
          <a:bodyPr wrap="square" lIns="18288" rIns="18288" tIns="18288">
            <a:spAutoFit/>
          </a:bodyPr>
          <a:lstStyle/>
          <a:p>
            <a:pPr>
              <a:spcAft>
                <a:spcPts val="400"/>
              </a:spcAft>
              <a:defRPr sz="1300" b="0">
                <a:solidFill>
                  <a:srgbClr val="F5C16C"/>
                </a:solidFill>
                <a:latin typeface="Aptos"/>
              </a:defRPr>
            </a:pPr>
            <a:r>
              <a:t>ONE IDEA → REALISTIC SHOTS → A COMPLETE FILM</a:t>
            </a:r>
          </a:p>
        </p:txBody>
      </p:sp>
      <p:sp>
        <p:nvSpPr>
          <p:cNvPr id="8" name="TextBox 7"/>
          <p:cNvSpPr txBox="1"/>
          <p:nvPr/>
        </p:nvSpPr>
        <p:spPr>
          <a:xfrm>
            <a:off x="11448288" y="6492240"/>
            <a:ext cx="384048" cy="210312"/>
          </a:xfrm>
          <a:prstGeom prst="rect">
            <a:avLst/>
          </a:prstGeom>
          <a:noFill/>
        </p:spPr>
        <p:txBody>
          <a:bodyPr wrap="square" lIns="18288" rIns="18288" tIns="18288">
            <a:spAutoFit/>
          </a:bodyPr>
          <a:lstStyle/>
          <a:p>
            <a:pPr>
              <a:spcAft>
                <a:spcPts val="400"/>
              </a:spcAft>
              <a:defRPr sz="1000" b="0">
                <a:solidFill>
                  <a:srgbClr val="AFC0D6"/>
                </a:solidFill>
                <a:latin typeface="Aptos"/>
              </a:defRPr>
            </a:pPr>
            <a:r>
              <a:t>12</a:t>
            </a:r>
          </a:p>
        </p:txBody>
      </p:sp>
      <p:sp>
        <p:nvSpPr>
          <p:cNvPr id="9" name="TextBox 8"/>
          <p:cNvSpPr txBox="1"/>
          <p:nvPr/>
        </p:nvSpPr>
        <p:spPr>
          <a:xfrm>
            <a:off x="502920" y="2843784"/>
            <a:ext cx="5303520" cy="2194560"/>
          </a:xfrm>
          <a:prstGeom prst="rect">
            <a:avLst/>
          </a:prstGeom>
          <a:noFill/>
        </p:spPr>
        <p:txBody>
          <a:bodyPr wrap="square" lIns="18288" rIns="18288" tIns="18288">
            <a:spAutoFit/>
          </a:bodyPr>
          <a:lstStyle/>
          <a:p>
            <a:pPr>
              <a:spcAft>
                <a:spcPts val="400"/>
              </a:spcAft>
              <a:defRPr sz="2200" b="0">
                <a:solidFill>
                  <a:srgbClr val="EAF1FA"/>
                </a:solidFill>
                <a:latin typeface="Aptos"/>
              </a:defRPr>
            </a:pPr>
            <a:r>
              <a:t>Choose a real product.</a:t>
            </a:r>
          </a:p>
          <a:p>
            <a:pPr>
              <a:spcAft>
                <a:spcPts val="400"/>
              </a:spcAft>
              <a:defRPr sz="2200" b="0">
                <a:solidFill>
                  <a:srgbClr val="EAF1FA"/>
                </a:solidFill>
                <a:latin typeface="Aptos"/>
              </a:defRPr>
            </a:pPr>
            <a:r>
              <a:t>Tell a simple story.</a:t>
            </a:r>
          </a:p>
          <a:p>
            <a:pPr>
              <a:spcAft>
                <a:spcPts val="400"/>
              </a:spcAft>
              <a:defRPr sz="2200" b="0">
                <a:solidFill>
                  <a:srgbClr val="EAF1FA"/>
                </a:solidFill>
                <a:latin typeface="Aptos"/>
              </a:defRPr>
            </a:pPr>
            <a:r>
              <a:t>Make the movement believable.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0">
  <p:cSld>
    <p:bg>
      <p:bgPr>
        <a:solidFill>
          <a:srgbClr val="0A13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45D1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75488" y="283464"/>
            <a:ext cx="5852160" cy="274320"/>
          </a:xfrm>
          <a:prstGeom prst="rect">
            <a:avLst/>
          </a:prstGeom>
          <a:noFill/>
        </p:spPr>
        <p:txBody>
          <a:bodyPr wrap="square" lIns="18288" rIns="18288" tIns="18288">
            <a:spAutoFit/>
          </a:bodyPr>
          <a:lstStyle/>
          <a:p>
            <a:pPr>
              <a:spcAft>
                <a:spcPts val="400"/>
              </a:spcAft>
              <a:defRPr sz="1100" b="1">
                <a:solidFill>
                  <a:srgbClr val="45D1BF"/>
                </a:solidFill>
                <a:latin typeface="Aptos"/>
              </a:defRPr>
            </a:pPr>
            <a:r>
              <a:t>AI IN ACTION   /   MODULE 03</a:t>
            </a:r>
          </a:p>
        </p:txBody>
      </p:sp>
      <p:sp>
        <p:nvSpPr>
          <p:cNvPr id="4" name="TextBox 3"/>
          <p:cNvSpPr txBox="1"/>
          <p:nvPr/>
        </p:nvSpPr>
        <p:spPr>
          <a:xfrm>
            <a:off x="438912" y="685800"/>
            <a:ext cx="5806440" cy="1188720"/>
          </a:xfrm>
          <a:prstGeom prst="rect">
            <a:avLst/>
          </a:prstGeom>
          <a:noFill/>
        </p:spPr>
        <p:txBody>
          <a:bodyPr wrap="square" lIns="18288" rIns="18288" tIns="18288">
            <a:spAutoFit/>
          </a:bodyPr>
          <a:lstStyle/>
          <a:p>
            <a:pPr>
              <a:spcAft>
                <a:spcPts val="400"/>
              </a:spcAft>
              <a:defRPr sz="3300" b="1">
                <a:solidFill>
                  <a:srgbClr val="EAF1FA"/>
                </a:solidFill>
                <a:latin typeface="Aptos"/>
              </a:defRPr>
            </a:pPr>
            <a:r>
              <a:t>Trainer Quick Controls</a:t>
            </a:r>
          </a:p>
        </p:txBody>
      </p:sp>
      <p:sp>
        <p:nvSpPr>
          <p:cNvPr id="5" name="TextBox 4"/>
          <p:cNvSpPr txBox="1"/>
          <p:nvPr/>
        </p:nvSpPr>
        <p:spPr>
          <a:xfrm>
            <a:off x="457200" y="1847088"/>
            <a:ext cx="5715000" cy="393192"/>
          </a:xfrm>
          <a:prstGeom prst="rect">
            <a:avLst/>
          </a:prstGeom>
          <a:noFill/>
        </p:spPr>
        <p:txBody>
          <a:bodyPr wrap="square" lIns="18288" rIns="18288" tIns="18288">
            <a:spAutoFit/>
          </a:bodyPr>
          <a:lstStyle/>
          <a:p>
            <a:pPr>
              <a:spcAft>
                <a:spcPts val="400"/>
              </a:spcAft>
              <a:defRPr sz="1300" b="0">
                <a:solidFill>
                  <a:srgbClr val="F5C16C"/>
                </a:solidFill>
                <a:latin typeface="Aptos"/>
              </a:defRPr>
            </a:pPr>
            <a:r>
              <a:t>PRIVATE • PRESENTER REFERENCE ONLY</a:t>
            </a:r>
          </a:p>
        </p:txBody>
      </p:sp>
      <p:sp>
        <p:nvSpPr>
          <p:cNvPr id="6" name="TextBox 5"/>
          <p:cNvSpPr txBox="1"/>
          <p:nvPr/>
        </p:nvSpPr>
        <p:spPr>
          <a:xfrm>
            <a:off x="11448288" y="6492240"/>
            <a:ext cx="384048" cy="210312"/>
          </a:xfrm>
          <a:prstGeom prst="rect">
            <a:avLst/>
          </a:prstGeom>
          <a:noFill/>
        </p:spPr>
        <p:txBody>
          <a:bodyPr wrap="square" lIns="18288" rIns="18288" tIns="18288">
            <a:spAutoFit/>
          </a:bodyPr>
          <a:lstStyle/>
          <a:p>
            <a:pPr>
              <a:spcAft>
                <a:spcPts val="400"/>
              </a:spcAft>
              <a:defRPr sz="1000" b="0">
                <a:solidFill>
                  <a:srgbClr val="AFC0D6"/>
                </a:solidFill>
                <a:latin typeface="Aptos"/>
              </a:defRPr>
            </a:pPr>
            <a:r>
              <a:t>13</a:t>
            </a:r>
          </a:p>
        </p:txBody>
      </p:sp>
      <p:sp>
        <p:nvSpPr>
          <p:cNvPr id="7" name="TextBox 6"/>
          <p:cNvSpPr txBox="1"/>
          <p:nvPr/>
        </p:nvSpPr>
        <p:spPr>
          <a:xfrm>
            <a:off x="594360" y="2606040"/>
            <a:ext cx="10332720" cy="1097280"/>
          </a:xfrm>
          <a:prstGeom prst="rect">
            <a:avLst/>
          </a:prstGeom>
          <a:noFill/>
        </p:spPr>
        <p:txBody>
          <a:bodyPr wrap="square" lIns="18288" rIns="18288" tIns="18288">
            <a:spAutoFit/>
          </a:bodyPr>
          <a:lstStyle/>
          <a:p>
            <a:pPr>
              <a:spcAft>
                <a:spcPts val="400"/>
              </a:spcAft>
              <a:defRPr sz="2300" b="0">
                <a:solidFill>
                  <a:srgbClr val="EAF1FA"/>
                </a:solidFill>
                <a:latin typeface="Aptos"/>
              </a:defRPr>
            </a:pPr>
            <a:r>
              <a:t>Client brief → ChatGPT → Images → Vids Animate</a:t>
            </a:r>
          </a:p>
          <a:p>
            <a:pPr>
              <a:spcAft>
                <a:spcPts val="400"/>
              </a:spcAft>
              <a:defRPr sz="2300" b="0">
                <a:solidFill>
                  <a:srgbClr val="EAF1FA"/>
                </a:solidFill>
                <a:latin typeface="Aptos"/>
              </a:defRPr>
            </a:pPr>
            <a:r>
              <a:t>→ MiniMax Voice → Music → Google Vids Edit → QC</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0">
  <p:cSld>
    <p:bg>
      <p:bgPr>
        <a:solidFill>
          <a:srgbClr val="0A13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45D1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75488" y="283464"/>
            <a:ext cx="5852160" cy="274320"/>
          </a:xfrm>
          <a:prstGeom prst="rect">
            <a:avLst/>
          </a:prstGeom>
          <a:noFill/>
        </p:spPr>
        <p:txBody>
          <a:bodyPr wrap="square" lIns="18288" rIns="18288" tIns="18288">
            <a:spAutoFit/>
          </a:bodyPr>
          <a:lstStyle/>
          <a:p>
            <a:pPr>
              <a:spcAft>
                <a:spcPts val="400"/>
              </a:spcAft>
              <a:defRPr sz="1100" b="1">
                <a:solidFill>
                  <a:srgbClr val="45D1BF"/>
                </a:solidFill>
                <a:latin typeface="Aptos"/>
              </a:defRPr>
            </a:pPr>
            <a:r>
              <a:t>AI IN ACTION   /   MODULE 03</a:t>
            </a:r>
          </a:p>
        </p:txBody>
      </p:sp>
      <p:sp>
        <p:nvSpPr>
          <p:cNvPr id="4" name="TextBox 3"/>
          <p:cNvSpPr txBox="1"/>
          <p:nvPr/>
        </p:nvSpPr>
        <p:spPr>
          <a:xfrm>
            <a:off x="438912" y="685800"/>
            <a:ext cx="5806440" cy="1188720"/>
          </a:xfrm>
          <a:prstGeom prst="rect">
            <a:avLst/>
          </a:prstGeom>
          <a:noFill/>
        </p:spPr>
        <p:txBody>
          <a:bodyPr wrap="square" lIns="18288" rIns="18288" tIns="18288">
            <a:spAutoFit/>
          </a:bodyPr>
          <a:lstStyle/>
          <a:p>
            <a:pPr>
              <a:spcAft>
                <a:spcPts val="400"/>
              </a:spcAft>
              <a:defRPr sz="3300" b="1">
                <a:solidFill>
                  <a:srgbClr val="EAF1FA"/>
                </a:solidFill>
                <a:latin typeface="Aptos"/>
              </a:defRPr>
            </a:pPr>
            <a:r>
              <a:t>Trainer Backups</a:t>
            </a:r>
          </a:p>
        </p:txBody>
      </p:sp>
      <p:sp>
        <p:nvSpPr>
          <p:cNvPr id="5" name="TextBox 4"/>
          <p:cNvSpPr txBox="1"/>
          <p:nvPr/>
        </p:nvSpPr>
        <p:spPr>
          <a:xfrm>
            <a:off x="457200" y="1847088"/>
            <a:ext cx="5715000" cy="393192"/>
          </a:xfrm>
          <a:prstGeom prst="rect">
            <a:avLst/>
          </a:prstGeom>
          <a:noFill/>
        </p:spPr>
        <p:txBody>
          <a:bodyPr wrap="square" lIns="18288" rIns="18288" tIns="18288">
            <a:spAutoFit/>
          </a:bodyPr>
          <a:lstStyle/>
          <a:p>
            <a:pPr>
              <a:spcAft>
                <a:spcPts val="400"/>
              </a:spcAft>
              <a:defRPr sz="1300" b="0">
                <a:solidFill>
                  <a:srgbClr val="F5C16C"/>
                </a:solidFill>
                <a:latin typeface="Aptos"/>
              </a:defRPr>
            </a:pPr>
            <a:r>
              <a:t>PRIVATE • NOT FOR AUDIENCE DISTRIBUTION</a:t>
            </a:r>
          </a:p>
        </p:txBody>
      </p:sp>
      <p:sp>
        <p:nvSpPr>
          <p:cNvPr id="6" name="TextBox 5"/>
          <p:cNvSpPr txBox="1"/>
          <p:nvPr/>
        </p:nvSpPr>
        <p:spPr>
          <a:xfrm>
            <a:off x="11448288" y="6492240"/>
            <a:ext cx="384048" cy="210312"/>
          </a:xfrm>
          <a:prstGeom prst="rect">
            <a:avLst/>
          </a:prstGeom>
          <a:noFill/>
        </p:spPr>
        <p:txBody>
          <a:bodyPr wrap="square" lIns="18288" rIns="18288" tIns="18288">
            <a:spAutoFit/>
          </a:bodyPr>
          <a:lstStyle/>
          <a:p>
            <a:pPr>
              <a:spcAft>
                <a:spcPts val="400"/>
              </a:spcAft>
              <a:defRPr sz="1000" b="0">
                <a:solidFill>
                  <a:srgbClr val="AFC0D6"/>
                </a:solidFill>
                <a:latin typeface="Aptos"/>
              </a:defRPr>
            </a:pPr>
            <a:r>
              <a:t>14</a:t>
            </a:r>
          </a:p>
        </p:txBody>
      </p:sp>
      <p:sp>
        <p:nvSpPr>
          <p:cNvPr id="7" name="TextBox 6"/>
          <p:cNvSpPr txBox="1"/>
          <p:nvPr/>
        </p:nvSpPr>
        <p:spPr>
          <a:xfrm>
            <a:off x="594360" y="2560320"/>
            <a:ext cx="10424160" cy="1463040"/>
          </a:xfrm>
          <a:prstGeom prst="rect">
            <a:avLst/>
          </a:prstGeom>
          <a:noFill/>
        </p:spPr>
        <p:txBody>
          <a:bodyPr wrap="square" lIns="18288" rIns="18288" tIns="18288">
            <a:spAutoFit/>
          </a:bodyPr>
          <a:lstStyle/>
          <a:p>
            <a:pPr>
              <a:spcAft>
                <a:spcPts val="400"/>
              </a:spcAft>
              <a:defRPr sz="2200" b="0">
                <a:solidFill>
                  <a:srgbClr val="EAF1FA"/>
                </a:solidFill>
                <a:latin typeface="Aptos"/>
              </a:defRPr>
            </a:pPr>
            <a:r>
              <a:t>Use one genuine previously rendered moving clip if live generation stalls.</a:t>
            </a:r>
          </a:p>
          <a:p>
            <a:pPr>
              <a:spcAft>
                <a:spcPts val="400"/>
              </a:spcAft>
              <a:defRPr sz="2200" b="0">
                <a:solidFill>
                  <a:srgbClr val="EAF1FA"/>
                </a:solidFill>
                <a:latin typeface="Aptos"/>
              </a:defRPr>
            </a:pPr>
            <a:r>
              <a:t>Reject robotic voices. Verify rights, brand and captions.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