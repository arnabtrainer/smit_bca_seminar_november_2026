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Opening. Connect this to Module 2: We used sources to learn, and now we will make an original creative video. No need to recite tool histories. Describe a single four-scene concept. Ask participants: Could one person make a short film from a written idea? Allow one response. Flexible 1–2 minute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Explain flow: choose simple story; write precise prompts; generate/iterate clips in Flow; assemble in Canva, add original/licensed audio and text, export an MP4. Stress this is conceptual creative production, not an official advertising claim. Flex: 2–3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Point at each image. These are AI-generated still references, not Flow video frames. Narrative: Curiosity: a question; Imagination: a possibility; Creation: testing with a team; Impact: a result that helps people. Do not introduce 24 supporting files. Flex: 2–3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Compare weak generic prompt with a stronger prompt. Open prompt sheet file 03_LIVE_PROMPTS.md. Show only one live generation attempt. Prepared prompt specifies subject, action, setting, light, camera and constraints. Do not promise a clip will render immediately. Flex: 4–6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Open 04_Reference_Image.jpg. In Flow choose a compatible frame/image-to-video workflow, attach reference, paste image-to-video prompt from sheet. If interface/model doesn't support chosen reference workflow, describe it using still+prompt rather than forcing a different UI. Ask students to spot what ought to remain constant. Flex: 4–6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Play 05_Storyboard_Animatic_SILENT.mp4 as illustration ONLY, clearly saying 'silent storyboard animatic assembled from still images; not actual generated Flow video'. If finished Flow video produced separately, use it instead with explicit label. Canva editing can be explained using the four clip sequence on screen; don't navigate multiple asset folders live. Flex: 2–4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Take one audience suggestion: mood or camera move. Ask why keeping words/logos out of generated footage improves quality. Read 2–3 do/don't examples. Show how unwanted movement is refined in next prompt. Flex: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Consent: no unauthorised real people or logos. Verify outputs are fictitious, copyright music and stock, avoid misleading representations of institutions and product features, disclose synthetic imagery where appropriate. Flex: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TRAINER NOTES | Sum up: 1 idea + 4 scenes + focused prompts + careful assembly. Announce Module 4 'AI Can Help Me Build'. If time is short, skip optional demonstration variations; preserve clear ending. Flex: 1–2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contingency: preferred completed Flow MP4 is not present in this kit. Do not call animatic a Flow-generated film. If online generation is slow, show the concept and the still-image preview; keep the rest of the session moving. Suggested core demonstration 25–35 minutes; shortened 12–15 minutes. Timings must not appear in audience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3/02_Reference_Images/S04_Impact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72C">
              <a:alpha val="54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4088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150876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 CREATE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713232" y="3840480"/>
            <a:ext cx="960120" cy="73152"/>
          </a:xfrm>
          <a:prstGeom prst="rect">
            <a:avLst/>
          </a:prstGeom>
          <a:solidFill>
            <a:srgbClr val="F8C56A"/>
          </a:solidFill>
          <a:ln w="12700">
            <a:solidFill>
              <a:srgbClr val="F8C56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" y="413308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IMAGINATION TO A CINEMATIC SHORT FILM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22376" y="4892040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 Can Change Tomorrow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CREATIVE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idea. Four creative steps.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workflow for turning a story into an original short film.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" y="2240280"/>
            <a:ext cx="2633472" cy="3154680"/>
          </a:xfrm>
          <a:prstGeom prst="roundRect">
            <a:avLst>
              <a:gd name="adj" fmla="val 451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08176" y="25054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3544" y="318211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your message and outline the story.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01568" y="2240280"/>
            <a:ext cx="2633472" cy="3154680"/>
          </a:xfrm>
          <a:prstGeom prst="roundRect">
            <a:avLst>
              <a:gd name="adj" fmla="val 451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97096" y="25054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12464" y="318211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prompts for scenes, movement and style.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0488" y="2240280"/>
            <a:ext cx="2633472" cy="3154680"/>
          </a:xfrm>
          <a:prstGeom prst="roundRect">
            <a:avLst>
              <a:gd name="adj" fmla="val 451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86016" y="25054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1384" y="3182112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short clips with an AI video model.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79408" y="2240280"/>
            <a:ext cx="2596896" cy="3154680"/>
          </a:xfrm>
          <a:prstGeom prst="roundRect">
            <a:avLst>
              <a:gd name="adj" fmla="val 4577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2514600"/>
            <a:ext cx="457200" cy="448056"/>
          </a:xfrm>
          <a:prstGeom prst="roundRect">
            <a:avLst>
              <a:gd name="adj" fmla="val 30612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5786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74936" y="2505456"/>
            <a:ext cx="1563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Polish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90304" y="3182112"/>
            <a:ext cx="1975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clips, captions, audio and titles.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FOUR-SCENE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 Can Change Tomorrow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narrative anyone can adapt to learning, work or creative projects.</a:t>
            </a:r>
            <a:endParaRPr lang="en-US" sz="1500" dirty="0"/>
          </a:p>
        </p:txBody>
      </p:sp>
      <p:pic>
        <p:nvPicPr>
          <p:cNvPr id="6" name="Image 0" descr="/mnt/data/AI_in_Action_Module_3/02_Reference_Images/S01_Curiosity.jpg">    </p:cNvPr>
          <p:cNvPicPr>
            <a:picLocks noChangeAspect="1"/>
          </p:cNvPicPr>
          <p:nvPr/>
        </p:nvPicPr>
        <p:blipFill>
          <a:blip r:embed="rId1"/>
          <a:srcRect l="0" r="0" t="21085" b="21085"/>
          <a:stretch/>
        </p:blipFill>
        <p:spPr>
          <a:xfrm>
            <a:off x="585216" y="2084832"/>
            <a:ext cx="5422392" cy="1764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" y="3136392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246120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502152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idea begins with a question</a:t>
            </a:r>
            <a:endParaRPr lang="en-US" sz="1000" dirty="0"/>
          </a:p>
        </p:txBody>
      </p:sp>
      <p:pic>
        <p:nvPicPr>
          <p:cNvPr id="10" name="Image 1" descr="/mnt/data/AI_in_Action_Module_3/02_Reference_Images/S02_Imagination.jpg">    </p:cNvPr>
          <p:cNvPicPr>
            <a:picLocks noChangeAspect="1"/>
          </p:cNvPicPr>
          <p:nvPr/>
        </p:nvPicPr>
        <p:blipFill>
          <a:blip r:embed="rId2"/>
          <a:srcRect l="0" r="0" t="21085" b="21085"/>
          <a:stretch/>
        </p:blipFill>
        <p:spPr>
          <a:xfrm>
            <a:off x="6126480" y="2084832"/>
            <a:ext cx="5422392" cy="17647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26480" y="3136392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91072" y="3246120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291072" y="3502152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Picture a new possibility</a:t>
            </a:r>
            <a:endParaRPr lang="en-US" sz="1000" dirty="0"/>
          </a:p>
        </p:txBody>
      </p:sp>
      <p:pic>
        <p:nvPicPr>
          <p:cNvPr id="14" name="Image 2" descr="/mnt/data/AI_in_Action_Module_3/02_Reference_Images/S03_Creation.jpg">    </p:cNvPr>
          <p:cNvPicPr>
            <a:picLocks noChangeAspect="1"/>
          </p:cNvPicPr>
          <p:nvPr/>
        </p:nvPicPr>
        <p:blipFill>
          <a:blip r:embed="rId3"/>
          <a:srcRect l="0" r="0" t="21085" b="21085"/>
          <a:stretch/>
        </p:blipFill>
        <p:spPr>
          <a:xfrm>
            <a:off x="585216" y="4160520"/>
            <a:ext cx="5422392" cy="17647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85216" y="5212080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49808" y="5321808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49808" y="5577840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improve and collaborate</a:t>
            </a:r>
            <a:endParaRPr lang="en-US" sz="1000" dirty="0"/>
          </a:p>
        </p:txBody>
      </p:sp>
      <p:pic>
        <p:nvPicPr>
          <p:cNvPr id="18" name="Image 3" descr="/mnt/data/AI_in_Action_Module_3/02_Reference_Images/S04_Impact.jpg">    </p:cNvPr>
          <p:cNvPicPr>
            <a:picLocks noChangeAspect="1"/>
          </p:cNvPicPr>
          <p:nvPr/>
        </p:nvPicPr>
        <p:blipFill>
          <a:blip r:embed="rId4"/>
          <a:srcRect l="0" r="0" t="21085" b="21085"/>
          <a:stretch/>
        </p:blipFill>
        <p:spPr>
          <a:xfrm>
            <a:off x="6126480" y="4160520"/>
            <a:ext cx="5422392" cy="176479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26480" y="5212080"/>
            <a:ext cx="5422392" cy="713232"/>
          </a:xfrm>
          <a:prstGeom prst="rect">
            <a:avLst/>
          </a:prstGeom>
          <a:solidFill>
            <a:srgbClr val="07172C">
              <a:alpha val="82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291072" y="5321808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91072" y="5577840"/>
            <a:ext cx="5093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something useful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→ VIDEO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prompts create better direction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about the subject, action and camera help guide the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67128"/>
            <a:ext cx="5230368" cy="3172968"/>
          </a:xfrm>
          <a:prstGeom prst="rect">
            <a:avLst/>
          </a:prstGeom>
          <a:solidFill>
            <a:srgbClr val="17324F"/>
          </a:solidFill>
          <a:ln w="12700">
            <a:solidFill>
              <a:srgbClr val="17324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441448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136392"/>
            <a:ext cx="45902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person works on a laptop.”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153912" y="2167128"/>
            <a:ext cx="5385816" cy="3172968"/>
          </a:xfrm>
          <a:prstGeom prst="rect">
            <a:avLst/>
          </a:prstGeom>
          <a:solidFill>
            <a:srgbClr val="133C52"/>
          </a:solidFill>
          <a:ln w="12700">
            <a:solidFill>
              <a:srgbClr val="133C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2441448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2898648"/>
            <a:ext cx="47183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curious creator sketches an idea at a desk; warm sunset, gentle camera push-in, realistic movement, no embedded text.”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  •   Action   •   Setting   •   Camera   •   Lighting   •   Constraints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→ VIDEO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a still image a sense of motion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image reference can guide composition, character and visual continuity.</a:t>
            </a:r>
            <a:endParaRPr lang="en-US" sz="1500" dirty="0"/>
          </a:p>
        </p:txBody>
      </p:sp>
      <p:pic>
        <p:nvPicPr>
          <p:cNvPr id="6" name="Image 0" descr="/mnt/data/AI_in_Action_Module_3/02_Reference_Images/S01_Curiosity.jpg">    </p:cNvPr>
          <p:cNvPicPr>
            <a:picLocks noChangeAspect="1"/>
          </p:cNvPicPr>
          <p:nvPr/>
        </p:nvPicPr>
        <p:blipFill>
          <a:blip r:embed="rId1"/>
          <a:srcRect l="1557" r="1557" t="0" b="0"/>
          <a:stretch/>
        </p:blipFill>
        <p:spPr>
          <a:xfrm>
            <a:off x="667512" y="2048256"/>
            <a:ext cx="621792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14032" y="2103120"/>
            <a:ext cx="4453128" cy="3566160"/>
          </a:xfrm>
          <a:prstGeom prst="rect">
            <a:avLst/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70064" y="2432304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79792" y="2496312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2368296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person and setting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70064" y="3127248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79792" y="3191256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0" y="3063240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one believable action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370064" y="3822192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3886200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863840" y="3758184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gentle camera movement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370064" y="4517136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79792" y="4581144"/>
            <a:ext cx="1005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17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863840" y="4453128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text and logos out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FINISHED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four scenes to one film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storytelling elements in the editor—then share a finished MP4.</a:t>
            </a:r>
            <a:endParaRPr lang="en-US" sz="1500" dirty="0"/>
          </a:p>
        </p:txBody>
      </p:sp>
      <p:pic>
        <p:nvPicPr>
          <p:cNvPr id="6" name="Image 0" descr="/mnt/data/AI_in_Action_Module_3/02_Reference_Images/S01_Curiosity.jpg">    </p:cNvPr>
          <p:cNvPicPr>
            <a:picLocks noChangeAspect="1"/>
          </p:cNvPicPr>
          <p:nvPr/>
        </p:nvPicPr>
        <p:blipFill>
          <a:blip r:embed="rId1"/>
          <a:srcRect l="14648" r="14648" t="0" b="0"/>
          <a:stretch/>
        </p:blipFill>
        <p:spPr>
          <a:xfrm>
            <a:off x="630936" y="2240280"/>
            <a:ext cx="2734056" cy="2176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CURIOSITY</a:t>
            </a:r>
            <a:endParaRPr lang="en-US" sz="1200" dirty="0"/>
          </a:p>
        </p:txBody>
      </p:sp>
      <p:pic>
        <p:nvPicPr>
          <p:cNvPr id="9" name="Image 1" descr="/mnt/data/AI_in_Action_Module_3/02_Reference_Images/S02_Imagination.jpg">    </p:cNvPr>
          <p:cNvPicPr>
            <a:picLocks noChangeAspect="1"/>
          </p:cNvPicPr>
          <p:nvPr/>
        </p:nvPicPr>
        <p:blipFill>
          <a:blip r:embed="rId2"/>
          <a:srcRect l="14648" r="14648" t="0" b="0"/>
          <a:stretch/>
        </p:blipFill>
        <p:spPr>
          <a:xfrm>
            <a:off x="3538728" y="2240280"/>
            <a:ext cx="2734056" cy="21762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38728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48456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IMAGINATION</a:t>
            </a:r>
            <a:endParaRPr lang="en-US" sz="1200" dirty="0"/>
          </a:p>
        </p:txBody>
      </p:sp>
      <p:pic>
        <p:nvPicPr>
          <p:cNvPr id="12" name="Image 2" descr="/mnt/data/AI_in_Action_Module_3/02_Reference_Images/S03_Creation.jpg">    </p:cNvPr>
          <p:cNvPicPr>
            <a:picLocks noChangeAspect="1"/>
          </p:cNvPicPr>
          <p:nvPr/>
        </p:nvPicPr>
        <p:blipFill>
          <a:blip r:embed="rId3"/>
          <a:srcRect l="14648" r="14648" t="0" b="0"/>
          <a:stretch/>
        </p:blipFill>
        <p:spPr>
          <a:xfrm>
            <a:off x="6446520" y="2240280"/>
            <a:ext cx="2734056" cy="21762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46520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56248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CREATION</a:t>
            </a:r>
            <a:endParaRPr lang="en-US" sz="1200" dirty="0"/>
          </a:p>
        </p:txBody>
      </p:sp>
      <p:pic>
        <p:nvPicPr>
          <p:cNvPr id="15" name="Image 3" descr="/mnt/data/AI_in_Action_Module_3/02_Reference_Images/S04_Impact.jpg">    </p:cNvPr>
          <p:cNvPicPr>
            <a:picLocks noChangeAspect="1"/>
          </p:cNvPicPr>
          <p:nvPr/>
        </p:nvPicPr>
        <p:blipFill>
          <a:blip r:embed="rId4"/>
          <a:srcRect l="14648" r="14648" t="0" b="0"/>
          <a:stretch/>
        </p:blipFill>
        <p:spPr>
          <a:xfrm>
            <a:off x="9354312" y="2240280"/>
            <a:ext cx="2734056" cy="21762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354312" y="3931920"/>
            <a:ext cx="2734056" cy="475488"/>
          </a:xfrm>
          <a:prstGeom prst="rect">
            <a:avLst/>
          </a:prstGeom>
          <a:solidFill>
            <a:srgbClr val="07172C">
              <a:alpha val="85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464040" y="4078224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31520" y="4901184"/>
            <a:ext cx="107076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CLIPS  +  TITLES  +  VOICEOVER  +  MUSIC  =  SHORT FILM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1248" y="5705856"/>
            <a:ext cx="10469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Flow generates clips  •  Canva assembles and exports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result is a starting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the next version with precise feedback.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" y="2011680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31136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movement?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73168" y="22128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slow, stable camera move.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04088" y="2944368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73A50"/>
          </a:solidFill>
          <a:ln w="12700">
            <a:solidFill>
              <a:srgbClr val="173A5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163824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Characters look different?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73168" y="314553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same reference where supported.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088" y="3877056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02E4A"/>
          </a:solidFill>
          <a:ln w="12700">
            <a:solidFill>
              <a:srgbClr val="102E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096512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Unwanted words appear?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73168" y="407822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embedded text; add titles in editing.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4088" y="4809744"/>
            <a:ext cx="10808208" cy="749808"/>
          </a:xfrm>
          <a:prstGeom prst="roundRect">
            <a:avLst>
              <a:gd name="adj" fmla="val 15854"/>
            </a:avLst>
          </a:prstGeom>
          <a:solidFill>
            <a:srgbClr val="173A50"/>
          </a:solidFill>
          <a:ln w="12700">
            <a:solidFill>
              <a:srgbClr val="173A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5029200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feels unrealistic?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3168" y="50109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natural gestures and a believable setting.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CREATIVITY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with care and credibility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creative results deserve thoughtful review before sharing.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207568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35915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233172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6736" y="277063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images, likenesses and privacy.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36792" y="207568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5915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33172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COPYRIGHT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277063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media and music you have the right to use.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76732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696" y="405079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6736" y="402336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6736" y="446227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portray fictional footage as real evidence.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36792" y="3767328"/>
            <a:ext cx="5230368" cy="1426464"/>
          </a:xfrm>
          <a:prstGeom prst="roundRect">
            <a:avLst>
              <a:gd name="adj" fmla="val 8333"/>
            </a:avLst>
          </a:prstGeom>
          <a:solidFill>
            <a:srgbClr val="11304B"/>
          </a:solidFill>
          <a:ln w="12700">
            <a:solidFill>
              <a:srgbClr val="11304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050792"/>
            <a:ext cx="137160" cy="859536"/>
          </a:xfrm>
          <a:prstGeom prst="rect">
            <a:avLst/>
          </a:prstGeom>
          <a:solidFill>
            <a:srgbClr val="28C6D8"/>
          </a:solidFill>
          <a:ln w="12700">
            <a:solidFill>
              <a:srgbClr val="28C6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02336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462272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titles, captions, brands and visual claims.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12700">
            <a:solidFill>
              <a:srgbClr val="345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7453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HELP ME CREATE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28248" y="6556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in_Action_Module_3/02_Reference_Images/S04_Impact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72C">
              <a:alpha val="54000"/>
            </a:srgbClr>
          </a:solidFill>
          <a:ln w="12700">
            <a:solidFill>
              <a:srgbClr val="07172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389888"/>
            <a:ext cx="10561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IDEA CAN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TOMORROW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749808" y="3904488"/>
            <a:ext cx="941832" cy="73152"/>
          </a:xfrm>
          <a:prstGeom prst="rect">
            <a:avLst/>
          </a:prstGeom>
          <a:solidFill>
            <a:srgbClr val="F8C56A"/>
          </a:solidFill>
          <a:ln w="12700">
            <a:solidFill>
              <a:srgbClr val="F8C56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4187952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Learn. Create. Build.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8096" y="5833872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 →  AI CAN HELP ME BUILD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0717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/  LEARN • CREATE •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0" y="26517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demonstration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4996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2D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logistics; do not show in slideshow or distribute.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185416"/>
            <a:ext cx="1002182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Open Flow and show one text-to-video prompt.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Attach 04_Reference_Image.jpg for image-to-video.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Preview 05_Storyboard_Animatic_SILENT.mp4 (still-image animatic).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Mention Canva assembly and responsible use.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Move to Module 4.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in Action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Can Help Me Create</dc:title>
  <dc:subject>Module 3: Create an AI short film</dc:subject>
  <dc:creator>AI in Action Training</dc:creator>
  <cp:lastModifiedBy>AI in Action Training</cp:lastModifiedBy>
  <cp:revision>1</cp:revision>
  <dcterms:created xsi:type="dcterms:W3CDTF">2026-10-21T14:01:36Z</dcterms:created>
  <dcterms:modified xsi:type="dcterms:W3CDTF">2026-10-21T14:01:36Z</dcterms:modified>
</cp:coreProperties>
</file>