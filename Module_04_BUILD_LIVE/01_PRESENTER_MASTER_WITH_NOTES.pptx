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“AI can help you create software, not just write text or generate pictures.” This is a beginner-friendly demonstration; participants do not need coding knowledge. Explain that the app's behavior should be tested. Suggested 1–2 minutes. Transition to a relatable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would you expect a daily task planner to do?” Invite 1–2 answers. Do not spend time on advanced programming concepts. Point out these suggestions are requirements that must become test cases. Suggested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complete loop Idea → Prompt → Build → Test → Improve. Point out that this is AI-assisted development: the running planner is conventional software logic, not necessarily an LLM-powered assistant. Ask: “If the app adds a task but does not save it, is it finished?” Suggested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translates the brief into observable features. Confirm that Study/Work modes do not imply separate cloud user accounts; here they are merely two sets of tasks in the same local data store. Point to task storage as a separate requirement. Suggested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separate private all-in-one guide and copy PROMPT 1, which spells out the entire application specification. Don’t paste only the five summarized bullets shown here. Ask Claude for an interactive Artifact. If the app preview is not offered immediately, request “Create an interactive Artifact, not just code.” Estimated demo creation may vary by account and network; do not promise a fixed completion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generated Claude preview if ready. In parallel, demonstrate the tested offline HTML as a dependable backup: Add a task, edit its deadline and priority, mark completed, switch study/work. The screenshot is from the prepared offline app and should not be misrepresented as output Claude generated in the live session. Explain this distinction clearly. Suggested 5–8 minutes for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Study and Work modes. They should display separate tasks. Discuss how this makes the same learning project audience-neutral for academic institutions and corporate sessions. Ask one participant to suggest a task for the chosen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visible counts to show progress = completed/total × 100. Counts must update after clicking Complete or Reopen. Ask the audience: “If all 4 are completed, what should the display show?” Answer 100%. Empty mode should show 0%, not NaN or a broken display. Suggested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3 from private guide reviews and tests all major behaviors. Do NOT claim generated app passed tests without evidence. Show 2–3 fast manual checks: create, complete, mode switch. Explain local storage in the supplied HTML sample; hosted Claude Artifact persistence may differ by product/account. Mention inputs must be safely escaped and data should not contain personal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follow-up prompt 4 from the private guide. Invite a small enhancement from the audience if time allows. Demonstrate dark mode toggle in the offline app. If Claude modifies the Artifact, verify older features still work. This is incremental improvement and is easier to evaluate than asking for ten new features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packaged HTML uses localStorage when available, no server, no real reminders, and no runtime AI calls. The app was created as a standalone educational example and should not be presented as a saved Claude Artifact. Do not enter real confidential information. Claude sharing can require an account and depend on plan and permissions; use official docs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core takeaway: software prototyping is easier with AI, but responsibility stays with the builder. Transition to Module 5 for quiz, takeaways and participant feedback. Do not state audience-facing timings.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4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ED9DB"/>
          </a:solidFill>
          <a:ln w="12700">
            <a:solidFill>
              <a:srgbClr val="6ED9DB"/>
            </a:solidFill>
            <a:prstDash val="solid"/>
          </a:ln>
        </p:spPr>
      </p:sp>
      <p:sp>
        <p:nvSpPr>
          <p:cNvPr id="3" name="Shape 1"/>
          <p:cNvSpPr/>
          <p:nvPr/>
        </p:nvSpPr>
        <p:spPr>
          <a:xfrm>
            <a:off x="7589520" y="118872"/>
            <a:ext cx="4434840" cy="6309360"/>
          </a:xfrm>
          <a:prstGeom prst="ellipse">
            <a:avLst/>
          </a:prstGeom>
          <a:solidFill>
            <a:srgbClr val="243F7A">
              <a:alpha val="75000"/>
            </a:srgbClr>
          </a:solidFill>
          <a:ln w="12700">
            <a:solidFill>
              <a:srgbClr val="333333">
                <a:alpha val="0"/>
              </a:srgbClr>
            </a:solidFill>
            <a:prstDash val="solid"/>
          </a:ln>
        </p:spPr>
      </p:sp>
      <p:sp>
        <p:nvSpPr>
          <p:cNvPr id="4" name="Shape 2"/>
          <p:cNvSpPr/>
          <p:nvPr/>
        </p:nvSpPr>
        <p:spPr>
          <a:xfrm>
            <a:off x="713232" y="594360"/>
            <a:ext cx="1371600" cy="292608"/>
          </a:xfrm>
          <a:prstGeom prst="roundRect">
            <a:avLst>
              <a:gd name="adj" fmla="val 50000"/>
            </a:avLst>
          </a:prstGeom>
          <a:solidFill>
            <a:srgbClr val="2C457F"/>
          </a:solidFill>
          <a:ln w="12700">
            <a:solidFill>
              <a:srgbClr val="2C457F"/>
            </a:solidFill>
            <a:prstDash val="solid"/>
          </a:ln>
        </p:spPr>
      </p:sp>
      <p:sp>
        <p:nvSpPr>
          <p:cNvPr id="5" name="Text 3"/>
          <p:cNvSpPr/>
          <p:nvPr/>
        </p:nvSpPr>
        <p:spPr>
          <a:xfrm>
            <a:off x="822960" y="658368"/>
            <a:ext cx="1152144" cy="17373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MODULE 04</a:t>
            </a:r>
            <a:endParaRPr lang="en-US" sz="1200" dirty="0"/>
          </a:p>
        </p:txBody>
      </p:sp>
      <p:sp>
        <p:nvSpPr>
          <p:cNvPr id="6" name="Text 4"/>
          <p:cNvSpPr/>
          <p:nvPr/>
        </p:nvSpPr>
        <p:spPr>
          <a:xfrm>
            <a:off x="722376" y="1325880"/>
            <a:ext cx="6537960" cy="96012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pitchFamily="34" charset="0"/>
                <a:ea typeface="Aptos" pitchFamily="34" charset="-122"/>
                <a:cs typeface="Aptos" pitchFamily="34" charset="-120"/>
              </a:rPr>
              <a:t>AI Can Help Me Build</a:t>
            </a:r>
            <a:endParaRPr lang="en-US" sz="4200" dirty="0"/>
          </a:p>
        </p:txBody>
      </p:sp>
      <p:sp>
        <p:nvSpPr>
          <p:cNvPr id="7" name="Text 5"/>
          <p:cNvSpPr/>
          <p:nvPr/>
        </p:nvSpPr>
        <p:spPr>
          <a:xfrm>
            <a:off x="731520" y="2468880"/>
            <a:ext cx="6400800" cy="548640"/>
          </a:xfrm>
          <a:prstGeom prst="rect">
            <a:avLst/>
          </a:prstGeom>
          <a:noFill/>
          <a:ln/>
        </p:spPr>
        <p:txBody>
          <a:bodyPr wrap="square" lIns="0" tIns="0" rIns="0" bIns="0" rtlCol="0" anchor="ctr">
            <a:normAutofit/>
          </a:bodyPr>
          <a:lstStyle/>
          <a:p>
            <a:pPr indent="0" marL="0">
              <a:buNone/>
            </a:pPr>
            <a:r>
              <a:rPr lang="en-US" sz="2500" dirty="0">
                <a:solidFill>
                  <a:srgbClr val="AEF1EC"/>
                </a:solidFill>
                <a:latin typeface="Aptos" pitchFamily="34" charset="0"/>
                <a:ea typeface="Aptos" pitchFamily="34" charset="-122"/>
                <a:cs typeface="Aptos" pitchFamily="34" charset="-120"/>
              </a:rPr>
              <a:t>From an idea to a working application</a:t>
            </a:r>
            <a:endParaRPr lang="en-US" sz="2500" dirty="0"/>
          </a:p>
        </p:txBody>
      </p:sp>
      <p:sp>
        <p:nvSpPr>
          <p:cNvPr id="8" name="Text 6"/>
          <p:cNvSpPr/>
          <p:nvPr/>
        </p:nvSpPr>
        <p:spPr>
          <a:xfrm>
            <a:off x="749808" y="3319272"/>
            <a:ext cx="6675120" cy="384048"/>
          </a:xfrm>
          <a:prstGeom prst="rect">
            <a:avLst/>
          </a:prstGeom>
          <a:noFill/>
          <a:ln/>
        </p:spPr>
        <p:txBody>
          <a:bodyPr wrap="square" lIns="0" tIns="0" rIns="0" bIns="0" rtlCol="0" anchor="ctr">
            <a:normAutofit/>
          </a:bodyPr>
          <a:lstStyle/>
          <a:p>
            <a:pPr indent="0" marL="0">
              <a:buNone/>
            </a:pPr>
            <a:r>
              <a:rPr lang="en-US" sz="1900" dirty="0">
                <a:solidFill>
                  <a:srgbClr val="D5E1FA"/>
                </a:solidFill>
                <a:latin typeface="Aptos" pitchFamily="34" charset="0"/>
                <a:ea typeface="Aptos" pitchFamily="34" charset="-122"/>
                <a:cs typeface="Aptos" pitchFamily="34" charset="-120"/>
              </a:rPr>
              <a:t>Describe  •  Build  •  Test  •  Improve</a:t>
            </a:r>
            <a:endParaRPr lang="en-US" sz="1900" dirty="0"/>
          </a:p>
        </p:txBody>
      </p:sp>
      <p:sp>
        <p:nvSpPr>
          <p:cNvPr id="9" name="Shape 7"/>
          <p:cNvSpPr/>
          <p:nvPr/>
        </p:nvSpPr>
        <p:spPr>
          <a:xfrm>
            <a:off x="731520" y="4023360"/>
            <a:ext cx="2286000" cy="292608"/>
          </a:xfrm>
          <a:prstGeom prst="roundRect">
            <a:avLst>
              <a:gd name="adj" fmla="val 50000"/>
            </a:avLst>
          </a:prstGeom>
          <a:solidFill>
            <a:srgbClr val="3358B5"/>
          </a:solidFill>
          <a:ln w="12700">
            <a:solidFill>
              <a:srgbClr val="3358B5"/>
            </a:solidFill>
            <a:prstDash val="solid"/>
          </a:ln>
        </p:spPr>
      </p:sp>
      <p:sp>
        <p:nvSpPr>
          <p:cNvPr id="10" name="Text 8"/>
          <p:cNvSpPr/>
          <p:nvPr/>
        </p:nvSpPr>
        <p:spPr>
          <a:xfrm>
            <a:off x="841248" y="4087368"/>
            <a:ext cx="2066544" cy="17373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MY SMART PLANNER</a:t>
            </a:r>
            <a:endParaRPr lang="en-US" sz="1200" dirty="0"/>
          </a:p>
        </p:txBody>
      </p:sp>
      <p:sp>
        <p:nvSpPr>
          <p:cNvPr id="11" name="Text 9"/>
          <p:cNvSpPr/>
          <p:nvPr/>
        </p:nvSpPr>
        <p:spPr>
          <a:xfrm>
            <a:off x="740664" y="4873752"/>
            <a:ext cx="6766560" cy="457200"/>
          </a:xfrm>
          <a:prstGeom prst="rect">
            <a:avLst/>
          </a:prstGeom>
          <a:noFill/>
          <a:ln/>
        </p:spPr>
        <p:txBody>
          <a:bodyPr wrap="square" lIns="0" tIns="0" rIns="0" bIns="0" rtlCol="0" anchor="ctr">
            <a:normAutofit/>
          </a:bodyPr>
          <a:lstStyle/>
          <a:p>
            <a:pPr indent="0" marL="0">
              <a:buNone/>
            </a:pPr>
            <a:r>
              <a:rPr lang="en-US" sz="1800" dirty="0">
                <a:solidFill>
                  <a:srgbClr val="DDE8FD"/>
                </a:solidFill>
                <a:latin typeface="Aptos" pitchFamily="34" charset="0"/>
                <a:ea typeface="Aptos" pitchFamily="34" charset="-122"/>
                <a:cs typeface="Aptos" pitchFamily="34" charset="-120"/>
              </a:rPr>
              <a:t>One app. Useful for study and work.</a:t>
            </a:r>
            <a:endParaRPr lang="en-US" sz="1800" dirty="0"/>
          </a:p>
        </p:txBody>
      </p:sp>
      <p:pic>
        <p:nvPicPr>
          <p:cNvPr id="12" name="Image 0" descr="/mnt/data/module4_mobile_crop.png">    </p:cNvPr>
          <p:cNvPicPr>
            <a:picLocks noChangeAspect="1"/>
          </p:cNvPicPr>
          <p:nvPr/>
        </p:nvPicPr>
        <p:blipFill>
          <a:blip r:embed="rId1"/>
          <a:stretch>
            <a:fillRect/>
          </a:stretch>
        </p:blipFill>
        <p:spPr>
          <a:xfrm>
            <a:off x="8229600" y="1005840"/>
            <a:ext cx="2743200" cy="4572000"/>
          </a:xfrm>
          <a:prstGeom prst="rect">
            <a:avLst/>
          </a:prstGeom>
        </p:spPr>
      </p:pic>
      <p:sp>
        <p:nvSpPr>
          <p:cNvPr id="13" name="Shape 10"/>
          <p:cNvSpPr/>
          <p:nvPr/>
        </p:nvSpPr>
        <p:spPr>
          <a:xfrm>
            <a:off x="7726680" y="5596128"/>
            <a:ext cx="3520440" cy="448056"/>
          </a:xfrm>
          <a:prstGeom prst="roundRect">
            <a:avLst>
              <a:gd name="adj" fmla="val 32653"/>
            </a:avLst>
          </a:prstGeom>
          <a:solidFill>
            <a:srgbClr val="FFFFFF"/>
          </a:solidFill>
          <a:ln w="12700">
            <a:solidFill>
              <a:srgbClr val="FFFFFF"/>
            </a:solidFill>
            <a:prstDash val="solid"/>
          </a:ln>
        </p:spPr>
      </p:sp>
      <p:sp>
        <p:nvSpPr>
          <p:cNvPr id="14" name="Text 11"/>
          <p:cNvSpPr/>
          <p:nvPr/>
        </p:nvSpPr>
        <p:spPr>
          <a:xfrm>
            <a:off x="7863840" y="5733288"/>
            <a:ext cx="3246120" cy="182880"/>
          </a:xfrm>
          <a:prstGeom prst="rect">
            <a:avLst/>
          </a:prstGeom>
          <a:noFill/>
          <a:ln/>
        </p:spPr>
        <p:txBody>
          <a:bodyPr wrap="square" lIns="0" tIns="0" rIns="0" bIns="0" rtlCol="0" anchor="ctr">
            <a:normAutofit/>
          </a:bodyPr>
          <a:lstStyle/>
          <a:p>
            <a:pPr algn="ctr" indent="0" marL="0">
              <a:buNone/>
            </a:pPr>
            <a:r>
              <a:rPr lang="en-US" sz="1200" b="1" dirty="0">
                <a:solidFill>
                  <a:srgbClr val="12264B"/>
                </a:solidFill>
                <a:latin typeface="Aptos" pitchFamily="34" charset="0"/>
                <a:ea typeface="Aptos" pitchFamily="34" charset="-122"/>
                <a:cs typeface="Aptos" pitchFamily="34" charset="-120"/>
              </a:rPr>
              <a:t>Practical, interactive demonstration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02</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A familiar problem. A useful idea.</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Good software begins with a problem worth solving.</a:t>
            </a:r>
            <a:endParaRPr lang="en-US" sz="1500" dirty="0"/>
          </a:p>
        </p:txBody>
      </p:sp>
      <p:sp>
        <p:nvSpPr>
          <p:cNvPr id="8" name="Shape 6"/>
          <p:cNvSpPr/>
          <p:nvPr/>
        </p:nvSpPr>
        <p:spPr>
          <a:xfrm>
            <a:off x="667512" y="1965960"/>
            <a:ext cx="5605272" cy="3319272"/>
          </a:xfrm>
          <a:prstGeom prst="roundRect">
            <a:avLst>
              <a:gd name="adj" fmla="val 4408"/>
            </a:avLst>
          </a:prstGeom>
          <a:solidFill>
            <a:srgbClr val="12264B"/>
          </a:solidFill>
          <a:ln w="12700">
            <a:solidFill>
              <a:srgbClr val="12264B"/>
            </a:solidFill>
            <a:prstDash val="solid"/>
          </a:ln>
        </p:spPr>
      </p:sp>
      <p:sp>
        <p:nvSpPr>
          <p:cNvPr id="9" name="Text 7"/>
          <p:cNvSpPr/>
          <p:nvPr/>
        </p:nvSpPr>
        <p:spPr>
          <a:xfrm>
            <a:off x="1051560" y="2514600"/>
            <a:ext cx="4681728" cy="1591056"/>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Aptos" pitchFamily="34" charset="0"/>
                <a:ea typeface="Aptos" pitchFamily="34" charset="-122"/>
                <a:cs typeface="Aptos" pitchFamily="34" charset="-120"/>
              </a:rPr>
              <a:t>“I have too many things to remember—and I need to know what matters next.”</a:t>
            </a:r>
            <a:endParaRPr lang="en-US" sz="3100" dirty="0"/>
          </a:p>
        </p:txBody>
      </p:sp>
      <p:sp>
        <p:nvSpPr>
          <p:cNvPr id="10" name="Shape 8"/>
          <p:cNvSpPr/>
          <p:nvPr/>
        </p:nvSpPr>
        <p:spPr>
          <a:xfrm>
            <a:off x="1051560" y="4581144"/>
            <a:ext cx="1801368" cy="292608"/>
          </a:xfrm>
          <a:prstGeom prst="roundRect">
            <a:avLst>
              <a:gd name="adj" fmla="val 50000"/>
            </a:avLst>
          </a:prstGeom>
          <a:solidFill>
            <a:srgbClr val="3053A0"/>
          </a:solidFill>
          <a:ln w="12700">
            <a:solidFill>
              <a:srgbClr val="3053A0"/>
            </a:solidFill>
            <a:prstDash val="solid"/>
          </a:ln>
        </p:spPr>
      </p:sp>
      <p:sp>
        <p:nvSpPr>
          <p:cNvPr id="11" name="Text 9"/>
          <p:cNvSpPr/>
          <p:nvPr/>
        </p:nvSpPr>
        <p:spPr>
          <a:xfrm>
            <a:off x="1161288" y="4645152"/>
            <a:ext cx="1581912" cy="17373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THE OPPORTUNITY</a:t>
            </a:r>
            <a:endParaRPr lang="en-US" sz="1000" dirty="0"/>
          </a:p>
        </p:txBody>
      </p:sp>
      <p:sp>
        <p:nvSpPr>
          <p:cNvPr id="12" name="Shape 10"/>
          <p:cNvSpPr/>
          <p:nvPr/>
        </p:nvSpPr>
        <p:spPr>
          <a:xfrm>
            <a:off x="6537960" y="1965960"/>
            <a:ext cx="4965192" cy="3319272"/>
          </a:xfrm>
          <a:prstGeom prst="roundRect">
            <a:avLst>
              <a:gd name="adj" fmla="val 4408"/>
            </a:avLst>
          </a:prstGeom>
          <a:solidFill>
            <a:srgbClr val="FFFFFF"/>
          </a:solidFill>
          <a:ln w="12700">
            <a:solidFill>
              <a:srgbClr val="E4EBF4"/>
            </a:solidFill>
            <a:prstDash val="solid"/>
          </a:ln>
        </p:spPr>
      </p:sp>
      <p:sp>
        <p:nvSpPr>
          <p:cNvPr id="13" name="Text 11"/>
          <p:cNvSpPr/>
          <p:nvPr/>
        </p:nvSpPr>
        <p:spPr>
          <a:xfrm>
            <a:off x="6903720" y="2322576"/>
            <a:ext cx="4206240" cy="365760"/>
          </a:xfrm>
          <a:prstGeom prst="rect">
            <a:avLst/>
          </a:prstGeom>
          <a:noFill/>
          <a:ln/>
        </p:spPr>
        <p:txBody>
          <a:bodyPr wrap="square" lIns="0" tIns="0" rIns="0" bIns="0" rtlCol="0" anchor="ctr">
            <a:normAutofit/>
          </a:bodyPr>
          <a:lstStyle/>
          <a:p>
            <a:pPr indent="0" marL="0">
              <a:buNone/>
            </a:pPr>
            <a:r>
              <a:rPr lang="en-US" sz="2100" b="1" dirty="0">
                <a:solidFill>
                  <a:srgbClr val="12264B"/>
                </a:solidFill>
                <a:latin typeface="Aptos" pitchFamily="34" charset="0"/>
                <a:ea typeface="Aptos" pitchFamily="34" charset="-122"/>
                <a:cs typeface="Aptos" pitchFamily="34" charset="-120"/>
              </a:rPr>
              <a:t>What could an app do?</a:t>
            </a:r>
            <a:endParaRPr lang="en-US" sz="2100" dirty="0"/>
          </a:p>
        </p:txBody>
      </p:sp>
      <p:sp>
        <p:nvSpPr>
          <p:cNvPr id="14" name="Shape 12"/>
          <p:cNvSpPr/>
          <p:nvPr/>
        </p:nvSpPr>
        <p:spPr>
          <a:xfrm>
            <a:off x="6858000" y="2926080"/>
            <a:ext cx="420624" cy="292608"/>
          </a:xfrm>
          <a:prstGeom prst="roundRect">
            <a:avLst>
              <a:gd name="adj" fmla="val 50000"/>
            </a:avLst>
          </a:prstGeom>
          <a:solidFill>
            <a:srgbClr val="E5F7F0"/>
          </a:solidFill>
          <a:ln w="12700">
            <a:solidFill>
              <a:srgbClr val="E5F7F0"/>
            </a:solidFill>
            <a:prstDash val="solid"/>
          </a:ln>
        </p:spPr>
      </p:sp>
      <p:sp>
        <p:nvSpPr>
          <p:cNvPr id="15" name="Text 13"/>
          <p:cNvSpPr/>
          <p:nvPr/>
        </p:nvSpPr>
        <p:spPr>
          <a:xfrm>
            <a:off x="6967728" y="2990088"/>
            <a:ext cx="201168" cy="173736"/>
          </a:xfrm>
          <a:prstGeom prst="rect">
            <a:avLst/>
          </a:prstGeom>
          <a:noFill/>
          <a:ln/>
        </p:spPr>
        <p:txBody>
          <a:bodyPr wrap="square" lIns="0" tIns="0" rIns="0" bIns="0" rtlCol="0" anchor="ctr">
            <a:normAutofit/>
          </a:bodyPr>
          <a:lstStyle/>
          <a:p>
            <a:pPr algn="ctr" indent="0" marL="0">
              <a:buNone/>
            </a:pPr>
            <a:r>
              <a:rPr lang="en-US" sz="1300" b="1" dirty="0">
                <a:solidFill>
                  <a:srgbClr val="168E70"/>
                </a:solidFill>
                <a:latin typeface="Aptos" pitchFamily="34" charset="0"/>
                <a:ea typeface="Aptos" pitchFamily="34" charset="-122"/>
                <a:cs typeface="Aptos" pitchFamily="34" charset="-120"/>
              </a:rPr>
              <a:t>✓</a:t>
            </a:r>
            <a:endParaRPr lang="en-US" sz="1300" dirty="0"/>
          </a:p>
        </p:txBody>
      </p:sp>
      <p:sp>
        <p:nvSpPr>
          <p:cNvPr id="16" name="Text 14"/>
          <p:cNvSpPr/>
          <p:nvPr/>
        </p:nvSpPr>
        <p:spPr>
          <a:xfrm>
            <a:off x="7406640" y="2971800"/>
            <a:ext cx="3584448" cy="320040"/>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Remember tasks and deadlines</a:t>
            </a:r>
            <a:endParaRPr lang="en-US" sz="1700" dirty="0"/>
          </a:p>
        </p:txBody>
      </p:sp>
      <p:sp>
        <p:nvSpPr>
          <p:cNvPr id="17" name="Shape 15"/>
          <p:cNvSpPr/>
          <p:nvPr/>
        </p:nvSpPr>
        <p:spPr>
          <a:xfrm>
            <a:off x="6858000" y="3547872"/>
            <a:ext cx="420624" cy="292608"/>
          </a:xfrm>
          <a:prstGeom prst="roundRect">
            <a:avLst>
              <a:gd name="adj" fmla="val 50000"/>
            </a:avLst>
          </a:prstGeom>
          <a:solidFill>
            <a:srgbClr val="E5F7F0"/>
          </a:solidFill>
          <a:ln w="12700">
            <a:solidFill>
              <a:srgbClr val="E5F7F0"/>
            </a:solidFill>
            <a:prstDash val="solid"/>
          </a:ln>
        </p:spPr>
      </p:sp>
      <p:sp>
        <p:nvSpPr>
          <p:cNvPr id="18" name="Text 16"/>
          <p:cNvSpPr/>
          <p:nvPr/>
        </p:nvSpPr>
        <p:spPr>
          <a:xfrm>
            <a:off x="6967728" y="3611880"/>
            <a:ext cx="201168" cy="173736"/>
          </a:xfrm>
          <a:prstGeom prst="rect">
            <a:avLst/>
          </a:prstGeom>
          <a:noFill/>
          <a:ln/>
        </p:spPr>
        <p:txBody>
          <a:bodyPr wrap="square" lIns="0" tIns="0" rIns="0" bIns="0" rtlCol="0" anchor="ctr">
            <a:normAutofit/>
          </a:bodyPr>
          <a:lstStyle/>
          <a:p>
            <a:pPr algn="ctr" indent="0" marL="0">
              <a:buNone/>
            </a:pPr>
            <a:r>
              <a:rPr lang="en-US" sz="1300" b="1" dirty="0">
                <a:solidFill>
                  <a:srgbClr val="168E70"/>
                </a:solidFill>
                <a:latin typeface="Aptos" pitchFamily="34" charset="0"/>
                <a:ea typeface="Aptos" pitchFamily="34" charset="-122"/>
                <a:cs typeface="Aptos" pitchFamily="34" charset="-120"/>
              </a:rPr>
              <a:t>◎</a:t>
            </a:r>
            <a:endParaRPr lang="en-US" sz="1300" dirty="0"/>
          </a:p>
        </p:txBody>
      </p:sp>
      <p:sp>
        <p:nvSpPr>
          <p:cNvPr id="19" name="Text 17"/>
          <p:cNvSpPr/>
          <p:nvPr/>
        </p:nvSpPr>
        <p:spPr>
          <a:xfrm>
            <a:off x="7406640" y="3593592"/>
            <a:ext cx="3584448" cy="320040"/>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Show priorities at a glance</a:t>
            </a:r>
            <a:endParaRPr lang="en-US" sz="1700" dirty="0"/>
          </a:p>
        </p:txBody>
      </p:sp>
      <p:sp>
        <p:nvSpPr>
          <p:cNvPr id="20" name="Shape 18"/>
          <p:cNvSpPr/>
          <p:nvPr/>
        </p:nvSpPr>
        <p:spPr>
          <a:xfrm>
            <a:off x="6858000" y="4169664"/>
            <a:ext cx="420624" cy="292608"/>
          </a:xfrm>
          <a:prstGeom prst="roundRect">
            <a:avLst>
              <a:gd name="adj" fmla="val 50000"/>
            </a:avLst>
          </a:prstGeom>
          <a:solidFill>
            <a:srgbClr val="E5F7F0"/>
          </a:solidFill>
          <a:ln w="12700">
            <a:solidFill>
              <a:srgbClr val="E5F7F0"/>
            </a:solidFill>
            <a:prstDash val="solid"/>
          </a:ln>
        </p:spPr>
      </p:sp>
      <p:sp>
        <p:nvSpPr>
          <p:cNvPr id="21" name="Text 19"/>
          <p:cNvSpPr/>
          <p:nvPr/>
        </p:nvSpPr>
        <p:spPr>
          <a:xfrm>
            <a:off x="6967728" y="4233672"/>
            <a:ext cx="201168" cy="173736"/>
          </a:xfrm>
          <a:prstGeom prst="rect">
            <a:avLst/>
          </a:prstGeom>
          <a:noFill/>
          <a:ln/>
        </p:spPr>
        <p:txBody>
          <a:bodyPr wrap="square" lIns="0" tIns="0" rIns="0" bIns="0" rtlCol="0" anchor="ctr">
            <a:normAutofit/>
          </a:bodyPr>
          <a:lstStyle/>
          <a:p>
            <a:pPr algn="ctr" indent="0" marL="0">
              <a:buNone/>
            </a:pPr>
            <a:r>
              <a:rPr lang="en-US" sz="1300" b="1" dirty="0">
                <a:solidFill>
                  <a:srgbClr val="168E70"/>
                </a:solidFill>
                <a:latin typeface="Aptos" pitchFamily="34" charset="0"/>
                <a:ea typeface="Aptos" pitchFamily="34" charset="-122"/>
                <a:cs typeface="Aptos" pitchFamily="34" charset="-120"/>
              </a:rPr>
              <a:t>✦</a:t>
            </a:r>
            <a:endParaRPr lang="en-US" sz="1300" dirty="0"/>
          </a:p>
        </p:txBody>
      </p:sp>
      <p:sp>
        <p:nvSpPr>
          <p:cNvPr id="22" name="Text 20"/>
          <p:cNvSpPr/>
          <p:nvPr/>
        </p:nvSpPr>
        <p:spPr>
          <a:xfrm>
            <a:off x="7406640" y="4215384"/>
            <a:ext cx="3584448" cy="320040"/>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Celebrate visible progress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03</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From simple words to working software</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You define the outcome. AI can help assemble the first version.</a:t>
            </a:r>
            <a:endParaRPr lang="en-US" sz="1500" dirty="0"/>
          </a:p>
        </p:txBody>
      </p:sp>
      <p:sp>
        <p:nvSpPr>
          <p:cNvPr id="8" name="Shape 6"/>
          <p:cNvSpPr/>
          <p:nvPr/>
        </p:nvSpPr>
        <p:spPr>
          <a:xfrm>
            <a:off x="530352" y="2258568"/>
            <a:ext cx="2148840" cy="2313432"/>
          </a:xfrm>
          <a:prstGeom prst="roundRect">
            <a:avLst>
              <a:gd name="adj" fmla="val 6809"/>
            </a:avLst>
          </a:prstGeom>
          <a:solidFill>
            <a:srgbClr val="FFFFFF"/>
          </a:solidFill>
          <a:ln w="12700">
            <a:solidFill>
              <a:srgbClr val="E4EBF4"/>
            </a:solidFill>
            <a:prstDash val="solid"/>
          </a:ln>
        </p:spPr>
      </p:sp>
      <p:sp>
        <p:nvSpPr>
          <p:cNvPr id="9" name="Text 7"/>
          <p:cNvSpPr/>
          <p:nvPr/>
        </p:nvSpPr>
        <p:spPr>
          <a:xfrm>
            <a:off x="1161288" y="2633472"/>
            <a:ext cx="905256" cy="566928"/>
          </a:xfrm>
          <a:prstGeom prst="rect">
            <a:avLst/>
          </a:prstGeom>
          <a:noFill/>
          <a:ln/>
        </p:spPr>
        <p:txBody>
          <a:bodyPr wrap="square" lIns="0" tIns="0" rIns="0" bIns="0" rtlCol="0" anchor="ctr">
            <a:normAutofit/>
          </a:bodyPr>
          <a:lstStyle/>
          <a:p>
            <a:pPr algn="ctr" indent="0" marL="0">
              <a:buNone/>
            </a:pPr>
            <a:r>
              <a:rPr lang="en-US" sz="3600" dirty="0">
                <a:solidFill>
                  <a:srgbClr val="192940"/>
                </a:solidFill>
                <a:latin typeface="Aptos" pitchFamily="34" charset="0"/>
                <a:ea typeface="Aptos" pitchFamily="34" charset="-122"/>
                <a:cs typeface="Aptos" pitchFamily="34" charset="-120"/>
              </a:rPr>
              <a:t>💡</a:t>
            </a:r>
            <a:endParaRPr lang="en-US" sz="3600" dirty="0"/>
          </a:p>
        </p:txBody>
      </p:sp>
      <p:sp>
        <p:nvSpPr>
          <p:cNvPr id="10" name="Text 8"/>
          <p:cNvSpPr/>
          <p:nvPr/>
        </p:nvSpPr>
        <p:spPr>
          <a:xfrm>
            <a:off x="713232" y="3465576"/>
            <a:ext cx="1783080" cy="320040"/>
          </a:xfrm>
          <a:prstGeom prst="rect">
            <a:avLst/>
          </a:prstGeom>
          <a:noFill/>
          <a:ln/>
        </p:spPr>
        <p:txBody>
          <a:bodyPr wrap="square" lIns="0" tIns="0" rIns="0" bIns="0" rtlCol="0" anchor="ctr">
            <a:normAutofit/>
          </a:bodyPr>
          <a:lstStyle/>
          <a:p>
            <a:pPr algn="ctr" indent="0" marL="0">
              <a:buNone/>
            </a:pPr>
            <a:r>
              <a:rPr lang="en-US" sz="1700" b="1" dirty="0">
                <a:solidFill>
                  <a:srgbClr val="12264B"/>
                </a:solidFill>
                <a:latin typeface="Aptos" pitchFamily="34" charset="0"/>
                <a:ea typeface="Aptos" pitchFamily="34" charset="-122"/>
                <a:cs typeface="Aptos" pitchFamily="34" charset="-120"/>
              </a:rPr>
              <a:t>IDEA</a:t>
            </a:r>
            <a:endParaRPr lang="en-US" sz="1700" dirty="0"/>
          </a:p>
        </p:txBody>
      </p:sp>
      <p:sp>
        <p:nvSpPr>
          <p:cNvPr id="11" name="Text 9"/>
          <p:cNvSpPr/>
          <p:nvPr/>
        </p:nvSpPr>
        <p:spPr>
          <a:xfrm>
            <a:off x="676656" y="3995928"/>
            <a:ext cx="1856232" cy="594360"/>
          </a:xfrm>
          <a:prstGeom prst="rect">
            <a:avLst/>
          </a:prstGeom>
          <a:noFill/>
          <a:ln/>
        </p:spPr>
        <p:txBody>
          <a:bodyPr wrap="square" lIns="0" tIns="0" rIns="0" bIns="0" rtlCol="0" anchor="ctr">
            <a:normAutofit/>
          </a:bodyPr>
          <a:lstStyle/>
          <a:p>
            <a:pPr algn="ctr" indent="0" marL="0">
              <a:buNone/>
            </a:pPr>
            <a:r>
              <a:rPr lang="en-US" sz="1300" dirty="0">
                <a:solidFill>
                  <a:srgbClr val="667890"/>
                </a:solidFill>
                <a:latin typeface="Aptos" pitchFamily="34" charset="0"/>
                <a:ea typeface="Aptos" pitchFamily="34" charset="-122"/>
                <a:cs typeface="Aptos" pitchFamily="34" charset="-120"/>
              </a:rPr>
              <a:t>Identify the problem</a:t>
            </a:r>
            <a:endParaRPr lang="en-US" sz="1300" dirty="0"/>
          </a:p>
        </p:txBody>
      </p:sp>
      <p:sp>
        <p:nvSpPr>
          <p:cNvPr id="12" name="Text 10"/>
          <p:cNvSpPr/>
          <p:nvPr/>
        </p:nvSpPr>
        <p:spPr>
          <a:xfrm>
            <a:off x="2670048" y="3108960"/>
            <a:ext cx="237744" cy="329184"/>
          </a:xfrm>
          <a:prstGeom prst="rect">
            <a:avLst/>
          </a:prstGeom>
          <a:noFill/>
          <a:ln/>
        </p:spPr>
        <p:txBody>
          <a:bodyPr wrap="square" lIns="0" tIns="0" rIns="0" bIns="0" rtlCol="0" anchor="ctr">
            <a:normAutofit/>
          </a:bodyPr>
          <a:lstStyle/>
          <a:p>
            <a:pPr indent="0" marL="0">
              <a:buNone/>
            </a:pPr>
            <a:r>
              <a:rPr lang="en-US" sz="2100" dirty="0">
                <a:solidFill>
                  <a:srgbClr val="325CDA"/>
                </a:solidFill>
                <a:latin typeface="Aptos" pitchFamily="34" charset="0"/>
                <a:ea typeface="Aptos" pitchFamily="34" charset="-122"/>
                <a:cs typeface="Aptos" pitchFamily="34" charset="-120"/>
              </a:rPr>
              <a:t>→</a:t>
            </a:r>
            <a:endParaRPr lang="en-US" sz="2100" dirty="0"/>
          </a:p>
        </p:txBody>
      </p:sp>
      <p:sp>
        <p:nvSpPr>
          <p:cNvPr id="13" name="Shape 11"/>
          <p:cNvSpPr/>
          <p:nvPr/>
        </p:nvSpPr>
        <p:spPr>
          <a:xfrm>
            <a:off x="2889504" y="2258568"/>
            <a:ext cx="2148840" cy="2313432"/>
          </a:xfrm>
          <a:prstGeom prst="roundRect">
            <a:avLst>
              <a:gd name="adj" fmla="val 6809"/>
            </a:avLst>
          </a:prstGeom>
          <a:solidFill>
            <a:srgbClr val="FFFFFF"/>
          </a:solidFill>
          <a:ln w="12700">
            <a:solidFill>
              <a:srgbClr val="E4EBF4"/>
            </a:solidFill>
            <a:prstDash val="solid"/>
          </a:ln>
        </p:spPr>
      </p:sp>
      <p:sp>
        <p:nvSpPr>
          <p:cNvPr id="14" name="Text 12"/>
          <p:cNvSpPr/>
          <p:nvPr/>
        </p:nvSpPr>
        <p:spPr>
          <a:xfrm>
            <a:off x="3520440" y="2633472"/>
            <a:ext cx="905256" cy="566928"/>
          </a:xfrm>
          <a:prstGeom prst="rect">
            <a:avLst/>
          </a:prstGeom>
          <a:noFill/>
          <a:ln/>
        </p:spPr>
        <p:txBody>
          <a:bodyPr wrap="square" lIns="0" tIns="0" rIns="0" bIns="0" rtlCol="0" anchor="ctr">
            <a:normAutofit/>
          </a:bodyPr>
          <a:lstStyle/>
          <a:p>
            <a:pPr algn="ctr" indent="0" marL="0">
              <a:buNone/>
            </a:pPr>
            <a:r>
              <a:rPr lang="en-US" sz="3600" dirty="0">
                <a:solidFill>
                  <a:srgbClr val="192940"/>
                </a:solidFill>
                <a:latin typeface="Aptos" pitchFamily="34" charset="0"/>
                <a:ea typeface="Aptos" pitchFamily="34" charset="-122"/>
                <a:cs typeface="Aptos" pitchFamily="34" charset="-120"/>
              </a:rPr>
              <a:t>✍</a:t>
            </a:r>
            <a:endParaRPr lang="en-US" sz="3600" dirty="0"/>
          </a:p>
        </p:txBody>
      </p:sp>
      <p:sp>
        <p:nvSpPr>
          <p:cNvPr id="15" name="Text 13"/>
          <p:cNvSpPr/>
          <p:nvPr/>
        </p:nvSpPr>
        <p:spPr>
          <a:xfrm>
            <a:off x="3072384" y="3465576"/>
            <a:ext cx="1783080" cy="320040"/>
          </a:xfrm>
          <a:prstGeom prst="rect">
            <a:avLst/>
          </a:prstGeom>
          <a:noFill/>
          <a:ln/>
        </p:spPr>
        <p:txBody>
          <a:bodyPr wrap="square" lIns="0" tIns="0" rIns="0" bIns="0" rtlCol="0" anchor="ctr">
            <a:normAutofit/>
          </a:bodyPr>
          <a:lstStyle/>
          <a:p>
            <a:pPr algn="ctr" indent="0" marL="0">
              <a:buNone/>
            </a:pPr>
            <a:r>
              <a:rPr lang="en-US" sz="1700" b="1" dirty="0">
                <a:solidFill>
                  <a:srgbClr val="12264B"/>
                </a:solidFill>
                <a:latin typeface="Aptos" pitchFamily="34" charset="0"/>
                <a:ea typeface="Aptos" pitchFamily="34" charset="-122"/>
                <a:cs typeface="Aptos" pitchFamily="34" charset="-120"/>
              </a:rPr>
              <a:t>PROMPT</a:t>
            </a:r>
            <a:endParaRPr lang="en-US" sz="1700" dirty="0"/>
          </a:p>
        </p:txBody>
      </p:sp>
      <p:sp>
        <p:nvSpPr>
          <p:cNvPr id="16" name="Text 14"/>
          <p:cNvSpPr/>
          <p:nvPr/>
        </p:nvSpPr>
        <p:spPr>
          <a:xfrm>
            <a:off x="3035808" y="3995928"/>
            <a:ext cx="1856232" cy="594360"/>
          </a:xfrm>
          <a:prstGeom prst="rect">
            <a:avLst/>
          </a:prstGeom>
          <a:noFill/>
          <a:ln/>
        </p:spPr>
        <p:txBody>
          <a:bodyPr wrap="square" lIns="0" tIns="0" rIns="0" bIns="0" rtlCol="0" anchor="ctr">
            <a:normAutofit/>
          </a:bodyPr>
          <a:lstStyle/>
          <a:p>
            <a:pPr algn="ctr" indent="0" marL="0">
              <a:buNone/>
            </a:pPr>
            <a:r>
              <a:rPr lang="en-US" sz="1300" dirty="0">
                <a:solidFill>
                  <a:srgbClr val="667890"/>
                </a:solidFill>
                <a:latin typeface="Aptos" pitchFamily="34" charset="0"/>
                <a:ea typeface="Aptos" pitchFamily="34" charset="-122"/>
                <a:cs typeface="Aptos" pitchFamily="34" charset="-120"/>
              </a:rPr>
              <a:t>Describe what it must do</a:t>
            </a:r>
            <a:endParaRPr lang="en-US" sz="1300" dirty="0"/>
          </a:p>
        </p:txBody>
      </p:sp>
      <p:sp>
        <p:nvSpPr>
          <p:cNvPr id="17" name="Text 15"/>
          <p:cNvSpPr/>
          <p:nvPr/>
        </p:nvSpPr>
        <p:spPr>
          <a:xfrm>
            <a:off x="5029200" y="3108960"/>
            <a:ext cx="237744" cy="329184"/>
          </a:xfrm>
          <a:prstGeom prst="rect">
            <a:avLst/>
          </a:prstGeom>
          <a:noFill/>
          <a:ln/>
        </p:spPr>
        <p:txBody>
          <a:bodyPr wrap="square" lIns="0" tIns="0" rIns="0" bIns="0" rtlCol="0" anchor="ctr">
            <a:normAutofit/>
          </a:bodyPr>
          <a:lstStyle/>
          <a:p>
            <a:pPr indent="0" marL="0">
              <a:buNone/>
            </a:pPr>
            <a:r>
              <a:rPr lang="en-US" sz="2100" dirty="0">
                <a:solidFill>
                  <a:srgbClr val="325CDA"/>
                </a:solidFill>
                <a:latin typeface="Aptos" pitchFamily="34" charset="0"/>
                <a:ea typeface="Aptos" pitchFamily="34" charset="-122"/>
                <a:cs typeface="Aptos" pitchFamily="34" charset="-120"/>
              </a:rPr>
              <a:t>→</a:t>
            </a:r>
            <a:endParaRPr lang="en-US" sz="2100" dirty="0"/>
          </a:p>
        </p:txBody>
      </p:sp>
      <p:sp>
        <p:nvSpPr>
          <p:cNvPr id="18" name="Shape 16"/>
          <p:cNvSpPr/>
          <p:nvPr/>
        </p:nvSpPr>
        <p:spPr>
          <a:xfrm>
            <a:off x="5248656" y="2258568"/>
            <a:ext cx="2148840" cy="2313432"/>
          </a:xfrm>
          <a:prstGeom prst="roundRect">
            <a:avLst>
              <a:gd name="adj" fmla="val 6809"/>
            </a:avLst>
          </a:prstGeom>
          <a:solidFill>
            <a:srgbClr val="FFFFFF"/>
          </a:solidFill>
          <a:ln w="12700">
            <a:solidFill>
              <a:srgbClr val="E4EBF4"/>
            </a:solidFill>
            <a:prstDash val="solid"/>
          </a:ln>
        </p:spPr>
      </p:sp>
      <p:sp>
        <p:nvSpPr>
          <p:cNvPr id="19" name="Text 17"/>
          <p:cNvSpPr/>
          <p:nvPr/>
        </p:nvSpPr>
        <p:spPr>
          <a:xfrm>
            <a:off x="5879592" y="2633472"/>
            <a:ext cx="905256" cy="566928"/>
          </a:xfrm>
          <a:prstGeom prst="rect">
            <a:avLst/>
          </a:prstGeom>
          <a:noFill/>
          <a:ln/>
        </p:spPr>
        <p:txBody>
          <a:bodyPr wrap="square" lIns="0" tIns="0" rIns="0" bIns="0" rtlCol="0" anchor="ctr">
            <a:normAutofit/>
          </a:bodyPr>
          <a:lstStyle/>
          <a:p>
            <a:pPr algn="ctr" indent="0" marL="0">
              <a:buNone/>
            </a:pPr>
            <a:r>
              <a:rPr lang="en-US" sz="3600" dirty="0">
                <a:solidFill>
                  <a:srgbClr val="192940"/>
                </a:solidFill>
                <a:latin typeface="Aptos" pitchFamily="34" charset="0"/>
                <a:ea typeface="Aptos" pitchFamily="34" charset="-122"/>
                <a:cs typeface="Aptos" pitchFamily="34" charset="-120"/>
              </a:rPr>
              <a:t>▣</a:t>
            </a:r>
            <a:endParaRPr lang="en-US" sz="3600" dirty="0"/>
          </a:p>
        </p:txBody>
      </p:sp>
      <p:sp>
        <p:nvSpPr>
          <p:cNvPr id="20" name="Text 18"/>
          <p:cNvSpPr/>
          <p:nvPr/>
        </p:nvSpPr>
        <p:spPr>
          <a:xfrm>
            <a:off x="5431536" y="3465576"/>
            <a:ext cx="1783080" cy="320040"/>
          </a:xfrm>
          <a:prstGeom prst="rect">
            <a:avLst/>
          </a:prstGeom>
          <a:noFill/>
          <a:ln/>
        </p:spPr>
        <p:txBody>
          <a:bodyPr wrap="square" lIns="0" tIns="0" rIns="0" bIns="0" rtlCol="0" anchor="ctr">
            <a:normAutofit/>
          </a:bodyPr>
          <a:lstStyle/>
          <a:p>
            <a:pPr algn="ctr" indent="0" marL="0">
              <a:buNone/>
            </a:pPr>
            <a:r>
              <a:rPr lang="en-US" sz="1700" b="1" dirty="0">
                <a:solidFill>
                  <a:srgbClr val="12264B"/>
                </a:solidFill>
                <a:latin typeface="Aptos" pitchFamily="34" charset="0"/>
                <a:ea typeface="Aptos" pitchFamily="34" charset="-122"/>
                <a:cs typeface="Aptos" pitchFamily="34" charset="-120"/>
              </a:rPr>
              <a:t>BUILD</a:t>
            </a:r>
            <a:endParaRPr lang="en-US" sz="1700" dirty="0"/>
          </a:p>
        </p:txBody>
      </p:sp>
      <p:sp>
        <p:nvSpPr>
          <p:cNvPr id="21" name="Text 19"/>
          <p:cNvSpPr/>
          <p:nvPr/>
        </p:nvSpPr>
        <p:spPr>
          <a:xfrm>
            <a:off x="5394960" y="3995928"/>
            <a:ext cx="1856232" cy="594360"/>
          </a:xfrm>
          <a:prstGeom prst="rect">
            <a:avLst/>
          </a:prstGeom>
          <a:noFill/>
          <a:ln/>
        </p:spPr>
        <p:txBody>
          <a:bodyPr wrap="square" lIns="0" tIns="0" rIns="0" bIns="0" rtlCol="0" anchor="ctr">
            <a:normAutofit/>
          </a:bodyPr>
          <a:lstStyle/>
          <a:p>
            <a:pPr algn="ctr" indent="0" marL="0">
              <a:buNone/>
            </a:pPr>
            <a:r>
              <a:rPr lang="en-US" sz="1300" dirty="0">
                <a:solidFill>
                  <a:srgbClr val="667890"/>
                </a:solidFill>
                <a:latin typeface="Aptos" pitchFamily="34" charset="0"/>
                <a:ea typeface="Aptos" pitchFamily="34" charset="-122"/>
                <a:cs typeface="Aptos" pitchFamily="34" charset="-120"/>
              </a:rPr>
              <a:t>Open an interactive app</a:t>
            </a:r>
            <a:endParaRPr lang="en-US" sz="1300" dirty="0"/>
          </a:p>
        </p:txBody>
      </p:sp>
      <p:sp>
        <p:nvSpPr>
          <p:cNvPr id="22" name="Text 20"/>
          <p:cNvSpPr/>
          <p:nvPr/>
        </p:nvSpPr>
        <p:spPr>
          <a:xfrm>
            <a:off x="7388352" y="3108960"/>
            <a:ext cx="237744" cy="329184"/>
          </a:xfrm>
          <a:prstGeom prst="rect">
            <a:avLst/>
          </a:prstGeom>
          <a:noFill/>
          <a:ln/>
        </p:spPr>
        <p:txBody>
          <a:bodyPr wrap="square" lIns="0" tIns="0" rIns="0" bIns="0" rtlCol="0" anchor="ctr">
            <a:normAutofit/>
          </a:bodyPr>
          <a:lstStyle/>
          <a:p>
            <a:pPr indent="0" marL="0">
              <a:buNone/>
            </a:pPr>
            <a:r>
              <a:rPr lang="en-US" sz="2100" dirty="0">
                <a:solidFill>
                  <a:srgbClr val="325CDA"/>
                </a:solidFill>
                <a:latin typeface="Aptos" pitchFamily="34" charset="0"/>
                <a:ea typeface="Aptos" pitchFamily="34" charset="-122"/>
                <a:cs typeface="Aptos" pitchFamily="34" charset="-120"/>
              </a:rPr>
              <a:t>→</a:t>
            </a:r>
            <a:endParaRPr lang="en-US" sz="2100" dirty="0"/>
          </a:p>
        </p:txBody>
      </p:sp>
      <p:sp>
        <p:nvSpPr>
          <p:cNvPr id="23" name="Shape 21"/>
          <p:cNvSpPr/>
          <p:nvPr/>
        </p:nvSpPr>
        <p:spPr>
          <a:xfrm>
            <a:off x="7607808" y="2258568"/>
            <a:ext cx="2148840" cy="2313432"/>
          </a:xfrm>
          <a:prstGeom prst="roundRect">
            <a:avLst>
              <a:gd name="adj" fmla="val 6809"/>
            </a:avLst>
          </a:prstGeom>
          <a:solidFill>
            <a:srgbClr val="FFFFFF"/>
          </a:solidFill>
          <a:ln w="12700">
            <a:solidFill>
              <a:srgbClr val="E4EBF4"/>
            </a:solidFill>
            <a:prstDash val="solid"/>
          </a:ln>
        </p:spPr>
      </p:sp>
      <p:sp>
        <p:nvSpPr>
          <p:cNvPr id="24" name="Text 22"/>
          <p:cNvSpPr/>
          <p:nvPr/>
        </p:nvSpPr>
        <p:spPr>
          <a:xfrm>
            <a:off x="8238744" y="2633472"/>
            <a:ext cx="905256" cy="566928"/>
          </a:xfrm>
          <a:prstGeom prst="rect">
            <a:avLst/>
          </a:prstGeom>
          <a:noFill/>
          <a:ln/>
        </p:spPr>
        <p:txBody>
          <a:bodyPr wrap="square" lIns="0" tIns="0" rIns="0" bIns="0" rtlCol="0" anchor="ctr">
            <a:normAutofit/>
          </a:bodyPr>
          <a:lstStyle/>
          <a:p>
            <a:pPr algn="ctr" indent="0" marL="0">
              <a:buNone/>
            </a:pPr>
            <a:r>
              <a:rPr lang="en-US" sz="3600" dirty="0">
                <a:solidFill>
                  <a:srgbClr val="192940"/>
                </a:solidFill>
                <a:latin typeface="Aptos" pitchFamily="34" charset="0"/>
                <a:ea typeface="Aptos" pitchFamily="34" charset="-122"/>
                <a:cs typeface="Aptos" pitchFamily="34" charset="-120"/>
              </a:rPr>
              <a:t>✓</a:t>
            </a:r>
            <a:endParaRPr lang="en-US" sz="3600" dirty="0"/>
          </a:p>
        </p:txBody>
      </p:sp>
      <p:sp>
        <p:nvSpPr>
          <p:cNvPr id="25" name="Text 23"/>
          <p:cNvSpPr/>
          <p:nvPr/>
        </p:nvSpPr>
        <p:spPr>
          <a:xfrm>
            <a:off x="7790688" y="3465576"/>
            <a:ext cx="1783080" cy="320040"/>
          </a:xfrm>
          <a:prstGeom prst="rect">
            <a:avLst/>
          </a:prstGeom>
          <a:noFill/>
          <a:ln/>
        </p:spPr>
        <p:txBody>
          <a:bodyPr wrap="square" lIns="0" tIns="0" rIns="0" bIns="0" rtlCol="0" anchor="ctr">
            <a:normAutofit/>
          </a:bodyPr>
          <a:lstStyle/>
          <a:p>
            <a:pPr algn="ctr" indent="0" marL="0">
              <a:buNone/>
            </a:pPr>
            <a:r>
              <a:rPr lang="en-US" sz="1700" b="1" dirty="0">
                <a:solidFill>
                  <a:srgbClr val="12264B"/>
                </a:solidFill>
                <a:latin typeface="Aptos" pitchFamily="34" charset="0"/>
                <a:ea typeface="Aptos" pitchFamily="34" charset="-122"/>
                <a:cs typeface="Aptos" pitchFamily="34" charset="-120"/>
              </a:rPr>
              <a:t>TEST</a:t>
            </a:r>
            <a:endParaRPr lang="en-US" sz="1700" dirty="0"/>
          </a:p>
        </p:txBody>
      </p:sp>
      <p:sp>
        <p:nvSpPr>
          <p:cNvPr id="26" name="Text 24"/>
          <p:cNvSpPr/>
          <p:nvPr/>
        </p:nvSpPr>
        <p:spPr>
          <a:xfrm>
            <a:off x="7754112" y="3995928"/>
            <a:ext cx="1856232" cy="594360"/>
          </a:xfrm>
          <a:prstGeom prst="rect">
            <a:avLst/>
          </a:prstGeom>
          <a:noFill/>
          <a:ln/>
        </p:spPr>
        <p:txBody>
          <a:bodyPr wrap="square" lIns="0" tIns="0" rIns="0" bIns="0" rtlCol="0" anchor="ctr">
            <a:normAutofit/>
          </a:bodyPr>
          <a:lstStyle/>
          <a:p>
            <a:pPr algn="ctr" indent="0" marL="0">
              <a:buNone/>
            </a:pPr>
            <a:r>
              <a:rPr lang="en-US" sz="1300" dirty="0">
                <a:solidFill>
                  <a:srgbClr val="667890"/>
                </a:solidFill>
                <a:latin typeface="Aptos" pitchFamily="34" charset="0"/>
                <a:ea typeface="Aptos" pitchFamily="34" charset="-122"/>
                <a:cs typeface="Aptos" pitchFamily="34" charset="-120"/>
              </a:rPr>
              <a:t>Check the real behaviour</a:t>
            </a:r>
            <a:endParaRPr lang="en-US" sz="1300" dirty="0"/>
          </a:p>
        </p:txBody>
      </p:sp>
      <p:sp>
        <p:nvSpPr>
          <p:cNvPr id="27" name="Text 25"/>
          <p:cNvSpPr/>
          <p:nvPr/>
        </p:nvSpPr>
        <p:spPr>
          <a:xfrm>
            <a:off x="9747504" y="3108960"/>
            <a:ext cx="237744" cy="329184"/>
          </a:xfrm>
          <a:prstGeom prst="rect">
            <a:avLst/>
          </a:prstGeom>
          <a:noFill/>
          <a:ln/>
        </p:spPr>
        <p:txBody>
          <a:bodyPr wrap="square" lIns="0" tIns="0" rIns="0" bIns="0" rtlCol="0" anchor="ctr">
            <a:normAutofit/>
          </a:bodyPr>
          <a:lstStyle/>
          <a:p>
            <a:pPr indent="0" marL="0">
              <a:buNone/>
            </a:pPr>
            <a:r>
              <a:rPr lang="en-US" sz="2100" dirty="0">
                <a:solidFill>
                  <a:srgbClr val="325CDA"/>
                </a:solidFill>
                <a:latin typeface="Aptos" pitchFamily="34" charset="0"/>
                <a:ea typeface="Aptos" pitchFamily="34" charset="-122"/>
                <a:cs typeface="Aptos" pitchFamily="34" charset="-120"/>
              </a:rPr>
              <a:t>→</a:t>
            </a:r>
            <a:endParaRPr lang="en-US" sz="2100" dirty="0"/>
          </a:p>
        </p:txBody>
      </p:sp>
      <p:sp>
        <p:nvSpPr>
          <p:cNvPr id="28" name="Shape 26"/>
          <p:cNvSpPr/>
          <p:nvPr/>
        </p:nvSpPr>
        <p:spPr>
          <a:xfrm>
            <a:off x="9966960" y="2258568"/>
            <a:ext cx="2148840" cy="2313432"/>
          </a:xfrm>
          <a:prstGeom prst="roundRect">
            <a:avLst>
              <a:gd name="adj" fmla="val 6809"/>
            </a:avLst>
          </a:prstGeom>
          <a:solidFill>
            <a:srgbClr val="FFFFFF"/>
          </a:solidFill>
          <a:ln w="12700">
            <a:solidFill>
              <a:srgbClr val="E4EBF4"/>
            </a:solidFill>
            <a:prstDash val="solid"/>
          </a:ln>
        </p:spPr>
      </p:sp>
      <p:sp>
        <p:nvSpPr>
          <p:cNvPr id="29" name="Text 27"/>
          <p:cNvSpPr/>
          <p:nvPr/>
        </p:nvSpPr>
        <p:spPr>
          <a:xfrm>
            <a:off x="10597896" y="2633472"/>
            <a:ext cx="905256" cy="566928"/>
          </a:xfrm>
          <a:prstGeom prst="rect">
            <a:avLst/>
          </a:prstGeom>
          <a:noFill/>
          <a:ln/>
        </p:spPr>
        <p:txBody>
          <a:bodyPr wrap="square" lIns="0" tIns="0" rIns="0" bIns="0" rtlCol="0" anchor="ctr">
            <a:normAutofit/>
          </a:bodyPr>
          <a:lstStyle/>
          <a:p>
            <a:pPr algn="ctr" indent="0" marL="0">
              <a:buNone/>
            </a:pPr>
            <a:r>
              <a:rPr lang="en-US" sz="3600" dirty="0">
                <a:solidFill>
                  <a:srgbClr val="192940"/>
                </a:solidFill>
                <a:latin typeface="Aptos" pitchFamily="34" charset="0"/>
                <a:ea typeface="Aptos" pitchFamily="34" charset="-122"/>
                <a:cs typeface="Aptos" pitchFamily="34" charset="-120"/>
              </a:rPr>
              <a:t>✦</a:t>
            </a:r>
            <a:endParaRPr lang="en-US" sz="3600" dirty="0"/>
          </a:p>
        </p:txBody>
      </p:sp>
      <p:sp>
        <p:nvSpPr>
          <p:cNvPr id="30" name="Text 28"/>
          <p:cNvSpPr/>
          <p:nvPr/>
        </p:nvSpPr>
        <p:spPr>
          <a:xfrm>
            <a:off x="10149840" y="3465576"/>
            <a:ext cx="1783080" cy="320040"/>
          </a:xfrm>
          <a:prstGeom prst="rect">
            <a:avLst/>
          </a:prstGeom>
          <a:noFill/>
          <a:ln/>
        </p:spPr>
        <p:txBody>
          <a:bodyPr wrap="square" lIns="0" tIns="0" rIns="0" bIns="0" rtlCol="0" anchor="ctr">
            <a:normAutofit/>
          </a:bodyPr>
          <a:lstStyle/>
          <a:p>
            <a:pPr algn="ctr" indent="0" marL="0">
              <a:buNone/>
            </a:pPr>
            <a:r>
              <a:rPr lang="en-US" sz="1700" b="1" dirty="0">
                <a:solidFill>
                  <a:srgbClr val="12264B"/>
                </a:solidFill>
                <a:latin typeface="Aptos" pitchFamily="34" charset="0"/>
                <a:ea typeface="Aptos" pitchFamily="34" charset="-122"/>
                <a:cs typeface="Aptos" pitchFamily="34" charset="-120"/>
              </a:rPr>
              <a:t>IMPROVE</a:t>
            </a:r>
            <a:endParaRPr lang="en-US" sz="1700" dirty="0"/>
          </a:p>
        </p:txBody>
      </p:sp>
      <p:sp>
        <p:nvSpPr>
          <p:cNvPr id="31" name="Text 29"/>
          <p:cNvSpPr/>
          <p:nvPr/>
        </p:nvSpPr>
        <p:spPr>
          <a:xfrm>
            <a:off x="10113264" y="3995928"/>
            <a:ext cx="1856232" cy="594360"/>
          </a:xfrm>
          <a:prstGeom prst="rect">
            <a:avLst/>
          </a:prstGeom>
          <a:noFill/>
          <a:ln/>
        </p:spPr>
        <p:txBody>
          <a:bodyPr wrap="square" lIns="0" tIns="0" rIns="0" bIns="0" rtlCol="0" anchor="ctr">
            <a:normAutofit/>
          </a:bodyPr>
          <a:lstStyle/>
          <a:p>
            <a:pPr algn="ctr" indent="0" marL="0">
              <a:buNone/>
            </a:pPr>
            <a:r>
              <a:rPr lang="en-US" sz="1300" dirty="0">
                <a:solidFill>
                  <a:srgbClr val="667890"/>
                </a:solidFill>
                <a:latin typeface="Aptos" pitchFamily="34" charset="0"/>
                <a:ea typeface="Aptos" pitchFamily="34" charset="-122"/>
                <a:cs typeface="Aptos" pitchFamily="34" charset="-120"/>
              </a:rPr>
              <a:t>Refine through conversation</a:t>
            </a:r>
            <a:endParaRPr lang="en-US" sz="1300" dirty="0"/>
          </a:p>
        </p:txBody>
      </p:sp>
      <p:sp>
        <p:nvSpPr>
          <p:cNvPr id="32" name="Shape 30"/>
          <p:cNvSpPr/>
          <p:nvPr/>
        </p:nvSpPr>
        <p:spPr>
          <a:xfrm>
            <a:off x="1737360" y="5065776"/>
            <a:ext cx="8714232" cy="594360"/>
          </a:xfrm>
          <a:prstGeom prst="roundRect">
            <a:avLst>
              <a:gd name="adj" fmla="val 24615"/>
            </a:avLst>
          </a:prstGeom>
          <a:solidFill>
            <a:srgbClr val="E7EFFD"/>
          </a:solidFill>
          <a:ln w="12700">
            <a:solidFill>
              <a:srgbClr val="E7EFFD"/>
            </a:solidFill>
            <a:prstDash val="solid"/>
          </a:ln>
        </p:spPr>
      </p:sp>
      <p:sp>
        <p:nvSpPr>
          <p:cNvPr id="33" name="Text 31"/>
          <p:cNvSpPr/>
          <p:nvPr/>
        </p:nvSpPr>
        <p:spPr>
          <a:xfrm>
            <a:off x="2011680" y="5266944"/>
            <a:ext cx="8165592" cy="228600"/>
          </a:xfrm>
          <a:prstGeom prst="rect">
            <a:avLst/>
          </a:prstGeom>
          <a:noFill/>
          <a:ln/>
        </p:spPr>
        <p:txBody>
          <a:bodyPr wrap="square" lIns="0" tIns="0" rIns="0" bIns="0" rtlCol="0" anchor="ctr">
            <a:normAutofit/>
          </a:bodyPr>
          <a:lstStyle/>
          <a:p>
            <a:pPr algn="ctr" indent="0" marL="0">
              <a:buNone/>
            </a:pPr>
            <a:r>
              <a:rPr lang="en-US" sz="1700" b="1" dirty="0">
                <a:solidFill>
                  <a:srgbClr val="12264B"/>
                </a:solidFill>
                <a:latin typeface="Aptos" pitchFamily="34" charset="0"/>
                <a:ea typeface="Aptos" pitchFamily="34" charset="-122"/>
                <a:cs typeface="Aptos" pitchFamily="34" charset="-120"/>
              </a:rPr>
              <a:t>A visually attractive screen is not enough: every feature must work.</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04</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Our project: My Smart Planner</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One inclusive tool for learners and professionals.</a:t>
            </a:r>
            <a:endParaRPr lang="en-US" sz="1500" dirty="0"/>
          </a:p>
        </p:txBody>
      </p:sp>
      <p:sp>
        <p:nvSpPr>
          <p:cNvPr id="8" name="Shape 6"/>
          <p:cNvSpPr/>
          <p:nvPr/>
        </p:nvSpPr>
        <p:spPr>
          <a:xfrm>
            <a:off x="685800" y="2011680"/>
            <a:ext cx="3611880" cy="1481328"/>
          </a:xfrm>
          <a:prstGeom prst="roundRect">
            <a:avLst>
              <a:gd name="adj" fmla="val 9877"/>
            </a:avLst>
          </a:prstGeom>
          <a:solidFill>
            <a:srgbClr val="FFFFFF"/>
          </a:solidFill>
          <a:ln w="12700">
            <a:solidFill>
              <a:srgbClr val="E4EBF4"/>
            </a:solidFill>
            <a:prstDash val="solid"/>
          </a:ln>
        </p:spPr>
      </p:sp>
      <p:sp>
        <p:nvSpPr>
          <p:cNvPr id="9" name="Text 7"/>
          <p:cNvSpPr/>
          <p:nvPr/>
        </p:nvSpPr>
        <p:spPr>
          <a:xfrm>
            <a:off x="896112" y="2286000"/>
            <a:ext cx="530352" cy="438912"/>
          </a:xfrm>
          <a:prstGeom prst="rect">
            <a:avLst/>
          </a:prstGeom>
          <a:noFill/>
          <a:ln/>
        </p:spPr>
        <p:txBody>
          <a:bodyPr wrap="square" lIns="0" tIns="0" rIns="0" bIns="0" rtlCol="0" anchor="ctr">
            <a:normAutofit/>
          </a:bodyPr>
          <a:lstStyle/>
          <a:p>
            <a:pPr indent="0" marL="0">
              <a:buNone/>
            </a:pPr>
            <a:r>
              <a:rPr lang="en-US" sz="2700" dirty="0">
                <a:solidFill>
                  <a:srgbClr val="192940"/>
                </a:solidFill>
                <a:latin typeface="Aptos" pitchFamily="34" charset="0"/>
                <a:ea typeface="Aptos" pitchFamily="34" charset="-122"/>
                <a:cs typeface="Aptos" pitchFamily="34" charset="-120"/>
              </a:rPr>
              <a:t>📝</a:t>
            </a:r>
            <a:endParaRPr lang="en-US" sz="2700" dirty="0"/>
          </a:p>
        </p:txBody>
      </p:sp>
      <p:sp>
        <p:nvSpPr>
          <p:cNvPr id="10" name="Text 8"/>
          <p:cNvSpPr/>
          <p:nvPr/>
        </p:nvSpPr>
        <p:spPr>
          <a:xfrm>
            <a:off x="1545336" y="2221992"/>
            <a:ext cx="2514600" cy="320040"/>
          </a:xfrm>
          <a:prstGeom prst="rect">
            <a:avLst/>
          </a:prstGeom>
          <a:noFill/>
          <a:ln/>
        </p:spPr>
        <p:txBody>
          <a:bodyPr wrap="square" lIns="0" tIns="0" rIns="0" bIns="0" rtlCol="0" anchor="ctr">
            <a:normAutofit/>
          </a:bodyPr>
          <a:lstStyle/>
          <a:p>
            <a:pPr indent="0" marL="0">
              <a:buNone/>
            </a:pPr>
            <a:r>
              <a:rPr lang="en-US" sz="1700" b="1" dirty="0">
                <a:solidFill>
                  <a:srgbClr val="12264B"/>
                </a:solidFill>
                <a:latin typeface="Aptos" pitchFamily="34" charset="0"/>
                <a:ea typeface="Aptos" pitchFamily="34" charset="-122"/>
                <a:cs typeface="Aptos" pitchFamily="34" charset="-120"/>
              </a:rPr>
              <a:t>Task management</a:t>
            </a:r>
            <a:endParaRPr lang="en-US" sz="1700" dirty="0"/>
          </a:p>
        </p:txBody>
      </p:sp>
      <p:sp>
        <p:nvSpPr>
          <p:cNvPr id="11" name="Text 9"/>
          <p:cNvSpPr/>
          <p:nvPr/>
        </p:nvSpPr>
        <p:spPr>
          <a:xfrm>
            <a:off x="1554480" y="2679192"/>
            <a:ext cx="2478024" cy="566928"/>
          </a:xfrm>
          <a:prstGeom prst="rect">
            <a:avLst/>
          </a:prstGeom>
          <a:noFill/>
          <a:ln/>
        </p:spPr>
        <p:txBody>
          <a:bodyPr wrap="square" lIns="0" tIns="0" rIns="0" bIns="0" rtlCol="0" anchor="ctr">
            <a:normAutofit/>
          </a:bodyPr>
          <a:lstStyle/>
          <a:p>
            <a:pPr indent="0" marL="0">
              <a:buNone/>
            </a:pPr>
            <a:r>
              <a:rPr lang="en-US" sz="1250" dirty="0">
                <a:solidFill>
                  <a:srgbClr val="667890"/>
                </a:solidFill>
                <a:latin typeface="Aptos" pitchFamily="34" charset="0"/>
                <a:ea typeface="Aptos" pitchFamily="34" charset="-122"/>
                <a:cs typeface="Aptos" pitchFamily="34" charset="-120"/>
              </a:rPr>
              <a:t>Create, edit, complete and delete tasks</a:t>
            </a:r>
            <a:endParaRPr lang="en-US" sz="1250" dirty="0"/>
          </a:p>
        </p:txBody>
      </p:sp>
      <p:sp>
        <p:nvSpPr>
          <p:cNvPr id="12" name="Shape 10"/>
          <p:cNvSpPr/>
          <p:nvPr/>
        </p:nvSpPr>
        <p:spPr>
          <a:xfrm>
            <a:off x="4544568" y="2011680"/>
            <a:ext cx="3611880" cy="1481328"/>
          </a:xfrm>
          <a:prstGeom prst="roundRect">
            <a:avLst>
              <a:gd name="adj" fmla="val 9877"/>
            </a:avLst>
          </a:prstGeom>
          <a:solidFill>
            <a:srgbClr val="FFFFFF"/>
          </a:solidFill>
          <a:ln w="12700">
            <a:solidFill>
              <a:srgbClr val="E4EBF4"/>
            </a:solidFill>
            <a:prstDash val="solid"/>
          </a:ln>
        </p:spPr>
      </p:sp>
      <p:sp>
        <p:nvSpPr>
          <p:cNvPr id="13" name="Text 11"/>
          <p:cNvSpPr/>
          <p:nvPr/>
        </p:nvSpPr>
        <p:spPr>
          <a:xfrm>
            <a:off x="4754880" y="2286000"/>
            <a:ext cx="530352" cy="438912"/>
          </a:xfrm>
          <a:prstGeom prst="rect">
            <a:avLst/>
          </a:prstGeom>
          <a:noFill/>
          <a:ln/>
        </p:spPr>
        <p:txBody>
          <a:bodyPr wrap="square" lIns="0" tIns="0" rIns="0" bIns="0" rtlCol="0" anchor="ctr">
            <a:normAutofit/>
          </a:bodyPr>
          <a:lstStyle/>
          <a:p>
            <a:pPr indent="0" marL="0">
              <a:buNone/>
            </a:pPr>
            <a:r>
              <a:rPr lang="en-US" sz="2700" dirty="0">
                <a:solidFill>
                  <a:srgbClr val="192940"/>
                </a:solidFill>
                <a:latin typeface="Aptos" pitchFamily="34" charset="0"/>
                <a:ea typeface="Aptos" pitchFamily="34" charset="-122"/>
                <a:cs typeface="Aptos" pitchFamily="34" charset="-120"/>
              </a:rPr>
              <a:t>📅</a:t>
            </a:r>
            <a:endParaRPr lang="en-US" sz="2700" dirty="0"/>
          </a:p>
        </p:txBody>
      </p:sp>
      <p:sp>
        <p:nvSpPr>
          <p:cNvPr id="14" name="Text 12"/>
          <p:cNvSpPr/>
          <p:nvPr/>
        </p:nvSpPr>
        <p:spPr>
          <a:xfrm>
            <a:off x="5404104" y="2221992"/>
            <a:ext cx="2514600" cy="320040"/>
          </a:xfrm>
          <a:prstGeom prst="rect">
            <a:avLst/>
          </a:prstGeom>
          <a:noFill/>
          <a:ln/>
        </p:spPr>
        <p:txBody>
          <a:bodyPr wrap="square" lIns="0" tIns="0" rIns="0" bIns="0" rtlCol="0" anchor="ctr">
            <a:normAutofit/>
          </a:bodyPr>
          <a:lstStyle/>
          <a:p>
            <a:pPr indent="0" marL="0">
              <a:buNone/>
            </a:pPr>
            <a:r>
              <a:rPr lang="en-US" sz="1700" b="1" dirty="0">
                <a:solidFill>
                  <a:srgbClr val="12264B"/>
                </a:solidFill>
                <a:latin typeface="Aptos" pitchFamily="34" charset="0"/>
                <a:ea typeface="Aptos" pitchFamily="34" charset="-122"/>
                <a:cs typeface="Aptos" pitchFamily="34" charset="-120"/>
              </a:rPr>
              <a:t>Deadlines &amp; priority</a:t>
            </a:r>
            <a:endParaRPr lang="en-US" sz="1700" dirty="0"/>
          </a:p>
        </p:txBody>
      </p:sp>
      <p:sp>
        <p:nvSpPr>
          <p:cNvPr id="15" name="Text 13"/>
          <p:cNvSpPr/>
          <p:nvPr/>
        </p:nvSpPr>
        <p:spPr>
          <a:xfrm>
            <a:off x="5413248" y="2679192"/>
            <a:ext cx="2478024" cy="566928"/>
          </a:xfrm>
          <a:prstGeom prst="rect">
            <a:avLst/>
          </a:prstGeom>
          <a:noFill/>
          <a:ln/>
        </p:spPr>
        <p:txBody>
          <a:bodyPr wrap="square" lIns="0" tIns="0" rIns="0" bIns="0" rtlCol="0" anchor="ctr">
            <a:normAutofit/>
          </a:bodyPr>
          <a:lstStyle/>
          <a:p>
            <a:pPr indent="0" marL="0">
              <a:buNone/>
            </a:pPr>
            <a:r>
              <a:rPr lang="en-US" sz="1250" dirty="0">
                <a:solidFill>
                  <a:srgbClr val="667890"/>
                </a:solidFill>
                <a:latin typeface="Aptos" pitchFamily="34" charset="0"/>
                <a:ea typeface="Aptos" pitchFamily="34" charset="-122"/>
                <a:cs typeface="Aptos" pitchFamily="34" charset="-120"/>
              </a:rPr>
              <a:t>See what matters and when</a:t>
            </a:r>
            <a:endParaRPr lang="en-US" sz="1250" dirty="0"/>
          </a:p>
        </p:txBody>
      </p:sp>
      <p:sp>
        <p:nvSpPr>
          <p:cNvPr id="16" name="Shape 14"/>
          <p:cNvSpPr/>
          <p:nvPr/>
        </p:nvSpPr>
        <p:spPr>
          <a:xfrm>
            <a:off x="8403336" y="2011680"/>
            <a:ext cx="3611880" cy="1481328"/>
          </a:xfrm>
          <a:prstGeom prst="roundRect">
            <a:avLst>
              <a:gd name="adj" fmla="val 9877"/>
            </a:avLst>
          </a:prstGeom>
          <a:solidFill>
            <a:srgbClr val="FFFFFF"/>
          </a:solidFill>
          <a:ln w="12700">
            <a:solidFill>
              <a:srgbClr val="E4EBF4"/>
            </a:solidFill>
            <a:prstDash val="solid"/>
          </a:ln>
        </p:spPr>
      </p:sp>
      <p:sp>
        <p:nvSpPr>
          <p:cNvPr id="17" name="Text 15"/>
          <p:cNvSpPr/>
          <p:nvPr/>
        </p:nvSpPr>
        <p:spPr>
          <a:xfrm>
            <a:off x="8613648" y="2286000"/>
            <a:ext cx="530352" cy="438912"/>
          </a:xfrm>
          <a:prstGeom prst="rect">
            <a:avLst/>
          </a:prstGeom>
          <a:noFill/>
          <a:ln/>
        </p:spPr>
        <p:txBody>
          <a:bodyPr wrap="square" lIns="0" tIns="0" rIns="0" bIns="0" rtlCol="0" anchor="ctr">
            <a:normAutofit/>
          </a:bodyPr>
          <a:lstStyle/>
          <a:p>
            <a:pPr indent="0" marL="0">
              <a:buNone/>
            </a:pPr>
            <a:r>
              <a:rPr lang="en-US" sz="2700" dirty="0">
                <a:solidFill>
                  <a:srgbClr val="192940"/>
                </a:solidFill>
                <a:latin typeface="Aptos" pitchFamily="34" charset="0"/>
                <a:ea typeface="Aptos" pitchFamily="34" charset="-122"/>
                <a:cs typeface="Aptos" pitchFamily="34" charset="-120"/>
              </a:rPr>
              <a:t>🎓</a:t>
            </a:r>
            <a:endParaRPr lang="en-US" sz="2700" dirty="0"/>
          </a:p>
        </p:txBody>
      </p:sp>
      <p:sp>
        <p:nvSpPr>
          <p:cNvPr id="18" name="Text 16"/>
          <p:cNvSpPr/>
          <p:nvPr/>
        </p:nvSpPr>
        <p:spPr>
          <a:xfrm>
            <a:off x="9262872" y="2221992"/>
            <a:ext cx="2514600" cy="320040"/>
          </a:xfrm>
          <a:prstGeom prst="rect">
            <a:avLst/>
          </a:prstGeom>
          <a:noFill/>
          <a:ln/>
        </p:spPr>
        <p:txBody>
          <a:bodyPr wrap="square" lIns="0" tIns="0" rIns="0" bIns="0" rtlCol="0" anchor="ctr">
            <a:normAutofit/>
          </a:bodyPr>
          <a:lstStyle/>
          <a:p>
            <a:pPr indent="0" marL="0">
              <a:buNone/>
            </a:pPr>
            <a:r>
              <a:rPr lang="en-US" sz="1700" b="1" dirty="0">
                <a:solidFill>
                  <a:srgbClr val="12264B"/>
                </a:solidFill>
                <a:latin typeface="Aptos" pitchFamily="34" charset="0"/>
                <a:ea typeface="Aptos" pitchFamily="34" charset="-122"/>
                <a:cs typeface="Aptos" pitchFamily="34" charset="-120"/>
              </a:rPr>
              <a:t>Study / Work modes</a:t>
            </a:r>
            <a:endParaRPr lang="en-US" sz="1700" dirty="0"/>
          </a:p>
        </p:txBody>
      </p:sp>
      <p:sp>
        <p:nvSpPr>
          <p:cNvPr id="19" name="Text 17"/>
          <p:cNvSpPr/>
          <p:nvPr/>
        </p:nvSpPr>
        <p:spPr>
          <a:xfrm>
            <a:off x="9272016" y="2679192"/>
            <a:ext cx="2478024" cy="566928"/>
          </a:xfrm>
          <a:prstGeom prst="rect">
            <a:avLst/>
          </a:prstGeom>
          <a:noFill/>
          <a:ln/>
        </p:spPr>
        <p:txBody>
          <a:bodyPr wrap="square" lIns="0" tIns="0" rIns="0" bIns="0" rtlCol="0" anchor="ctr">
            <a:normAutofit/>
          </a:bodyPr>
          <a:lstStyle/>
          <a:p>
            <a:pPr indent="0" marL="0">
              <a:buNone/>
            </a:pPr>
            <a:r>
              <a:rPr lang="en-US" sz="1250" dirty="0">
                <a:solidFill>
                  <a:srgbClr val="667890"/>
                </a:solidFill>
                <a:latin typeface="Aptos" pitchFamily="34" charset="0"/>
                <a:ea typeface="Aptos" pitchFamily="34" charset="-122"/>
                <a:cs typeface="Aptos" pitchFamily="34" charset="-120"/>
              </a:rPr>
              <a:t>Different contexts, same app</a:t>
            </a:r>
            <a:endParaRPr lang="en-US" sz="1250" dirty="0"/>
          </a:p>
        </p:txBody>
      </p:sp>
      <p:sp>
        <p:nvSpPr>
          <p:cNvPr id="20" name="Shape 18"/>
          <p:cNvSpPr/>
          <p:nvPr/>
        </p:nvSpPr>
        <p:spPr>
          <a:xfrm>
            <a:off x="685800" y="3694176"/>
            <a:ext cx="3611880" cy="1481328"/>
          </a:xfrm>
          <a:prstGeom prst="roundRect">
            <a:avLst>
              <a:gd name="adj" fmla="val 9877"/>
            </a:avLst>
          </a:prstGeom>
          <a:solidFill>
            <a:srgbClr val="FFFFFF"/>
          </a:solidFill>
          <a:ln w="12700">
            <a:solidFill>
              <a:srgbClr val="E4EBF4"/>
            </a:solidFill>
            <a:prstDash val="solid"/>
          </a:ln>
        </p:spPr>
      </p:sp>
      <p:sp>
        <p:nvSpPr>
          <p:cNvPr id="21" name="Text 19"/>
          <p:cNvSpPr/>
          <p:nvPr/>
        </p:nvSpPr>
        <p:spPr>
          <a:xfrm>
            <a:off x="896112" y="3968496"/>
            <a:ext cx="530352" cy="438912"/>
          </a:xfrm>
          <a:prstGeom prst="rect">
            <a:avLst/>
          </a:prstGeom>
          <a:noFill/>
          <a:ln/>
        </p:spPr>
        <p:txBody>
          <a:bodyPr wrap="square" lIns="0" tIns="0" rIns="0" bIns="0" rtlCol="0" anchor="ctr">
            <a:normAutofit/>
          </a:bodyPr>
          <a:lstStyle/>
          <a:p>
            <a:pPr indent="0" marL="0">
              <a:buNone/>
            </a:pPr>
            <a:r>
              <a:rPr lang="en-US" sz="2700" dirty="0">
                <a:solidFill>
                  <a:srgbClr val="192940"/>
                </a:solidFill>
                <a:latin typeface="Aptos" pitchFamily="34" charset="0"/>
                <a:ea typeface="Aptos" pitchFamily="34" charset="-122"/>
                <a:cs typeface="Aptos" pitchFamily="34" charset="-120"/>
              </a:rPr>
              <a:t>📊</a:t>
            </a:r>
            <a:endParaRPr lang="en-US" sz="2700" dirty="0"/>
          </a:p>
        </p:txBody>
      </p:sp>
      <p:sp>
        <p:nvSpPr>
          <p:cNvPr id="22" name="Text 20"/>
          <p:cNvSpPr/>
          <p:nvPr/>
        </p:nvSpPr>
        <p:spPr>
          <a:xfrm>
            <a:off x="1545336" y="3904488"/>
            <a:ext cx="2514600" cy="320040"/>
          </a:xfrm>
          <a:prstGeom prst="rect">
            <a:avLst/>
          </a:prstGeom>
          <a:noFill/>
          <a:ln/>
        </p:spPr>
        <p:txBody>
          <a:bodyPr wrap="square" lIns="0" tIns="0" rIns="0" bIns="0" rtlCol="0" anchor="ctr">
            <a:normAutofit/>
          </a:bodyPr>
          <a:lstStyle/>
          <a:p>
            <a:pPr indent="0" marL="0">
              <a:buNone/>
            </a:pPr>
            <a:r>
              <a:rPr lang="en-US" sz="1700" b="1" dirty="0">
                <a:solidFill>
                  <a:srgbClr val="12264B"/>
                </a:solidFill>
                <a:latin typeface="Aptos" pitchFamily="34" charset="0"/>
                <a:ea typeface="Aptos" pitchFamily="34" charset="-122"/>
                <a:cs typeface="Aptos" pitchFamily="34" charset="-120"/>
              </a:rPr>
              <a:t>Progress insights</a:t>
            </a:r>
            <a:endParaRPr lang="en-US" sz="1700" dirty="0"/>
          </a:p>
        </p:txBody>
      </p:sp>
      <p:sp>
        <p:nvSpPr>
          <p:cNvPr id="23" name="Text 21"/>
          <p:cNvSpPr/>
          <p:nvPr/>
        </p:nvSpPr>
        <p:spPr>
          <a:xfrm>
            <a:off x="1554480" y="4361688"/>
            <a:ext cx="2478024" cy="566928"/>
          </a:xfrm>
          <a:prstGeom prst="rect">
            <a:avLst/>
          </a:prstGeom>
          <a:noFill/>
          <a:ln/>
        </p:spPr>
        <p:txBody>
          <a:bodyPr wrap="square" lIns="0" tIns="0" rIns="0" bIns="0" rtlCol="0" anchor="ctr">
            <a:normAutofit/>
          </a:bodyPr>
          <a:lstStyle/>
          <a:p>
            <a:pPr indent="0" marL="0">
              <a:buNone/>
            </a:pPr>
            <a:r>
              <a:rPr lang="en-US" sz="1250" dirty="0">
                <a:solidFill>
                  <a:srgbClr val="667890"/>
                </a:solidFill>
                <a:latin typeface="Aptos" pitchFamily="34" charset="0"/>
                <a:ea typeface="Aptos" pitchFamily="34" charset="-122"/>
                <a:cs typeface="Aptos" pitchFamily="34" charset="-120"/>
              </a:rPr>
              <a:t>Totals, completion and overdue work</a:t>
            </a:r>
            <a:endParaRPr lang="en-US" sz="1250" dirty="0"/>
          </a:p>
        </p:txBody>
      </p:sp>
      <p:sp>
        <p:nvSpPr>
          <p:cNvPr id="24" name="Shape 22"/>
          <p:cNvSpPr/>
          <p:nvPr/>
        </p:nvSpPr>
        <p:spPr>
          <a:xfrm>
            <a:off x="4544568" y="3694176"/>
            <a:ext cx="3611880" cy="1481328"/>
          </a:xfrm>
          <a:prstGeom prst="roundRect">
            <a:avLst>
              <a:gd name="adj" fmla="val 9877"/>
            </a:avLst>
          </a:prstGeom>
          <a:solidFill>
            <a:srgbClr val="FFFFFF"/>
          </a:solidFill>
          <a:ln w="12700">
            <a:solidFill>
              <a:srgbClr val="E4EBF4"/>
            </a:solidFill>
            <a:prstDash val="solid"/>
          </a:ln>
        </p:spPr>
      </p:sp>
      <p:sp>
        <p:nvSpPr>
          <p:cNvPr id="25" name="Text 23"/>
          <p:cNvSpPr/>
          <p:nvPr/>
        </p:nvSpPr>
        <p:spPr>
          <a:xfrm>
            <a:off x="4754880" y="3968496"/>
            <a:ext cx="530352" cy="438912"/>
          </a:xfrm>
          <a:prstGeom prst="rect">
            <a:avLst/>
          </a:prstGeom>
          <a:noFill/>
          <a:ln/>
        </p:spPr>
        <p:txBody>
          <a:bodyPr wrap="square" lIns="0" tIns="0" rIns="0" bIns="0" rtlCol="0" anchor="ctr">
            <a:normAutofit/>
          </a:bodyPr>
          <a:lstStyle/>
          <a:p>
            <a:pPr indent="0" marL="0">
              <a:buNone/>
            </a:pPr>
            <a:r>
              <a:rPr lang="en-US" sz="2700" dirty="0">
                <a:solidFill>
                  <a:srgbClr val="192940"/>
                </a:solidFill>
                <a:latin typeface="Aptos" pitchFamily="34" charset="0"/>
                <a:ea typeface="Aptos" pitchFamily="34" charset="-122"/>
                <a:cs typeface="Aptos" pitchFamily="34" charset="-120"/>
              </a:rPr>
              <a:t>🔎</a:t>
            </a:r>
            <a:endParaRPr lang="en-US" sz="2700" dirty="0"/>
          </a:p>
        </p:txBody>
      </p:sp>
      <p:sp>
        <p:nvSpPr>
          <p:cNvPr id="26" name="Text 24"/>
          <p:cNvSpPr/>
          <p:nvPr/>
        </p:nvSpPr>
        <p:spPr>
          <a:xfrm>
            <a:off x="5404104" y="3904488"/>
            <a:ext cx="2514600" cy="320040"/>
          </a:xfrm>
          <a:prstGeom prst="rect">
            <a:avLst/>
          </a:prstGeom>
          <a:noFill/>
          <a:ln/>
        </p:spPr>
        <p:txBody>
          <a:bodyPr wrap="square" lIns="0" tIns="0" rIns="0" bIns="0" rtlCol="0" anchor="ctr">
            <a:normAutofit/>
          </a:bodyPr>
          <a:lstStyle/>
          <a:p>
            <a:pPr indent="0" marL="0">
              <a:buNone/>
            </a:pPr>
            <a:r>
              <a:rPr lang="en-US" sz="1700" b="1" dirty="0">
                <a:solidFill>
                  <a:srgbClr val="12264B"/>
                </a:solidFill>
                <a:latin typeface="Aptos" pitchFamily="34" charset="0"/>
                <a:ea typeface="Aptos" pitchFamily="34" charset="-122"/>
                <a:cs typeface="Aptos" pitchFamily="34" charset="-120"/>
              </a:rPr>
              <a:t>Search &amp; filter</a:t>
            </a:r>
            <a:endParaRPr lang="en-US" sz="1700" dirty="0"/>
          </a:p>
        </p:txBody>
      </p:sp>
      <p:sp>
        <p:nvSpPr>
          <p:cNvPr id="27" name="Text 25"/>
          <p:cNvSpPr/>
          <p:nvPr/>
        </p:nvSpPr>
        <p:spPr>
          <a:xfrm>
            <a:off x="5413248" y="4361688"/>
            <a:ext cx="2478024" cy="566928"/>
          </a:xfrm>
          <a:prstGeom prst="rect">
            <a:avLst/>
          </a:prstGeom>
          <a:noFill/>
          <a:ln/>
        </p:spPr>
        <p:txBody>
          <a:bodyPr wrap="square" lIns="0" tIns="0" rIns="0" bIns="0" rtlCol="0" anchor="ctr">
            <a:normAutofit/>
          </a:bodyPr>
          <a:lstStyle/>
          <a:p>
            <a:pPr indent="0" marL="0">
              <a:buNone/>
            </a:pPr>
            <a:r>
              <a:rPr lang="en-US" sz="1250" dirty="0">
                <a:solidFill>
                  <a:srgbClr val="667890"/>
                </a:solidFill>
                <a:latin typeface="Aptos" pitchFamily="34" charset="0"/>
                <a:ea typeface="Aptos" pitchFamily="34" charset="-122"/>
                <a:cs typeface="Aptos" pitchFamily="34" charset="-120"/>
              </a:rPr>
              <a:t>Find the right task quickly</a:t>
            </a:r>
            <a:endParaRPr lang="en-US" sz="1250" dirty="0"/>
          </a:p>
        </p:txBody>
      </p:sp>
      <p:sp>
        <p:nvSpPr>
          <p:cNvPr id="28" name="Shape 26"/>
          <p:cNvSpPr/>
          <p:nvPr/>
        </p:nvSpPr>
        <p:spPr>
          <a:xfrm>
            <a:off x="8403336" y="3694176"/>
            <a:ext cx="3611880" cy="1481328"/>
          </a:xfrm>
          <a:prstGeom prst="roundRect">
            <a:avLst>
              <a:gd name="adj" fmla="val 9877"/>
            </a:avLst>
          </a:prstGeom>
          <a:solidFill>
            <a:srgbClr val="FFFFFF"/>
          </a:solidFill>
          <a:ln w="12700">
            <a:solidFill>
              <a:srgbClr val="E4EBF4"/>
            </a:solidFill>
            <a:prstDash val="solid"/>
          </a:ln>
        </p:spPr>
      </p:sp>
      <p:sp>
        <p:nvSpPr>
          <p:cNvPr id="29" name="Text 27"/>
          <p:cNvSpPr/>
          <p:nvPr/>
        </p:nvSpPr>
        <p:spPr>
          <a:xfrm>
            <a:off x="8613648" y="3968496"/>
            <a:ext cx="530352" cy="438912"/>
          </a:xfrm>
          <a:prstGeom prst="rect">
            <a:avLst/>
          </a:prstGeom>
          <a:noFill/>
          <a:ln/>
        </p:spPr>
        <p:txBody>
          <a:bodyPr wrap="square" lIns="0" tIns="0" rIns="0" bIns="0" rtlCol="0" anchor="ctr">
            <a:normAutofit/>
          </a:bodyPr>
          <a:lstStyle/>
          <a:p>
            <a:pPr indent="0" marL="0">
              <a:buNone/>
            </a:pPr>
            <a:r>
              <a:rPr lang="en-US" sz="2700" dirty="0">
                <a:solidFill>
                  <a:srgbClr val="192940"/>
                </a:solidFill>
                <a:latin typeface="Aptos" pitchFamily="34" charset="0"/>
                <a:ea typeface="Aptos" pitchFamily="34" charset="-122"/>
                <a:cs typeface="Aptos" pitchFamily="34" charset="-120"/>
              </a:rPr>
              <a:t>☾</a:t>
            </a:r>
            <a:endParaRPr lang="en-US" sz="2700" dirty="0"/>
          </a:p>
        </p:txBody>
      </p:sp>
      <p:sp>
        <p:nvSpPr>
          <p:cNvPr id="30" name="Text 28"/>
          <p:cNvSpPr/>
          <p:nvPr/>
        </p:nvSpPr>
        <p:spPr>
          <a:xfrm>
            <a:off x="9262872" y="3904488"/>
            <a:ext cx="2514600" cy="320040"/>
          </a:xfrm>
          <a:prstGeom prst="rect">
            <a:avLst/>
          </a:prstGeom>
          <a:noFill/>
          <a:ln/>
        </p:spPr>
        <p:txBody>
          <a:bodyPr wrap="square" lIns="0" tIns="0" rIns="0" bIns="0" rtlCol="0" anchor="ctr">
            <a:normAutofit/>
          </a:bodyPr>
          <a:lstStyle/>
          <a:p>
            <a:pPr indent="0" marL="0">
              <a:buNone/>
            </a:pPr>
            <a:r>
              <a:rPr lang="en-US" sz="1700" b="1" dirty="0">
                <a:solidFill>
                  <a:srgbClr val="12264B"/>
                </a:solidFill>
                <a:latin typeface="Aptos" pitchFamily="34" charset="0"/>
                <a:ea typeface="Aptos" pitchFamily="34" charset="-122"/>
                <a:cs typeface="Aptos" pitchFamily="34" charset="-120"/>
              </a:rPr>
              <a:t>Personalisation</a:t>
            </a:r>
            <a:endParaRPr lang="en-US" sz="1700" dirty="0"/>
          </a:p>
        </p:txBody>
      </p:sp>
      <p:sp>
        <p:nvSpPr>
          <p:cNvPr id="31" name="Text 29"/>
          <p:cNvSpPr/>
          <p:nvPr/>
        </p:nvSpPr>
        <p:spPr>
          <a:xfrm>
            <a:off x="9272016" y="4361688"/>
            <a:ext cx="2478024" cy="566928"/>
          </a:xfrm>
          <a:prstGeom prst="rect">
            <a:avLst/>
          </a:prstGeom>
          <a:noFill/>
          <a:ln/>
        </p:spPr>
        <p:txBody>
          <a:bodyPr wrap="square" lIns="0" tIns="0" rIns="0" bIns="0" rtlCol="0" anchor="ctr">
            <a:normAutofit/>
          </a:bodyPr>
          <a:lstStyle/>
          <a:p>
            <a:pPr indent="0" marL="0">
              <a:buNone/>
            </a:pPr>
            <a:r>
              <a:rPr lang="en-US" sz="1250" dirty="0">
                <a:solidFill>
                  <a:srgbClr val="667890"/>
                </a:solidFill>
                <a:latin typeface="Aptos" pitchFamily="34" charset="0"/>
                <a:ea typeface="Aptos" pitchFamily="34" charset="-122"/>
                <a:cs typeface="Aptos" pitchFamily="34" charset="-120"/>
              </a:rPr>
              <a:t>Dark and light layouts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05</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A good prompt is a mini product brief</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The stronger the specification, the easier the result is to test.</a:t>
            </a:r>
            <a:endParaRPr lang="en-US" sz="1500" dirty="0"/>
          </a:p>
        </p:txBody>
      </p:sp>
      <p:sp>
        <p:nvSpPr>
          <p:cNvPr id="8" name="Shape 6"/>
          <p:cNvSpPr/>
          <p:nvPr/>
        </p:nvSpPr>
        <p:spPr>
          <a:xfrm>
            <a:off x="722376" y="1975104"/>
            <a:ext cx="7086600" cy="3520440"/>
          </a:xfrm>
          <a:prstGeom prst="roundRect">
            <a:avLst>
              <a:gd name="adj" fmla="val 4156"/>
            </a:avLst>
          </a:prstGeom>
          <a:solidFill>
            <a:srgbClr val="12264B"/>
          </a:solidFill>
          <a:ln w="12700">
            <a:solidFill>
              <a:srgbClr val="12264B"/>
            </a:solidFill>
            <a:prstDash val="solid"/>
          </a:ln>
        </p:spPr>
      </p:sp>
      <p:sp>
        <p:nvSpPr>
          <p:cNvPr id="9" name="Text 7"/>
          <p:cNvSpPr/>
          <p:nvPr/>
        </p:nvSpPr>
        <p:spPr>
          <a:xfrm>
            <a:off x="1097280" y="2395728"/>
            <a:ext cx="6263640" cy="512064"/>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Aptos" pitchFamily="34" charset="0"/>
                <a:ea typeface="Aptos" pitchFamily="34" charset="-122"/>
                <a:cs typeface="Aptos" pitchFamily="34" charset="-120"/>
              </a:rPr>
              <a:t>Build an interactive “My Smart Planner” app.</a:t>
            </a:r>
            <a:endParaRPr lang="en-US" sz="2300" dirty="0"/>
          </a:p>
        </p:txBody>
      </p:sp>
      <p:sp>
        <p:nvSpPr>
          <p:cNvPr id="10" name="Text 8"/>
          <p:cNvSpPr/>
          <p:nvPr/>
        </p:nvSpPr>
        <p:spPr>
          <a:xfrm>
            <a:off x="1115568" y="3044952"/>
            <a:ext cx="6254496" cy="283464"/>
          </a:xfrm>
          <a:prstGeom prst="rect">
            <a:avLst/>
          </a:prstGeom>
          <a:noFill/>
          <a:ln/>
        </p:spPr>
        <p:txBody>
          <a:bodyPr wrap="square" lIns="0" tIns="0" rIns="0" bIns="0" rtlCol="0" anchor="ctr">
            <a:normAutofit/>
          </a:bodyPr>
          <a:lstStyle/>
          <a:p>
            <a:pPr indent="0" marL="0">
              <a:buNone/>
            </a:pPr>
            <a:r>
              <a:rPr lang="en-US" sz="1600" dirty="0">
                <a:solidFill>
                  <a:srgbClr val="D5E5FF"/>
                </a:solidFill>
                <a:latin typeface="Aptos" pitchFamily="34" charset="0"/>
                <a:ea typeface="Aptos" pitchFamily="34" charset="-122"/>
                <a:cs typeface="Aptos" pitchFamily="34" charset="-120"/>
              </a:rPr>
              <a:t>✓   Allow task creation, editing and completion</a:t>
            </a:r>
            <a:endParaRPr lang="en-US" sz="1600" dirty="0"/>
          </a:p>
        </p:txBody>
      </p:sp>
      <p:sp>
        <p:nvSpPr>
          <p:cNvPr id="11" name="Text 9"/>
          <p:cNvSpPr/>
          <p:nvPr/>
        </p:nvSpPr>
        <p:spPr>
          <a:xfrm>
            <a:off x="1115568" y="3429000"/>
            <a:ext cx="6254496" cy="283464"/>
          </a:xfrm>
          <a:prstGeom prst="rect">
            <a:avLst/>
          </a:prstGeom>
          <a:noFill/>
          <a:ln/>
        </p:spPr>
        <p:txBody>
          <a:bodyPr wrap="square" lIns="0" tIns="0" rIns="0" bIns="0" rtlCol="0" anchor="ctr">
            <a:normAutofit/>
          </a:bodyPr>
          <a:lstStyle/>
          <a:p>
            <a:pPr indent="0" marL="0">
              <a:buNone/>
            </a:pPr>
            <a:r>
              <a:rPr lang="en-US" sz="1600" dirty="0">
                <a:solidFill>
                  <a:srgbClr val="D5E5FF"/>
                </a:solidFill>
                <a:latin typeface="Aptos" pitchFamily="34" charset="0"/>
                <a:ea typeface="Aptos" pitchFamily="34" charset="-122"/>
                <a:cs typeface="Aptos" pitchFamily="34" charset="-120"/>
              </a:rPr>
              <a:t>✓   Include deadlines, priorities and progress</a:t>
            </a:r>
            <a:endParaRPr lang="en-US" sz="1600" dirty="0"/>
          </a:p>
        </p:txBody>
      </p:sp>
      <p:sp>
        <p:nvSpPr>
          <p:cNvPr id="12" name="Text 10"/>
          <p:cNvSpPr/>
          <p:nvPr/>
        </p:nvSpPr>
        <p:spPr>
          <a:xfrm>
            <a:off x="1115568" y="3813048"/>
            <a:ext cx="6254496" cy="283464"/>
          </a:xfrm>
          <a:prstGeom prst="rect">
            <a:avLst/>
          </a:prstGeom>
          <a:noFill/>
          <a:ln/>
        </p:spPr>
        <p:txBody>
          <a:bodyPr wrap="square" lIns="0" tIns="0" rIns="0" bIns="0" rtlCol="0" anchor="ctr">
            <a:normAutofit/>
          </a:bodyPr>
          <a:lstStyle/>
          <a:p>
            <a:pPr indent="0" marL="0">
              <a:buNone/>
            </a:pPr>
            <a:r>
              <a:rPr lang="en-US" sz="1600" dirty="0">
                <a:solidFill>
                  <a:srgbClr val="D5E5FF"/>
                </a:solidFill>
                <a:latin typeface="Aptos" pitchFamily="34" charset="0"/>
                <a:ea typeface="Aptos" pitchFamily="34" charset="-122"/>
                <a:cs typeface="Aptos" pitchFamily="34" charset="-120"/>
              </a:rPr>
              <a:t>✓   Support Study and Work modes</a:t>
            </a:r>
            <a:endParaRPr lang="en-US" sz="1600" dirty="0"/>
          </a:p>
        </p:txBody>
      </p:sp>
      <p:sp>
        <p:nvSpPr>
          <p:cNvPr id="13" name="Text 11"/>
          <p:cNvSpPr/>
          <p:nvPr/>
        </p:nvSpPr>
        <p:spPr>
          <a:xfrm>
            <a:off x="1115568" y="4197096"/>
            <a:ext cx="6254496" cy="283464"/>
          </a:xfrm>
          <a:prstGeom prst="rect">
            <a:avLst/>
          </a:prstGeom>
          <a:noFill/>
          <a:ln/>
        </p:spPr>
        <p:txBody>
          <a:bodyPr wrap="square" lIns="0" tIns="0" rIns="0" bIns="0" rtlCol="0" anchor="ctr">
            <a:normAutofit/>
          </a:bodyPr>
          <a:lstStyle/>
          <a:p>
            <a:pPr indent="0" marL="0">
              <a:buNone/>
            </a:pPr>
            <a:r>
              <a:rPr lang="en-US" sz="1600" dirty="0">
                <a:solidFill>
                  <a:srgbClr val="D5E5FF"/>
                </a:solidFill>
                <a:latin typeface="Aptos" pitchFamily="34" charset="0"/>
                <a:ea typeface="Aptos" pitchFamily="34" charset="-122"/>
                <a:cs typeface="Aptos" pitchFamily="34" charset="-120"/>
              </a:rPr>
              <a:t>✓   Make it responsive and accessible</a:t>
            </a:r>
            <a:endParaRPr lang="en-US" sz="1600" dirty="0"/>
          </a:p>
        </p:txBody>
      </p:sp>
      <p:sp>
        <p:nvSpPr>
          <p:cNvPr id="14" name="Text 12"/>
          <p:cNvSpPr/>
          <p:nvPr/>
        </p:nvSpPr>
        <p:spPr>
          <a:xfrm>
            <a:off x="1115568" y="4581144"/>
            <a:ext cx="6254496" cy="283464"/>
          </a:xfrm>
          <a:prstGeom prst="rect">
            <a:avLst/>
          </a:prstGeom>
          <a:noFill/>
          <a:ln/>
        </p:spPr>
        <p:txBody>
          <a:bodyPr wrap="square" lIns="0" tIns="0" rIns="0" bIns="0" rtlCol="0" anchor="ctr">
            <a:normAutofit/>
          </a:bodyPr>
          <a:lstStyle/>
          <a:p>
            <a:pPr indent="0" marL="0">
              <a:buNone/>
            </a:pPr>
            <a:r>
              <a:rPr lang="en-US" sz="1600" dirty="0">
                <a:solidFill>
                  <a:srgbClr val="D5E5FF"/>
                </a:solidFill>
                <a:latin typeface="Aptos" pitchFamily="34" charset="0"/>
                <a:ea typeface="Aptos" pitchFamily="34" charset="-122"/>
                <a:cs typeface="Aptos" pitchFamily="34" charset="-120"/>
              </a:rPr>
              <a:t>✓   Show the WORKING app—not only code</a:t>
            </a:r>
            <a:endParaRPr lang="en-US" sz="1600" dirty="0"/>
          </a:p>
        </p:txBody>
      </p:sp>
      <p:sp>
        <p:nvSpPr>
          <p:cNvPr id="15" name="Shape 13"/>
          <p:cNvSpPr/>
          <p:nvPr/>
        </p:nvSpPr>
        <p:spPr>
          <a:xfrm>
            <a:off x="8083296" y="1975104"/>
            <a:ext cx="3401568" cy="3520440"/>
          </a:xfrm>
          <a:prstGeom prst="roundRect">
            <a:avLst>
              <a:gd name="adj" fmla="val 4301"/>
            </a:avLst>
          </a:prstGeom>
          <a:solidFill>
            <a:srgbClr val="EAF1FE"/>
          </a:solidFill>
          <a:ln w="12700">
            <a:solidFill>
              <a:srgbClr val="EAF1FE"/>
            </a:solidFill>
            <a:prstDash val="solid"/>
          </a:ln>
        </p:spPr>
      </p:sp>
      <p:sp>
        <p:nvSpPr>
          <p:cNvPr id="16" name="Text 14"/>
          <p:cNvSpPr/>
          <p:nvPr/>
        </p:nvSpPr>
        <p:spPr>
          <a:xfrm>
            <a:off x="8430768" y="2359152"/>
            <a:ext cx="2624328" cy="274320"/>
          </a:xfrm>
          <a:prstGeom prst="rect">
            <a:avLst/>
          </a:prstGeom>
          <a:noFill/>
          <a:ln/>
        </p:spPr>
        <p:txBody>
          <a:bodyPr wrap="square" lIns="0" tIns="0" rIns="0" bIns="0" rtlCol="0" anchor="ctr">
            <a:normAutofit/>
          </a:bodyPr>
          <a:lstStyle/>
          <a:p>
            <a:pPr indent="0" marL="0">
              <a:buNone/>
            </a:pPr>
            <a:r>
              <a:rPr lang="en-US" sz="1300" b="1" dirty="0">
                <a:solidFill>
                  <a:srgbClr val="325CDA"/>
                </a:solidFill>
                <a:latin typeface="Aptos" pitchFamily="34" charset="0"/>
                <a:ea typeface="Aptos" pitchFamily="34" charset="-122"/>
                <a:cs typeface="Aptos" pitchFamily="34" charset="-120"/>
              </a:rPr>
              <a:t>Role</a:t>
            </a:r>
            <a:endParaRPr lang="en-US" sz="1300" dirty="0"/>
          </a:p>
        </p:txBody>
      </p:sp>
      <p:sp>
        <p:nvSpPr>
          <p:cNvPr id="17" name="Text 15"/>
          <p:cNvSpPr/>
          <p:nvPr/>
        </p:nvSpPr>
        <p:spPr>
          <a:xfrm>
            <a:off x="8430768" y="2724912"/>
            <a:ext cx="2724912" cy="402336"/>
          </a:xfrm>
          <a:prstGeom prst="rect">
            <a:avLst/>
          </a:prstGeom>
          <a:noFill/>
          <a:ln/>
        </p:spPr>
        <p:txBody>
          <a:bodyPr wrap="square" lIns="0" tIns="0" rIns="0" bIns="0" rtlCol="0" anchor="ctr">
            <a:normAutofit/>
          </a:bodyPr>
          <a:lstStyle/>
          <a:p>
            <a:pPr indent="0" marL="0">
              <a:buNone/>
            </a:pPr>
            <a:r>
              <a:rPr lang="en-US" sz="1600" dirty="0">
                <a:solidFill>
                  <a:srgbClr val="12264B"/>
                </a:solidFill>
                <a:latin typeface="Aptos" pitchFamily="34" charset="0"/>
                <a:ea typeface="Aptos" pitchFamily="34" charset="-122"/>
                <a:cs typeface="Aptos" pitchFamily="34" charset="-120"/>
              </a:rPr>
              <a:t>Product designer + engineer</a:t>
            </a:r>
            <a:endParaRPr lang="en-US" sz="1600" dirty="0"/>
          </a:p>
        </p:txBody>
      </p:sp>
      <p:sp>
        <p:nvSpPr>
          <p:cNvPr id="18" name="Text 16"/>
          <p:cNvSpPr/>
          <p:nvPr/>
        </p:nvSpPr>
        <p:spPr>
          <a:xfrm>
            <a:off x="8430768" y="3438144"/>
            <a:ext cx="2651760" cy="274320"/>
          </a:xfrm>
          <a:prstGeom prst="rect">
            <a:avLst/>
          </a:prstGeom>
          <a:noFill/>
          <a:ln/>
        </p:spPr>
        <p:txBody>
          <a:bodyPr wrap="square" lIns="0" tIns="0" rIns="0" bIns="0" rtlCol="0" anchor="ctr">
            <a:normAutofit/>
          </a:bodyPr>
          <a:lstStyle/>
          <a:p>
            <a:pPr indent="0" marL="0">
              <a:buNone/>
            </a:pPr>
            <a:r>
              <a:rPr lang="en-US" sz="1300" b="1" dirty="0">
                <a:solidFill>
                  <a:srgbClr val="325CDA"/>
                </a:solidFill>
                <a:latin typeface="Aptos" pitchFamily="34" charset="0"/>
                <a:ea typeface="Aptos" pitchFamily="34" charset="-122"/>
                <a:cs typeface="Aptos" pitchFamily="34" charset="-120"/>
              </a:rPr>
              <a:t>Output</a:t>
            </a:r>
            <a:endParaRPr lang="en-US" sz="1300" dirty="0"/>
          </a:p>
        </p:txBody>
      </p:sp>
      <p:sp>
        <p:nvSpPr>
          <p:cNvPr id="19" name="Text 17"/>
          <p:cNvSpPr/>
          <p:nvPr/>
        </p:nvSpPr>
        <p:spPr>
          <a:xfrm>
            <a:off x="8430768" y="3767328"/>
            <a:ext cx="2596896" cy="457200"/>
          </a:xfrm>
          <a:prstGeom prst="rect">
            <a:avLst/>
          </a:prstGeom>
          <a:noFill/>
          <a:ln/>
        </p:spPr>
        <p:txBody>
          <a:bodyPr wrap="square" lIns="0" tIns="0" rIns="0" bIns="0" rtlCol="0" anchor="ctr">
            <a:normAutofit/>
          </a:bodyPr>
          <a:lstStyle/>
          <a:p>
            <a:pPr indent="0" marL="0">
              <a:buNone/>
            </a:pPr>
            <a:r>
              <a:rPr lang="en-US" sz="1800" b="1" dirty="0">
                <a:solidFill>
                  <a:srgbClr val="12264B"/>
                </a:solidFill>
                <a:latin typeface="Aptos" pitchFamily="34" charset="0"/>
                <a:ea typeface="Aptos" pitchFamily="34" charset="-122"/>
                <a:cs typeface="Aptos" pitchFamily="34" charset="-120"/>
              </a:rPr>
              <a:t>Interactive preview</a:t>
            </a:r>
            <a:endParaRPr lang="en-US" sz="1800" dirty="0"/>
          </a:p>
        </p:txBody>
      </p:sp>
      <p:sp>
        <p:nvSpPr>
          <p:cNvPr id="20" name="Text 18"/>
          <p:cNvSpPr/>
          <p:nvPr/>
        </p:nvSpPr>
        <p:spPr>
          <a:xfrm>
            <a:off x="8430768" y="4507992"/>
            <a:ext cx="2560320" cy="274320"/>
          </a:xfrm>
          <a:prstGeom prst="rect">
            <a:avLst/>
          </a:prstGeom>
          <a:noFill/>
          <a:ln/>
        </p:spPr>
        <p:txBody>
          <a:bodyPr wrap="square" lIns="0" tIns="0" rIns="0" bIns="0" rtlCol="0" anchor="ctr">
            <a:normAutofit/>
          </a:bodyPr>
          <a:lstStyle/>
          <a:p>
            <a:pPr indent="0" marL="0">
              <a:buNone/>
            </a:pPr>
            <a:r>
              <a:rPr lang="en-US" sz="1300" b="1" dirty="0">
                <a:solidFill>
                  <a:srgbClr val="325CDA"/>
                </a:solidFill>
                <a:latin typeface="Aptos" pitchFamily="34" charset="0"/>
                <a:ea typeface="Aptos" pitchFamily="34" charset="-122"/>
                <a:cs typeface="Aptos" pitchFamily="34" charset="-120"/>
              </a:rPr>
              <a:t>Evidence</a:t>
            </a:r>
            <a:endParaRPr lang="en-US" sz="1300" dirty="0"/>
          </a:p>
        </p:txBody>
      </p:sp>
      <p:sp>
        <p:nvSpPr>
          <p:cNvPr id="21" name="Text 19"/>
          <p:cNvSpPr/>
          <p:nvPr/>
        </p:nvSpPr>
        <p:spPr>
          <a:xfrm>
            <a:off x="8430768" y="4846320"/>
            <a:ext cx="2560320" cy="310896"/>
          </a:xfrm>
          <a:prstGeom prst="rect">
            <a:avLst/>
          </a:prstGeom>
          <a:noFill/>
          <a:ln/>
        </p:spPr>
        <p:txBody>
          <a:bodyPr wrap="square" lIns="0" tIns="0" rIns="0" bIns="0" rtlCol="0" anchor="ctr">
            <a:normAutofit/>
          </a:bodyPr>
          <a:lstStyle/>
          <a:p>
            <a:pPr indent="0" marL="0">
              <a:buNone/>
            </a:pPr>
            <a:r>
              <a:rPr lang="en-US" sz="1600" dirty="0">
                <a:solidFill>
                  <a:srgbClr val="12264B"/>
                </a:solidFill>
                <a:latin typeface="Aptos" pitchFamily="34" charset="0"/>
                <a:ea typeface="Aptos" pitchFamily="34" charset="-122"/>
                <a:cs typeface="Aptos" pitchFamily="34" charset="-120"/>
              </a:rPr>
              <a:t>Testable behaviours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06</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Meet the working planner</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A responsive dashboard you can actually click and use.</a:t>
            </a:r>
            <a:endParaRPr lang="en-US" sz="1500" dirty="0"/>
          </a:p>
        </p:txBody>
      </p:sp>
      <p:sp>
        <p:nvSpPr>
          <p:cNvPr id="8" name="Shape 6"/>
          <p:cNvSpPr/>
          <p:nvPr/>
        </p:nvSpPr>
        <p:spPr>
          <a:xfrm>
            <a:off x="777240" y="1847088"/>
            <a:ext cx="9281160" cy="4105656"/>
          </a:xfrm>
          <a:prstGeom prst="roundRect">
            <a:avLst>
              <a:gd name="adj" fmla="val 3563"/>
            </a:avLst>
          </a:prstGeom>
          <a:solidFill>
            <a:srgbClr val="FFFFFF"/>
          </a:solidFill>
          <a:ln w="12700">
            <a:solidFill>
              <a:srgbClr val="E4EBF4"/>
            </a:solidFill>
            <a:prstDash val="solid"/>
          </a:ln>
        </p:spPr>
      </p:sp>
      <p:pic>
        <p:nvPicPr>
          <p:cNvPr id="9" name="Image 0" descr="/mnt/data/module4_desktop_crop.png">    </p:cNvPr>
          <p:cNvPicPr>
            <a:picLocks noChangeAspect="1"/>
          </p:cNvPicPr>
          <p:nvPr/>
        </p:nvPicPr>
        <p:blipFill>
          <a:blip r:embed="rId1"/>
          <a:stretch>
            <a:fillRect/>
          </a:stretch>
        </p:blipFill>
        <p:spPr>
          <a:xfrm>
            <a:off x="960120" y="1984248"/>
            <a:ext cx="8887968" cy="3822192"/>
          </a:xfrm>
          <a:prstGeom prst="rect">
            <a:avLst/>
          </a:prstGeom>
        </p:spPr>
      </p:pic>
      <p:sp>
        <p:nvSpPr>
          <p:cNvPr id="10" name="Shape 7"/>
          <p:cNvSpPr/>
          <p:nvPr/>
        </p:nvSpPr>
        <p:spPr>
          <a:xfrm>
            <a:off x="10259568" y="1965960"/>
            <a:ext cx="1143000" cy="3776472"/>
          </a:xfrm>
          <a:prstGeom prst="roundRect">
            <a:avLst>
              <a:gd name="adj" fmla="val 12800"/>
            </a:avLst>
          </a:prstGeom>
          <a:solidFill>
            <a:srgbClr val="12264B"/>
          </a:solidFill>
          <a:ln w="12700">
            <a:solidFill>
              <a:srgbClr val="12264B"/>
            </a:solidFill>
            <a:prstDash val="solid"/>
          </a:ln>
        </p:spPr>
      </p:sp>
      <p:sp>
        <p:nvSpPr>
          <p:cNvPr id="11" name="Text 8"/>
          <p:cNvSpPr/>
          <p:nvPr/>
        </p:nvSpPr>
        <p:spPr>
          <a:xfrm>
            <a:off x="10533888" y="2377440"/>
            <a:ext cx="594360" cy="685800"/>
          </a:xfrm>
          <a:prstGeom prst="rect">
            <a:avLst/>
          </a:prstGeom>
          <a:noFill/>
          <a:ln/>
        </p:spPr>
        <p:txBody>
          <a:bodyPr wrap="square" lIns="0" tIns="0" rIns="0" bIns="0" rtlCol="0" anchor="ctr">
            <a:normAutofit/>
          </a:bodyPr>
          <a:lstStyle/>
          <a:p>
            <a:pPr algn="ctr" indent="0" marL="0">
              <a:buNone/>
            </a:pPr>
            <a:r>
              <a:rPr lang="en-US" sz="4400" dirty="0">
                <a:solidFill>
                  <a:srgbClr val="6ED9DB"/>
                </a:solidFill>
                <a:latin typeface="Aptos" pitchFamily="34" charset="0"/>
                <a:ea typeface="Aptos" pitchFamily="34" charset="-122"/>
                <a:cs typeface="Aptos" pitchFamily="34" charset="-120"/>
              </a:rPr>
              <a:t>✦</a:t>
            </a:r>
            <a:endParaRPr lang="en-US" sz="4400" dirty="0"/>
          </a:p>
        </p:txBody>
      </p:sp>
      <p:sp>
        <p:nvSpPr>
          <p:cNvPr id="12" name="Text 9"/>
          <p:cNvSpPr/>
          <p:nvPr/>
        </p:nvSpPr>
        <p:spPr>
          <a:xfrm>
            <a:off x="10351008" y="3273552"/>
            <a:ext cx="950976" cy="39319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Real</a:t>
            </a:r>
            <a:endParaRPr lang="en-US" sz="2200" dirty="0"/>
          </a:p>
        </p:txBody>
      </p:sp>
      <p:sp>
        <p:nvSpPr>
          <p:cNvPr id="13" name="Text 10"/>
          <p:cNvSpPr/>
          <p:nvPr/>
        </p:nvSpPr>
        <p:spPr>
          <a:xfrm>
            <a:off x="10351008" y="3685032"/>
            <a:ext cx="950976" cy="393192"/>
          </a:xfrm>
          <a:prstGeom prst="rect">
            <a:avLst/>
          </a:prstGeom>
          <a:noFill/>
          <a:ln/>
        </p:spPr>
        <p:txBody>
          <a:bodyPr wrap="square" lIns="0" tIns="0" rIns="0" bIns="0" rtlCol="0" anchor="ctr">
            <a:normAutofit/>
          </a:bodyPr>
          <a:lstStyle/>
          <a:p>
            <a:pPr algn="ctr" indent="0" marL="0">
              <a:buNone/>
            </a:pPr>
            <a:r>
              <a:rPr lang="en-US" sz="1800" dirty="0">
                <a:solidFill>
                  <a:srgbClr val="C2D5FB"/>
                </a:solidFill>
                <a:latin typeface="Aptos" pitchFamily="34" charset="0"/>
                <a:ea typeface="Aptos" pitchFamily="34" charset="-122"/>
                <a:cs typeface="Aptos" pitchFamily="34" charset="-120"/>
              </a:rPr>
              <a:t>controls</a:t>
            </a:r>
            <a:endParaRPr lang="en-US" sz="1800" dirty="0"/>
          </a:p>
        </p:txBody>
      </p:sp>
      <p:sp>
        <p:nvSpPr>
          <p:cNvPr id="14" name="Text 11"/>
          <p:cNvSpPr/>
          <p:nvPr/>
        </p:nvSpPr>
        <p:spPr>
          <a:xfrm>
            <a:off x="10351008" y="4160520"/>
            <a:ext cx="950976" cy="310896"/>
          </a:xfrm>
          <a:prstGeom prst="rect">
            <a:avLst/>
          </a:prstGeom>
          <a:noFill/>
          <a:ln/>
        </p:spPr>
        <p:txBody>
          <a:bodyPr wrap="square" lIns="0" tIns="0" rIns="0" bIns="0" rtlCol="0" anchor="ctr">
            <a:normAutofit/>
          </a:bodyPr>
          <a:lstStyle/>
          <a:p>
            <a:pPr algn="ctr" indent="0" marL="0">
              <a:buNone/>
            </a:pPr>
            <a:r>
              <a:rPr lang="en-US" sz="1400" dirty="0">
                <a:solidFill>
                  <a:srgbClr val="C2D5FB"/>
                </a:solidFill>
                <a:latin typeface="Aptos" pitchFamily="34" charset="0"/>
                <a:ea typeface="Aptos" pitchFamily="34" charset="-122"/>
                <a:cs typeface="Aptos" pitchFamily="34" charset="-120"/>
              </a:rPr>
              <a:t>not a</a:t>
            </a:r>
            <a:endParaRPr lang="en-US" sz="1400" dirty="0"/>
          </a:p>
        </p:txBody>
      </p:sp>
      <p:sp>
        <p:nvSpPr>
          <p:cNvPr id="15" name="Text 12"/>
          <p:cNvSpPr/>
          <p:nvPr/>
        </p:nvSpPr>
        <p:spPr>
          <a:xfrm>
            <a:off x="10332720" y="4535424"/>
            <a:ext cx="1005840" cy="393192"/>
          </a:xfrm>
          <a:prstGeom prst="rect">
            <a:avLst/>
          </a:prstGeom>
          <a:noFill/>
          <a:ln/>
        </p:spPr>
        <p:txBody>
          <a:bodyPr wrap="square" lIns="0" tIns="0" rIns="0" bIns="0" rtlCol="0" anchor="ctr">
            <a:normAutofit/>
          </a:bodyPr>
          <a:lstStyle/>
          <a:p>
            <a:pPr algn="ctr" indent="0" marL="0">
              <a:buNone/>
            </a:pPr>
            <a:r>
              <a:rPr lang="en-US" sz="1700" b="1" dirty="0">
                <a:solidFill>
                  <a:srgbClr val="6ED9DB"/>
                </a:solidFill>
                <a:latin typeface="Aptos" pitchFamily="34" charset="0"/>
                <a:ea typeface="Aptos" pitchFamily="34" charset="-122"/>
                <a:cs typeface="Aptos" pitchFamily="34" charset="-120"/>
              </a:rPr>
              <a:t>mockup</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07</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One application, two different contexts</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The same workflow adapts to study and work without rewriting the app.</a:t>
            </a:r>
            <a:endParaRPr lang="en-US" sz="1500" dirty="0"/>
          </a:p>
        </p:txBody>
      </p:sp>
      <p:sp>
        <p:nvSpPr>
          <p:cNvPr id="8" name="Shape 6"/>
          <p:cNvSpPr/>
          <p:nvPr/>
        </p:nvSpPr>
        <p:spPr>
          <a:xfrm>
            <a:off x="822960" y="2039112"/>
            <a:ext cx="5084064" cy="3364992"/>
          </a:xfrm>
          <a:prstGeom prst="roundRect">
            <a:avLst>
              <a:gd name="adj" fmla="val 4348"/>
            </a:avLst>
          </a:prstGeom>
          <a:solidFill>
            <a:srgbClr val="EAF1FD"/>
          </a:solidFill>
          <a:ln w="12700">
            <a:solidFill>
              <a:srgbClr val="EAF1FD"/>
            </a:solidFill>
            <a:prstDash val="solid"/>
          </a:ln>
        </p:spPr>
      </p:sp>
      <p:sp>
        <p:nvSpPr>
          <p:cNvPr id="9" name="Shape 7"/>
          <p:cNvSpPr/>
          <p:nvPr/>
        </p:nvSpPr>
        <p:spPr>
          <a:xfrm>
            <a:off x="6291072" y="2039112"/>
            <a:ext cx="5074920" cy="3364992"/>
          </a:xfrm>
          <a:prstGeom prst="roundRect">
            <a:avLst>
              <a:gd name="adj" fmla="val 4348"/>
            </a:avLst>
          </a:prstGeom>
          <a:solidFill>
            <a:srgbClr val="E9F7F2"/>
          </a:solidFill>
          <a:ln w="12700">
            <a:solidFill>
              <a:srgbClr val="E9F7F2"/>
            </a:solidFill>
            <a:prstDash val="solid"/>
          </a:ln>
        </p:spPr>
      </p:sp>
      <p:sp>
        <p:nvSpPr>
          <p:cNvPr id="10" name="Text 8"/>
          <p:cNvSpPr/>
          <p:nvPr/>
        </p:nvSpPr>
        <p:spPr>
          <a:xfrm>
            <a:off x="1234440" y="2395728"/>
            <a:ext cx="4297680" cy="411480"/>
          </a:xfrm>
          <a:prstGeom prst="rect">
            <a:avLst/>
          </a:prstGeom>
          <a:noFill/>
          <a:ln/>
        </p:spPr>
        <p:txBody>
          <a:bodyPr wrap="square" lIns="0" tIns="0" rIns="0" bIns="0" rtlCol="0" anchor="ctr">
            <a:normAutofit/>
          </a:bodyPr>
          <a:lstStyle/>
          <a:p>
            <a:pPr indent="0" marL="0">
              <a:buNone/>
            </a:pPr>
            <a:r>
              <a:rPr lang="en-US" sz="2400" b="1" dirty="0">
                <a:solidFill>
                  <a:srgbClr val="12264B"/>
                </a:solidFill>
                <a:latin typeface="Aptos" pitchFamily="34" charset="0"/>
                <a:ea typeface="Aptos" pitchFamily="34" charset="-122"/>
                <a:cs typeface="Aptos" pitchFamily="34" charset="-120"/>
              </a:rPr>
              <a:t>🎓  Study mode</a:t>
            </a:r>
            <a:endParaRPr lang="en-US" sz="2400" dirty="0"/>
          </a:p>
        </p:txBody>
      </p:sp>
      <p:sp>
        <p:nvSpPr>
          <p:cNvPr id="11" name="Shape 9"/>
          <p:cNvSpPr/>
          <p:nvPr/>
        </p:nvSpPr>
        <p:spPr>
          <a:xfrm>
            <a:off x="1234440" y="3044952"/>
            <a:ext cx="4178808" cy="411480"/>
          </a:xfrm>
          <a:prstGeom prst="roundRect">
            <a:avLst>
              <a:gd name="adj" fmla="val 35556"/>
            </a:avLst>
          </a:prstGeom>
          <a:solidFill>
            <a:srgbClr val="FFFFFF"/>
          </a:solidFill>
          <a:ln w="12700">
            <a:solidFill>
              <a:srgbClr val="FFFFFF"/>
            </a:solidFill>
            <a:prstDash val="solid"/>
          </a:ln>
        </p:spPr>
      </p:sp>
      <p:sp>
        <p:nvSpPr>
          <p:cNvPr id="12" name="Text 10"/>
          <p:cNvSpPr/>
          <p:nvPr/>
        </p:nvSpPr>
        <p:spPr>
          <a:xfrm>
            <a:off x="1463040" y="3145536"/>
            <a:ext cx="3749040" cy="182880"/>
          </a:xfrm>
          <a:prstGeom prst="rect">
            <a:avLst/>
          </a:prstGeom>
          <a:noFill/>
          <a:ln/>
        </p:spPr>
        <p:txBody>
          <a:bodyPr wrap="square" lIns="0" tIns="0" rIns="0" bIns="0" rtlCol="0" anchor="ctr">
            <a:normAutofit/>
          </a:bodyPr>
          <a:lstStyle/>
          <a:p>
            <a:pPr indent="0" marL="0">
              <a:buNone/>
            </a:pPr>
            <a:r>
              <a:rPr lang="en-US" sz="1500" dirty="0">
                <a:solidFill>
                  <a:srgbClr val="192940"/>
                </a:solidFill>
                <a:latin typeface="Aptos" pitchFamily="34" charset="0"/>
                <a:ea typeface="Aptos" pitchFamily="34" charset="-122"/>
                <a:cs typeface="Aptos" pitchFamily="34" charset="-120"/>
              </a:rPr>
              <a:t>□  Review a concept</a:t>
            </a:r>
            <a:endParaRPr lang="en-US" sz="1500" dirty="0"/>
          </a:p>
        </p:txBody>
      </p:sp>
      <p:sp>
        <p:nvSpPr>
          <p:cNvPr id="13" name="Shape 11"/>
          <p:cNvSpPr/>
          <p:nvPr/>
        </p:nvSpPr>
        <p:spPr>
          <a:xfrm>
            <a:off x="1234440" y="3602736"/>
            <a:ext cx="4178808" cy="411480"/>
          </a:xfrm>
          <a:prstGeom prst="roundRect">
            <a:avLst>
              <a:gd name="adj" fmla="val 35556"/>
            </a:avLst>
          </a:prstGeom>
          <a:solidFill>
            <a:srgbClr val="FFFFFF"/>
          </a:solidFill>
          <a:ln w="12700">
            <a:solidFill>
              <a:srgbClr val="FFFFFF"/>
            </a:solidFill>
            <a:prstDash val="solid"/>
          </a:ln>
        </p:spPr>
      </p:sp>
      <p:sp>
        <p:nvSpPr>
          <p:cNvPr id="14" name="Text 12"/>
          <p:cNvSpPr/>
          <p:nvPr/>
        </p:nvSpPr>
        <p:spPr>
          <a:xfrm>
            <a:off x="1463040" y="3703320"/>
            <a:ext cx="3749040" cy="182880"/>
          </a:xfrm>
          <a:prstGeom prst="rect">
            <a:avLst/>
          </a:prstGeom>
          <a:noFill/>
          <a:ln/>
        </p:spPr>
        <p:txBody>
          <a:bodyPr wrap="square" lIns="0" tIns="0" rIns="0" bIns="0" rtlCol="0" anchor="ctr">
            <a:normAutofit/>
          </a:bodyPr>
          <a:lstStyle/>
          <a:p>
            <a:pPr indent="0" marL="0">
              <a:buNone/>
            </a:pPr>
            <a:r>
              <a:rPr lang="en-US" sz="1500" dirty="0">
                <a:solidFill>
                  <a:srgbClr val="192940"/>
                </a:solidFill>
                <a:latin typeface="Aptos" pitchFamily="34" charset="0"/>
                <a:ea typeface="Aptos" pitchFamily="34" charset="-122"/>
                <a:cs typeface="Aptos" pitchFamily="34" charset="-120"/>
              </a:rPr>
              <a:t>□  Finish an assignment</a:t>
            </a:r>
            <a:endParaRPr lang="en-US" sz="1500" dirty="0"/>
          </a:p>
        </p:txBody>
      </p:sp>
      <p:sp>
        <p:nvSpPr>
          <p:cNvPr id="15" name="Shape 13"/>
          <p:cNvSpPr/>
          <p:nvPr/>
        </p:nvSpPr>
        <p:spPr>
          <a:xfrm>
            <a:off x="1234440" y="4160520"/>
            <a:ext cx="4178808" cy="411480"/>
          </a:xfrm>
          <a:prstGeom prst="roundRect">
            <a:avLst>
              <a:gd name="adj" fmla="val 35556"/>
            </a:avLst>
          </a:prstGeom>
          <a:solidFill>
            <a:srgbClr val="FFFFFF"/>
          </a:solidFill>
          <a:ln w="12700">
            <a:solidFill>
              <a:srgbClr val="FFFFFF"/>
            </a:solidFill>
            <a:prstDash val="solid"/>
          </a:ln>
        </p:spPr>
      </p:sp>
      <p:sp>
        <p:nvSpPr>
          <p:cNvPr id="16" name="Text 14"/>
          <p:cNvSpPr/>
          <p:nvPr/>
        </p:nvSpPr>
        <p:spPr>
          <a:xfrm>
            <a:off x="1463040" y="4261104"/>
            <a:ext cx="3749040" cy="182880"/>
          </a:xfrm>
          <a:prstGeom prst="rect">
            <a:avLst/>
          </a:prstGeom>
          <a:noFill/>
          <a:ln/>
        </p:spPr>
        <p:txBody>
          <a:bodyPr wrap="square" lIns="0" tIns="0" rIns="0" bIns="0" rtlCol="0" anchor="ctr">
            <a:normAutofit/>
          </a:bodyPr>
          <a:lstStyle/>
          <a:p>
            <a:pPr indent="0" marL="0">
              <a:buNone/>
            </a:pPr>
            <a:r>
              <a:rPr lang="en-US" sz="1500" dirty="0">
                <a:solidFill>
                  <a:srgbClr val="192940"/>
                </a:solidFill>
                <a:latin typeface="Aptos" pitchFamily="34" charset="0"/>
                <a:ea typeface="Aptos" pitchFamily="34" charset="-122"/>
                <a:cs typeface="Aptos" pitchFamily="34" charset="-120"/>
              </a:rPr>
              <a:t>□  Prepare a presentation</a:t>
            </a:r>
            <a:endParaRPr lang="en-US" sz="1500" dirty="0"/>
          </a:p>
        </p:txBody>
      </p:sp>
      <p:sp>
        <p:nvSpPr>
          <p:cNvPr id="17" name="Text 15"/>
          <p:cNvSpPr/>
          <p:nvPr/>
        </p:nvSpPr>
        <p:spPr>
          <a:xfrm>
            <a:off x="6702552" y="2395728"/>
            <a:ext cx="4242816" cy="411480"/>
          </a:xfrm>
          <a:prstGeom prst="rect">
            <a:avLst/>
          </a:prstGeom>
          <a:noFill/>
          <a:ln/>
        </p:spPr>
        <p:txBody>
          <a:bodyPr wrap="square" lIns="0" tIns="0" rIns="0" bIns="0" rtlCol="0" anchor="ctr">
            <a:normAutofit/>
          </a:bodyPr>
          <a:lstStyle/>
          <a:p>
            <a:pPr indent="0" marL="0">
              <a:buNone/>
            </a:pPr>
            <a:r>
              <a:rPr lang="en-US" sz="2400" b="1" dirty="0">
                <a:solidFill>
                  <a:srgbClr val="12264B"/>
                </a:solidFill>
                <a:latin typeface="Aptos" pitchFamily="34" charset="0"/>
                <a:ea typeface="Aptos" pitchFamily="34" charset="-122"/>
                <a:cs typeface="Aptos" pitchFamily="34" charset="-120"/>
              </a:rPr>
              <a:t>💼  Work mode</a:t>
            </a:r>
            <a:endParaRPr lang="en-US" sz="2400" dirty="0"/>
          </a:p>
        </p:txBody>
      </p:sp>
      <p:sp>
        <p:nvSpPr>
          <p:cNvPr id="18" name="Shape 16"/>
          <p:cNvSpPr/>
          <p:nvPr/>
        </p:nvSpPr>
        <p:spPr>
          <a:xfrm>
            <a:off x="6702552" y="3044952"/>
            <a:ext cx="4178808" cy="411480"/>
          </a:xfrm>
          <a:prstGeom prst="roundRect">
            <a:avLst>
              <a:gd name="adj" fmla="val 35556"/>
            </a:avLst>
          </a:prstGeom>
          <a:solidFill>
            <a:srgbClr val="FFFFFF"/>
          </a:solidFill>
          <a:ln w="12700">
            <a:solidFill>
              <a:srgbClr val="FFFFFF"/>
            </a:solidFill>
            <a:prstDash val="solid"/>
          </a:ln>
        </p:spPr>
      </p:sp>
      <p:sp>
        <p:nvSpPr>
          <p:cNvPr id="19" name="Text 17"/>
          <p:cNvSpPr/>
          <p:nvPr/>
        </p:nvSpPr>
        <p:spPr>
          <a:xfrm>
            <a:off x="6931152" y="3145536"/>
            <a:ext cx="3739896" cy="182880"/>
          </a:xfrm>
          <a:prstGeom prst="rect">
            <a:avLst/>
          </a:prstGeom>
          <a:noFill/>
          <a:ln/>
        </p:spPr>
        <p:txBody>
          <a:bodyPr wrap="square" lIns="0" tIns="0" rIns="0" bIns="0" rtlCol="0" anchor="ctr">
            <a:normAutofit/>
          </a:bodyPr>
          <a:lstStyle/>
          <a:p>
            <a:pPr indent="0" marL="0">
              <a:buNone/>
            </a:pPr>
            <a:r>
              <a:rPr lang="en-US" sz="1500" dirty="0">
                <a:solidFill>
                  <a:srgbClr val="192940"/>
                </a:solidFill>
                <a:latin typeface="Aptos" pitchFamily="34" charset="0"/>
                <a:ea typeface="Aptos" pitchFamily="34" charset="-122"/>
                <a:cs typeface="Aptos" pitchFamily="34" charset="-120"/>
              </a:rPr>
              <a:t>□  Prioritise a project</a:t>
            </a:r>
            <a:endParaRPr lang="en-US" sz="1500" dirty="0"/>
          </a:p>
        </p:txBody>
      </p:sp>
      <p:sp>
        <p:nvSpPr>
          <p:cNvPr id="20" name="Shape 18"/>
          <p:cNvSpPr/>
          <p:nvPr/>
        </p:nvSpPr>
        <p:spPr>
          <a:xfrm>
            <a:off x="6702552" y="3602736"/>
            <a:ext cx="4178808" cy="411480"/>
          </a:xfrm>
          <a:prstGeom prst="roundRect">
            <a:avLst>
              <a:gd name="adj" fmla="val 35556"/>
            </a:avLst>
          </a:prstGeom>
          <a:solidFill>
            <a:srgbClr val="FFFFFF"/>
          </a:solidFill>
          <a:ln w="12700">
            <a:solidFill>
              <a:srgbClr val="FFFFFF"/>
            </a:solidFill>
            <a:prstDash val="solid"/>
          </a:ln>
        </p:spPr>
      </p:sp>
      <p:sp>
        <p:nvSpPr>
          <p:cNvPr id="21" name="Text 19"/>
          <p:cNvSpPr/>
          <p:nvPr/>
        </p:nvSpPr>
        <p:spPr>
          <a:xfrm>
            <a:off x="6931152" y="3703320"/>
            <a:ext cx="3739896" cy="182880"/>
          </a:xfrm>
          <a:prstGeom prst="rect">
            <a:avLst/>
          </a:prstGeom>
          <a:noFill/>
          <a:ln/>
        </p:spPr>
        <p:txBody>
          <a:bodyPr wrap="square" lIns="0" tIns="0" rIns="0" bIns="0" rtlCol="0" anchor="ctr">
            <a:normAutofit/>
          </a:bodyPr>
          <a:lstStyle/>
          <a:p>
            <a:pPr indent="0" marL="0">
              <a:buNone/>
            </a:pPr>
            <a:r>
              <a:rPr lang="en-US" sz="1500" dirty="0">
                <a:solidFill>
                  <a:srgbClr val="192940"/>
                </a:solidFill>
                <a:latin typeface="Aptos" pitchFamily="34" charset="0"/>
                <a:ea typeface="Aptos" pitchFamily="34" charset="-122"/>
                <a:cs typeface="Aptos" pitchFamily="34" charset="-120"/>
              </a:rPr>
              <a:t>□  Prepare a client update</a:t>
            </a:r>
            <a:endParaRPr lang="en-US" sz="1500" dirty="0"/>
          </a:p>
        </p:txBody>
      </p:sp>
      <p:sp>
        <p:nvSpPr>
          <p:cNvPr id="22" name="Shape 20"/>
          <p:cNvSpPr/>
          <p:nvPr/>
        </p:nvSpPr>
        <p:spPr>
          <a:xfrm>
            <a:off x="6702552" y="4160520"/>
            <a:ext cx="4178808" cy="411480"/>
          </a:xfrm>
          <a:prstGeom prst="roundRect">
            <a:avLst>
              <a:gd name="adj" fmla="val 35556"/>
            </a:avLst>
          </a:prstGeom>
          <a:solidFill>
            <a:srgbClr val="FFFFFF"/>
          </a:solidFill>
          <a:ln w="12700">
            <a:solidFill>
              <a:srgbClr val="FFFFFF"/>
            </a:solidFill>
            <a:prstDash val="solid"/>
          </a:ln>
        </p:spPr>
      </p:sp>
      <p:sp>
        <p:nvSpPr>
          <p:cNvPr id="23" name="Text 21"/>
          <p:cNvSpPr/>
          <p:nvPr/>
        </p:nvSpPr>
        <p:spPr>
          <a:xfrm>
            <a:off x="6931152" y="4261104"/>
            <a:ext cx="3739896" cy="182880"/>
          </a:xfrm>
          <a:prstGeom prst="rect">
            <a:avLst/>
          </a:prstGeom>
          <a:noFill/>
          <a:ln/>
        </p:spPr>
        <p:txBody>
          <a:bodyPr wrap="square" lIns="0" tIns="0" rIns="0" bIns="0" rtlCol="0" anchor="ctr">
            <a:normAutofit/>
          </a:bodyPr>
          <a:lstStyle/>
          <a:p>
            <a:pPr indent="0" marL="0">
              <a:buNone/>
            </a:pPr>
            <a:r>
              <a:rPr lang="en-US" sz="1500" dirty="0">
                <a:solidFill>
                  <a:srgbClr val="192940"/>
                </a:solidFill>
                <a:latin typeface="Aptos" pitchFamily="34" charset="0"/>
                <a:ea typeface="Aptos" pitchFamily="34" charset="-122"/>
                <a:cs typeface="Aptos" pitchFamily="34" charset="-120"/>
              </a:rPr>
              <a:t>□  Document decisions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08</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Your progress changes as you work</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Useful software makes its calculations visible and verifiable.</a:t>
            </a:r>
            <a:endParaRPr lang="en-US" sz="1500" dirty="0"/>
          </a:p>
        </p:txBody>
      </p:sp>
      <p:sp>
        <p:nvSpPr>
          <p:cNvPr id="8" name="Shape 6"/>
          <p:cNvSpPr/>
          <p:nvPr/>
        </p:nvSpPr>
        <p:spPr>
          <a:xfrm>
            <a:off x="1115568" y="2258568"/>
            <a:ext cx="2423160" cy="1481328"/>
          </a:xfrm>
          <a:prstGeom prst="roundRect">
            <a:avLst>
              <a:gd name="adj" fmla="val 9877"/>
            </a:avLst>
          </a:prstGeom>
          <a:solidFill>
            <a:srgbClr val="FFFFFF"/>
          </a:solidFill>
          <a:ln w="12700">
            <a:solidFill>
              <a:srgbClr val="E4EBF4"/>
            </a:solidFill>
            <a:prstDash val="solid"/>
          </a:ln>
        </p:spPr>
      </p:sp>
      <p:sp>
        <p:nvSpPr>
          <p:cNvPr id="9" name="Text 7"/>
          <p:cNvSpPr/>
          <p:nvPr/>
        </p:nvSpPr>
        <p:spPr>
          <a:xfrm>
            <a:off x="1371600" y="2496312"/>
            <a:ext cx="1920240" cy="502920"/>
          </a:xfrm>
          <a:prstGeom prst="rect">
            <a:avLst/>
          </a:prstGeom>
          <a:noFill/>
          <a:ln/>
        </p:spPr>
        <p:txBody>
          <a:bodyPr wrap="square" lIns="0" tIns="0" rIns="0" bIns="0" rtlCol="0" anchor="ctr">
            <a:normAutofit/>
          </a:bodyPr>
          <a:lstStyle/>
          <a:p>
            <a:pPr indent="0" marL="0">
              <a:buNone/>
            </a:pPr>
            <a:r>
              <a:rPr lang="en-US" sz="4000" b="1" dirty="0">
                <a:solidFill>
                  <a:srgbClr val="12264B"/>
                </a:solidFill>
                <a:latin typeface="Aptos" pitchFamily="34" charset="0"/>
                <a:ea typeface="Aptos" pitchFamily="34" charset="-122"/>
                <a:cs typeface="Aptos" pitchFamily="34" charset="-120"/>
              </a:rPr>
              <a:t>4</a:t>
            </a:r>
            <a:endParaRPr lang="en-US" sz="4000" dirty="0"/>
          </a:p>
        </p:txBody>
      </p:sp>
      <p:sp>
        <p:nvSpPr>
          <p:cNvPr id="10" name="Text 8"/>
          <p:cNvSpPr/>
          <p:nvPr/>
        </p:nvSpPr>
        <p:spPr>
          <a:xfrm>
            <a:off x="1371600" y="3136392"/>
            <a:ext cx="1920240" cy="292608"/>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Total</a:t>
            </a:r>
            <a:endParaRPr lang="en-US" sz="1500" dirty="0"/>
          </a:p>
        </p:txBody>
      </p:sp>
      <p:sp>
        <p:nvSpPr>
          <p:cNvPr id="11" name="Shape 9"/>
          <p:cNvSpPr/>
          <p:nvPr/>
        </p:nvSpPr>
        <p:spPr>
          <a:xfrm>
            <a:off x="4114800" y="2258568"/>
            <a:ext cx="2423160" cy="1481328"/>
          </a:xfrm>
          <a:prstGeom prst="roundRect">
            <a:avLst>
              <a:gd name="adj" fmla="val 9877"/>
            </a:avLst>
          </a:prstGeom>
          <a:solidFill>
            <a:srgbClr val="FFFFFF"/>
          </a:solidFill>
          <a:ln w="12700">
            <a:solidFill>
              <a:srgbClr val="E4EBF4"/>
            </a:solidFill>
            <a:prstDash val="solid"/>
          </a:ln>
        </p:spPr>
      </p:sp>
      <p:sp>
        <p:nvSpPr>
          <p:cNvPr id="12" name="Text 10"/>
          <p:cNvSpPr/>
          <p:nvPr/>
        </p:nvSpPr>
        <p:spPr>
          <a:xfrm>
            <a:off x="4370832" y="2496312"/>
            <a:ext cx="1920240" cy="502920"/>
          </a:xfrm>
          <a:prstGeom prst="rect">
            <a:avLst/>
          </a:prstGeom>
          <a:noFill/>
          <a:ln/>
        </p:spPr>
        <p:txBody>
          <a:bodyPr wrap="square" lIns="0" tIns="0" rIns="0" bIns="0" rtlCol="0" anchor="ctr">
            <a:normAutofit/>
          </a:bodyPr>
          <a:lstStyle/>
          <a:p>
            <a:pPr indent="0" marL="0">
              <a:buNone/>
            </a:pPr>
            <a:r>
              <a:rPr lang="en-US" sz="4000" b="1" dirty="0">
                <a:solidFill>
                  <a:srgbClr val="12264B"/>
                </a:solidFill>
                <a:latin typeface="Aptos" pitchFamily="34" charset="0"/>
                <a:ea typeface="Aptos" pitchFamily="34" charset="-122"/>
                <a:cs typeface="Aptos" pitchFamily="34" charset="-120"/>
              </a:rPr>
              <a:t>1</a:t>
            </a:r>
            <a:endParaRPr lang="en-US" sz="4000" dirty="0"/>
          </a:p>
        </p:txBody>
      </p:sp>
      <p:sp>
        <p:nvSpPr>
          <p:cNvPr id="13" name="Text 11"/>
          <p:cNvSpPr/>
          <p:nvPr/>
        </p:nvSpPr>
        <p:spPr>
          <a:xfrm>
            <a:off x="4370832" y="3136392"/>
            <a:ext cx="1920240" cy="292608"/>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Completed</a:t>
            </a:r>
            <a:endParaRPr lang="en-US" sz="1500" dirty="0"/>
          </a:p>
        </p:txBody>
      </p:sp>
      <p:sp>
        <p:nvSpPr>
          <p:cNvPr id="14" name="Shape 12"/>
          <p:cNvSpPr/>
          <p:nvPr/>
        </p:nvSpPr>
        <p:spPr>
          <a:xfrm>
            <a:off x="7114032" y="2258568"/>
            <a:ext cx="2423160" cy="1481328"/>
          </a:xfrm>
          <a:prstGeom prst="roundRect">
            <a:avLst>
              <a:gd name="adj" fmla="val 9877"/>
            </a:avLst>
          </a:prstGeom>
          <a:solidFill>
            <a:srgbClr val="FFFFFF"/>
          </a:solidFill>
          <a:ln w="12700">
            <a:solidFill>
              <a:srgbClr val="E4EBF4"/>
            </a:solidFill>
            <a:prstDash val="solid"/>
          </a:ln>
        </p:spPr>
      </p:sp>
      <p:sp>
        <p:nvSpPr>
          <p:cNvPr id="15" name="Text 13"/>
          <p:cNvSpPr/>
          <p:nvPr/>
        </p:nvSpPr>
        <p:spPr>
          <a:xfrm>
            <a:off x="7370064" y="2496312"/>
            <a:ext cx="1920240" cy="502920"/>
          </a:xfrm>
          <a:prstGeom prst="rect">
            <a:avLst/>
          </a:prstGeom>
          <a:noFill/>
          <a:ln/>
        </p:spPr>
        <p:txBody>
          <a:bodyPr wrap="square" lIns="0" tIns="0" rIns="0" bIns="0" rtlCol="0" anchor="ctr">
            <a:normAutofit/>
          </a:bodyPr>
          <a:lstStyle/>
          <a:p>
            <a:pPr indent="0" marL="0">
              <a:buNone/>
            </a:pPr>
            <a:r>
              <a:rPr lang="en-US" sz="4000" b="1" dirty="0">
                <a:solidFill>
                  <a:srgbClr val="168E70"/>
                </a:solidFill>
                <a:latin typeface="Aptos" pitchFamily="34" charset="0"/>
                <a:ea typeface="Aptos" pitchFamily="34" charset="-122"/>
                <a:cs typeface="Aptos" pitchFamily="34" charset="-120"/>
              </a:rPr>
              <a:t>25%</a:t>
            </a:r>
            <a:endParaRPr lang="en-US" sz="4000" dirty="0"/>
          </a:p>
        </p:txBody>
      </p:sp>
      <p:sp>
        <p:nvSpPr>
          <p:cNvPr id="16" name="Text 14"/>
          <p:cNvSpPr/>
          <p:nvPr/>
        </p:nvSpPr>
        <p:spPr>
          <a:xfrm>
            <a:off x="7370064" y="3136392"/>
            <a:ext cx="1920240" cy="292608"/>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Progress</a:t>
            </a:r>
            <a:endParaRPr lang="en-US" sz="1500" dirty="0"/>
          </a:p>
        </p:txBody>
      </p:sp>
      <p:sp>
        <p:nvSpPr>
          <p:cNvPr id="17" name="Shape 15"/>
          <p:cNvSpPr/>
          <p:nvPr/>
        </p:nvSpPr>
        <p:spPr>
          <a:xfrm>
            <a:off x="1106424" y="4206240"/>
            <a:ext cx="9646920" cy="1097280"/>
          </a:xfrm>
          <a:prstGeom prst="roundRect">
            <a:avLst>
              <a:gd name="adj" fmla="val 13333"/>
            </a:avLst>
          </a:prstGeom>
          <a:solidFill>
            <a:srgbClr val="E9F2FF"/>
          </a:solidFill>
          <a:ln w="12700">
            <a:solidFill>
              <a:srgbClr val="E9F2FF"/>
            </a:solidFill>
            <a:prstDash val="solid"/>
          </a:ln>
        </p:spPr>
      </p:sp>
      <p:sp>
        <p:nvSpPr>
          <p:cNvPr id="18" name="Text 16"/>
          <p:cNvSpPr/>
          <p:nvPr/>
        </p:nvSpPr>
        <p:spPr>
          <a:xfrm>
            <a:off x="1536192" y="4535424"/>
            <a:ext cx="8778240" cy="402336"/>
          </a:xfrm>
          <a:prstGeom prst="rect">
            <a:avLst/>
          </a:prstGeom>
          <a:noFill/>
          <a:ln/>
        </p:spPr>
        <p:txBody>
          <a:bodyPr wrap="square" lIns="0" tIns="0" rIns="0" bIns="0" rtlCol="0" anchor="ctr">
            <a:normAutofit/>
          </a:bodyPr>
          <a:lstStyle/>
          <a:p>
            <a:pPr algn="ctr" indent="0" marL="0">
              <a:buNone/>
            </a:pPr>
            <a:r>
              <a:rPr lang="en-US" sz="2300" b="1" dirty="0">
                <a:solidFill>
                  <a:srgbClr val="12264B"/>
                </a:solidFill>
                <a:latin typeface="Aptos" pitchFamily="34" charset="0"/>
                <a:ea typeface="Aptos" pitchFamily="34" charset="-122"/>
                <a:cs typeface="Aptos" pitchFamily="34" charset="-120"/>
              </a:rPr>
              <a:t>Complete one more task → 2 out of 4 completed → 50% progress</a:t>
            </a:r>
            <a:endParaRPr lang="en-US" sz="2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09</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Test before you trust</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A beautiful interface must still behave correctly.</a:t>
            </a:r>
            <a:endParaRPr lang="en-US" sz="1500" dirty="0"/>
          </a:p>
        </p:txBody>
      </p:sp>
      <p:sp>
        <p:nvSpPr>
          <p:cNvPr id="8" name="Shape 6"/>
          <p:cNvSpPr/>
          <p:nvPr/>
        </p:nvSpPr>
        <p:spPr>
          <a:xfrm>
            <a:off x="758952" y="1993392"/>
            <a:ext cx="5394960" cy="932688"/>
          </a:xfrm>
          <a:prstGeom prst="roundRect">
            <a:avLst>
              <a:gd name="adj" fmla="val 15686"/>
            </a:avLst>
          </a:prstGeom>
          <a:solidFill>
            <a:srgbClr val="FFFFFF"/>
          </a:solidFill>
          <a:ln w="12700">
            <a:solidFill>
              <a:srgbClr val="E4EBF4"/>
            </a:solidFill>
            <a:prstDash val="solid"/>
          </a:ln>
        </p:spPr>
      </p:sp>
      <p:sp>
        <p:nvSpPr>
          <p:cNvPr id="9" name="Shape 7"/>
          <p:cNvSpPr/>
          <p:nvPr/>
        </p:nvSpPr>
        <p:spPr>
          <a:xfrm>
            <a:off x="969264" y="2258568"/>
            <a:ext cx="420624" cy="292608"/>
          </a:xfrm>
          <a:prstGeom prst="roundRect">
            <a:avLst>
              <a:gd name="adj" fmla="val 50000"/>
            </a:avLst>
          </a:prstGeom>
          <a:solidFill>
            <a:srgbClr val="E5F7F0"/>
          </a:solidFill>
          <a:ln w="12700">
            <a:solidFill>
              <a:srgbClr val="E5F7F0"/>
            </a:solidFill>
            <a:prstDash val="solid"/>
          </a:ln>
        </p:spPr>
      </p:sp>
      <p:sp>
        <p:nvSpPr>
          <p:cNvPr id="10" name="Text 8"/>
          <p:cNvSpPr/>
          <p:nvPr/>
        </p:nvSpPr>
        <p:spPr>
          <a:xfrm>
            <a:off x="1078992" y="2322576"/>
            <a:ext cx="201168" cy="173736"/>
          </a:xfrm>
          <a:prstGeom prst="rect">
            <a:avLst/>
          </a:prstGeom>
          <a:noFill/>
          <a:ln/>
        </p:spPr>
        <p:txBody>
          <a:bodyPr wrap="square" lIns="0" tIns="0" rIns="0" bIns="0" rtlCol="0" anchor="ctr">
            <a:normAutofit/>
          </a:bodyPr>
          <a:lstStyle/>
          <a:p>
            <a:pPr algn="ctr" indent="0" marL="0">
              <a:buNone/>
            </a:pPr>
            <a:r>
              <a:rPr lang="en-US" sz="1400" b="1" dirty="0">
                <a:solidFill>
                  <a:srgbClr val="168E70"/>
                </a:solidFill>
                <a:latin typeface="Aptos" pitchFamily="34" charset="0"/>
                <a:ea typeface="Aptos" pitchFamily="34" charset="-122"/>
                <a:cs typeface="Aptos" pitchFamily="34" charset="-120"/>
              </a:rPr>
              <a:t>✓</a:t>
            </a:r>
            <a:endParaRPr lang="en-US" sz="1400" dirty="0"/>
          </a:p>
        </p:txBody>
      </p:sp>
      <p:sp>
        <p:nvSpPr>
          <p:cNvPr id="11" name="Text 9"/>
          <p:cNvSpPr/>
          <p:nvPr/>
        </p:nvSpPr>
        <p:spPr>
          <a:xfrm>
            <a:off x="1591056" y="2276856"/>
            <a:ext cx="4215384" cy="338328"/>
          </a:xfrm>
          <a:prstGeom prst="rect">
            <a:avLst/>
          </a:prstGeom>
          <a:noFill/>
          <a:ln/>
        </p:spPr>
        <p:txBody>
          <a:bodyPr wrap="square" lIns="0" tIns="0" rIns="0" bIns="0" rtlCol="0" anchor="ctr">
            <a:normAutofit/>
          </a:bodyPr>
          <a:lstStyle/>
          <a:p>
            <a:pPr indent="0" marL="0">
              <a:buNone/>
            </a:pPr>
            <a:r>
              <a:rPr lang="en-US" sz="2000" b="1" dirty="0">
                <a:solidFill>
                  <a:srgbClr val="12264B"/>
                </a:solidFill>
                <a:latin typeface="Aptos" pitchFamily="34" charset="0"/>
                <a:ea typeface="Aptos" pitchFamily="34" charset="-122"/>
                <a:cs typeface="Aptos" pitchFamily="34" charset="-120"/>
              </a:rPr>
              <a:t>Add and edit a task</a:t>
            </a:r>
            <a:endParaRPr lang="en-US" sz="2000" dirty="0"/>
          </a:p>
        </p:txBody>
      </p:sp>
      <p:sp>
        <p:nvSpPr>
          <p:cNvPr id="12" name="Shape 10"/>
          <p:cNvSpPr/>
          <p:nvPr/>
        </p:nvSpPr>
        <p:spPr>
          <a:xfrm>
            <a:off x="6483096" y="1993392"/>
            <a:ext cx="5394960" cy="932688"/>
          </a:xfrm>
          <a:prstGeom prst="roundRect">
            <a:avLst>
              <a:gd name="adj" fmla="val 15686"/>
            </a:avLst>
          </a:prstGeom>
          <a:solidFill>
            <a:srgbClr val="FFFFFF"/>
          </a:solidFill>
          <a:ln w="12700">
            <a:solidFill>
              <a:srgbClr val="E4EBF4"/>
            </a:solidFill>
            <a:prstDash val="solid"/>
          </a:ln>
        </p:spPr>
      </p:sp>
      <p:sp>
        <p:nvSpPr>
          <p:cNvPr id="13" name="Shape 11"/>
          <p:cNvSpPr/>
          <p:nvPr/>
        </p:nvSpPr>
        <p:spPr>
          <a:xfrm>
            <a:off x="6693408" y="2258568"/>
            <a:ext cx="420624" cy="292608"/>
          </a:xfrm>
          <a:prstGeom prst="roundRect">
            <a:avLst>
              <a:gd name="adj" fmla="val 50000"/>
            </a:avLst>
          </a:prstGeom>
          <a:solidFill>
            <a:srgbClr val="E5F7F0"/>
          </a:solidFill>
          <a:ln w="12700">
            <a:solidFill>
              <a:srgbClr val="E5F7F0"/>
            </a:solidFill>
            <a:prstDash val="solid"/>
          </a:ln>
        </p:spPr>
      </p:sp>
      <p:sp>
        <p:nvSpPr>
          <p:cNvPr id="14" name="Text 12"/>
          <p:cNvSpPr/>
          <p:nvPr/>
        </p:nvSpPr>
        <p:spPr>
          <a:xfrm>
            <a:off x="6803136" y="2322576"/>
            <a:ext cx="201168" cy="173736"/>
          </a:xfrm>
          <a:prstGeom prst="rect">
            <a:avLst/>
          </a:prstGeom>
          <a:noFill/>
          <a:ln/>
        </p:spPr>
        <p:txBody>
          <a:bodyPr wrap="square" lIns="0" tIns="0" rIns="0" bIns="0" rtlCol="0" anchor="ctr">
            <a:normAutofit/>
          </a:bodyPr>
          <a:lstStyle/>
          <a:p>
            <a:pPr algn="ctr" indent="0" marL="0">
              <a:buNone/>
            </a:pPr>
            <a:r>
              <a:rPr lang="en-US" sz="1400" b="1" dirty="0">
                <a:solidFill>
                  <a:srgbClr val="168E70"/>
                </a:solidFill>
                <a:latin typeface="Aptos" pitchFamily="34" charset="0"/>
                <a:ea typeface="Aptos" pitchFamily="34" charset="-122"/>
                <a:cs typeface="Aptos" pitchFamily="34" charset="-120"/>
              </a:rPr>
              <a:t>✓</a:t>
            </a:r>
            <a:endParaRPr lang="en-US" sz="1400" dirty="0"/>
          </a:p>
        </p:txBody>
      </p:sp>
      <p:sp>
        <p:nvSpPr>
          <p:cNvPr id="15" name="Text 13"/>
          <p:cNvSpPr/>
          <p:nvPr/>
        </p:nvSpPr>
        <p:spPr>
          <a:xfrm>
            <a:off x="7315200" y="2276856"/>
            <a:ext cx="4215384" cy="338328"/>
          </a:xfrm>
          <a:prstGeom prst="rect">
            <a:avLst/>
          </a:prstGeom>
          <a:noFill/>
          <a:ln/>
        </p:spPr>
        <p:txBody>
          <a:bodyPr wrap="square" lIns="0" tIns="0" rIns="0" bIns="0" rtlCol="0" anchor="ctr">
            <a:normAutofit/>
          </a:bodyPr>
          <a:lstStyle/>
          <a:p>
            <a:pPr indent="0" marL="0">
              <a:buNone/>
            </a:pPr>
            <a:r>
              <a:rPr lang="en-US" sz="2000" b="1" dirty="0">
                <a:solidFill>
                  <a:srgbClr val="12264B"/>
                </a:solidFill>
                <a:latin typeface="Aptos" pitchFamily="34" charset="0"/>
                <a:ea typeface="Aptos" pitchFamily="34" charset="-122"/>
                <a:cs typeface="Aptos" pitchFamily="34" charset="-120"/>
              </a:rPr>
              <a:t>Reopen a completed task</a:t>
            </a:r>
            <a:endParaRPr lang="en-US" sz="2000" dirty="0"/>
          </a:p>
        </p:txBody>
      </p:sp>
      <p:sp>
        <p:nvSpPr>
          <p:cNvPr id="16" name="Shape 14"/>
          <p:cNvSpPr/>
          <p:nvPr/>
        </p:nvSpPr>
        <p:spPr>
          <a:xfrm>
            <a:off x="758952" y="3163824"/>
            <a:ext cx="5394960" cy="932688"/>
          </a:xfrm>
          <a:prstGeom prst="roundRect">
            <a:avLst>
              <a:gd name="adj" fmla="val 15686"/>
            </a:avLst>
          </a:prstGeom>
          <a:solidFill>
            <a:srgbClr val="FFFFFF"/>
          </a:solidFill>
          <a:ln w="12700">
            <a:solidFill>
              <a:srgbClr val="E4EBF4"/>
            </a:solidFill>
            <a:prstDash val="solid"/>
          </a:ln>
        </p:spPr>
      </p:sp>
      <p:sp>
        <p:nvSpPr>
          <p:cNvPr id="17" name="Shape 15"/>
          <p:cNvSpPr/>
          <p:nvPr/>
        </p:nvSpPr>
        <p:spPr>
          <a:xfrm>
            <a:off x="969264" y="3429000"/>
            <a:ext cx="420624" cy="292608"/>
          </a:xfrm>
          <a:prstGeom prst="roundRect">
            <a:avLst>
              <a:gd name="adj" fmla="val 50000"/>
            </a:avLst>
          </a:prstGeom>
          <a:solidFill>
            <a:srgbClr val="E5F7F0"/>
          </a:solidFill>
          <a:ln w="12700">
            <a:solidFill>
              <a:srgbClr val="E5F7F0"/>
            </a:solidFill>
            <a:prstDash val="solid"/>
          </a:ln>
        </p:spPr>
      </p:sp>
      <p:sp>
        <p:nvSpPr>
          <p:cNvPr id="18" name="Text 16"/>
          <p:cNvSpPr/>
          <p:nvPr/>
        </p:nvSpPr>
        <p:spPr>
          <a:xfrm>
            <a:off x="1078992" y="3493008"/>
            <a:ext cx="201168" cy="173736"/>
          </a:xfrm>
          <a:prstGeom prst="rect">
            <a:avLst/>
          </a:prstGeom>
          <a:noFill/>
          <a:ln/>
        </p:spPr>
        <p:txBody>
          <a:bodyPr wrap="square" lIns="0" tIns="0" rIns="0" bIns="0" rtlCol="0" anchor="ctr">
            <a:normAutofit/>
          </a:bodyPr>
          <a:lstStyle/>
          <a:p>
            <a:pPr algn="ctr" indent="0" marL="0">
              <a:buNone/>
            </a:pPr>
            <a:r>
              <a:rPr lang="en-US" sz="1400" b="1" dirty="0">
                <a:solidFill>
                  <a:srgbClr val="168E70"/>
                </a:solidFill>
                <a:latin typeface="Aptos" pitchFamily="34" charset="0"/>
                <a:ea typeface="Aptos" pitchFamily="34" charset="-122"/>
                <a:cs typeface="Aptos" pitchFamily="34" charset="-120"/>
              </a:rPr>
              <a:t>✓</a:t>
            </a:r>
            <a:endParaRPr lang="en-US" sz="1400" dirty="0"/>
          </a:p>
        </p:txBody>
      </p:sp>
      <p:sp>
        <p:nvSpPr>
          <p:cNvPr id="19" name="Text 17"/>
          <p:cNvSpPr/>
          <p:nvPr/>
        </p:nvSpPr>
        <p:spPr>
          <a:xfrm>
            <a:off x="1591056" y="3447288"/>
            <a:ext cx="4215384" cy="338328"/>
          </a:xfrm>
          <a:prstGeom prst="rect">
            <a:avLst/>
          </a:prstGeom>
          <a:noFill/>
          <a:ln/>
        </p:spPr>
        <p:txBody>
          <a:bodyPr wrap="square" lIns="0" tIns="0" rIns="0" bIns="0" rtlCol="0" anchor="ctr">
            <a:normAutofit/>
          </a:bodyPr>
          <a:lstStyle/>
          <a:p>
            <a:pPr indent="0" marL="0">
              <a:buNone/>
            </a:pPr>
            <a:r>
              <a:rPr lang="en-US" sz="2000" b="1" dirty="0">
                <a:solidFill>
                  <a:srgbClr val="12264B"/>
                </a:solidFill>
                <a:latin typeface="Aptos" pitchFamily="34" charset="0"/>
                <a:ea typeface="Aptos" pitchFamily="34" charset="-122"/>
                <a:cs typeface="Aptos" pitchFamily="34" charset="-120"/>
              </a:rPr>
              <a:t>Switch between modes</a:t>
            </a:r>
            <a:endParaRPr lang="en-US" sz="2000" dirty="0"/>
          </a:p>
        </p:txBody>
      </p:sp>
      <p:sp>
        <p:nvSpPr>
          <p:cNvPr id="20" name="Shape 18"/>
          <p:cNvSpPr/>
          <p:nvPr/>
        </p:nvSpPr>
        <p:spPr>
          <a:xfrm>
            <a:off x="6483096" y="3163824"/>
            <a:ext cx="5394960" cy="932688"/>
          </a:xfrm>
          <a:prstGeom prst="roundRect">
            <a:avLst>
              <a:gd name="adj" fmla="val 15686"/>
            </a:avLst>
          </a:prstGeom>
          <a:solidFill>
            <a:srgbClr val="FFFFFF"/>
          </a:solidFill>
          <a:ln w="12700">
            <a:solidFill>
              <a:srgbClr val="E4EBF4"/>
            </a:solidFill>
            <a:prstDash val="solid"/>
          </a:ln>
        </p:spPr>
      </p:sp>
      <p:sp>
        <p:nvSpPr>
          <p:cNvPr id="21" name="Shape 19"/>
          <p:cNvSpPr/>
          <p:nvPr/>
        </p:nvSpPr>
        <p:spPr>
          <a:xfrm>
            <a:off x="6693408" y="3429000"/>
            <a:ext cx="420624" cy="292608"/>
          </a:xfrm>
          <a:prstGeom prst="roundRect">
            <a:avLst>
              <a:gd name="adj" fmla="val 50000"/>
            </a:avLst>
          </a:prstGeom>
          <a:solidFill>
            <a:srgbClr val="E5F7F0"/>
          </a:solidFill>
          <a:ln w="12700">
            <a:solidFill>
              <a:srgbClr val="E5F7F0"/>
            </a:solidFill>
            <a:prstDash val="solid"/>
          </a:ln>
        </p:spPr>
      </p:sp>
      <p:sp>
        <p:nvSpPr>
          <p:cNvPr id="22" name="Text 20"/>
          <p:cNvSpPr/>
          <p:nvPr/>
        </p:nvSpPr>
        <p:spPr>
          <a:xfrm>
            <a:off x="6803136" y="3493008"/>
            <a:ext cx="201168" cy="173736"/>
          </a:xfrm>
          <a:prstGeom prst="rect">
            <a:avLst/>
          </a:prstGeom>
          <a:noFill/>
          <a:ln/>
        </p:spPr>
        <p:txBody>
          <a:bodyPr wrap="square" lIns="0" tIns="0" rIns="0" bIns="0" rtlCol="0" anchor="ctr">
            <a:normAutofit/>
          </a:bodyPr>
          <a:lstStyle/>
          <a:p>
            <a:pPr algn="ctr" indent="0" marL="0">
              <a:buNone/>
            </a:pPr>
            <a:r>
              <a:rPr lang="en-US" sz="1400" b="1" dirty="0">
                <a:solidFill>
                  <a:srgbClr val="168E70"/>
                </a:solidFill>
                <a:latin typeface="Aptos" pitchFamily="34" charset="0"/>
                <a:ea typeface="Aptos" pitchFamily="34" charset="-122"/>
                <a:cs typeface="Aptos" pitchFamily="34" charset="-120"/>
              </a:rPr>
              <a:t>✓</a:t>
            </a:r>
            <a:endParaRPr lang="en-US" sz="1400" dirty="0"/>
          </a:p>
        </p:txBody>
      </p:sp>
      <p:sp>
        <p:nvSpPr>
          <p:cNvPr id="23" name="Text 21"/>
          <p:cNvSpPr/>
          <p:nvPr/>
        </p:nvSpPr>
        <p:spPr>
          <a:xfrm>
            <a:off x="7315200" y="3447288"/>
            <a:ext cx="4215384" cy="338328"/>
          </a:xfrm>
          <a:prstGeom prst="rect">
            <a:avLst/>
          </a:prstGeom>
          <a:noFill/>
          <a:ln/>
        </p:spPr>
        <p:txBody>
          <a:bodyPr wrap="square" lIns="0" tIns="0" rIns="0" bIns="0" rtlCol="0" anchor="ctr">
            <a:normAutofit/>
          </a:bodyPr>
          <a:lstStyle/>
          <a:p>
            <a:pPr indent="0" marL="0">
              <a:buNone/>
            </a:pPr>
            <a:r>
              <a:rPr lang="en-US" sz="2000" b="1" dirty="0">
                <a:solidFill>
                  <a:srgbClr val="12264B"/>
                </a:solidFill>
                <a:latin typeface="Aptos" pitchFamily="34" charset="0"/>
                <a:ea typeface="Aptos" pitchFamily="34" charset="-122"/>
                <a:cs typeface="Aptos" pitchFamily="34" charset="-120"/>
              </a:rPr>
              <a:t>Try an empty title</a:t>
            </a:r>
            <a:endParaRPr lang="en-US" sz="2000" dirty="0"/>
          </a:p>
        </p:txBody>
      </p:sp>
      <p:sp>
        <p:nvSpPr>
          <p:cNvPr id="24" name="Shape 22"/>
          <p:cNvSpPr/>
          <p:nvPr/>
        </p:nvSpPr>
        <p:spPr>
          <a:xfrm>
            <a:off x="758952" y="4334256"/>
            <a:ext cx="5394960" cy="932688"/>
          </a:xfrm>
          <a:prstGeom prst="roundRect">
            <a:avLst>
              <a:gd name="adj" fmla="val 15686"/>
            </a:avLst>
          </a:prstGeom>
          <a:solidFill>
            <a:srgbClr val="FFFFFF"/>
          </a:solidFill>
          <a:ln w="12700">
            <a:solidFill>
              <a:srgbClr val="E4EBF4"/>
            </a:solidFill>
            <a:prstDash val="solid"/>
          </a:ln>
        </p:spPr>
      </p:sp>
      <p:sp>
        <p:nvSpPr>
          <p:cNvPr id="25" name="Shape 23"/>
          <p:cNvSpPr/>
          <p:nvPr/>
        </p:nvSpPr>
        <p:spPr>
          <a:xfrm>
            <a:off x="969264" y="4599432"/>
            <a:ext cx="420624" cy="292608"/>
          </a:xfrm>
          <a:prstGeom prst="roundRect">
            <a:avLst>
              <a:gd name="adj" fmla="val 50000"/>
            </a:avLst>
          </a:prstGeom>
          <a:solidFill>
            <a:srgbClr val="E5F7F0"/>
          </a:solidFill>
          <a:ln w="12700">
            <a:solidFill>
              <a:srgbClr val="E5F7F0"/>
            </a:solidFill>
            <a:prstDash val="solid"/>
          </a:ln>
        </p:spPr>
      </p:sp>
      <p:sp>
        <p:nvSpPr>
          <p:cNvPr id="26" name="Text 24"/>
          <p:cNvSpPr/>
          <p:nvPr/>
        </p:nvSpPr>
        <p:spPr>
          <a:xfrm>
            <a:off x="1078992" y="4663440"/>
            <a:ext cx="201168" cy="173736"/>
          </a:xfrm>
          <a:prstGeom prst="rect">
            <a:avLst/>
          </a:prstGeom>
          <a:noFill/>
          <a:ln/>
        </p:spPr>
        <p:txBody>
          <a:bodyPr wrap="square" lIns="0" tIns="0" rIns="0" bIns="0" rtlCol="0" anchor="ctr">
            <a:normAutofit/>
          </a:bodyPr>
          <a:lstStyle/>
          <a:p>
            <a:pPr algn="ctr" indent="0" marL="0">
              <a:buNone/>
            </a:pPr>
            <a:r>
              <a:rPr lang="en-US" sz="1400" b="1" dirty="0">
                <a:solidFill>
                  <a:srgbClr val="168E70"/>
                </a:solidFill>
                <a:latin typeface="Aptos" pitchFamily="34" charset="0"/>
                <a:ea typeface="Aptos" pitchFamily="34" charset="-122"/>
                <a:cs typeface="Aptos" pitchFamily="34" charset="-120"/>
              </a:rPr>
              <a:t>✓</a:t>
            </a:r>
            <a:endParaRPr lang="en-US" sz="1400" dirty="0"/>
          </a:p>
        </p:txBody>
      </p:sp>
      <p:sp>
        <p:nvSpPr>
          <p:cNvPr id="27" name="Text 25"/>
          <p:cNvSpPr/>
          <p:nvPr/>
        </p:nvSpPr>
        <p:spPr>
          <a:xfrm>
            <a:off x="1591056" y="4617720"/>
            <a:ext cx="4215384" cy="338328"/>
          </a:xfrm>
          <a:prstGeom prst="rect">
            <a:avLst/>
          </a:prstGeom>
          <a:noFill/>
          <a:ln/>
        </p:spPr>
        <p:txBody>
          <a:bodyPr wrap="square" lIns="0" tIns="0" rIns="0" bIns="0" rtlCol="0" anchor="ctr">
            <a:normAutofit/>
          </a:bodyPr>
          <a:lstStyle/>
          <a:p>
            <a:pPr indent="0" marL="0">
              <a:buNone/>
            </a:pPr>
            <a:r>
              <a:rPr lang="en-US" sz="2000" b="1" dirty="0">
                <a:solidFill>
                  <a:srgbClr val="12264B"/>
                </a:solidFill>
                <a:latin typeface="Aptos" pitchFamily="34" charset="0"/>
                <a:ea typeface="Aptos" pitchFamily="34" charset="-122"/>
                <a:cs typeface="Aptos" pitchFamily="34" charset="-120"/>
              </a:rPr>
              <a:t>Filter overdue tasks</a:t>
            </a:r>
            <a:endParaRPr lang="en-US" sz="2000" dirty="0"/>
          </a:p>
        </p:txBody>
      </p:sp>
      <p:sp>
        <p:nvSpPr>
          <p:cNvPr id="28" name="Shape 26"/>
          <p:cNvSpPr/>
          <p:nvPr/>
        </p:nvSpPr>
        <p:spPr>
          <a:xfrm>
            <a:off x="6483096" y="4334256"/>
            <a:ext cx="5394960" cy="932688"/>
          </a:xfrm>
          <a:prstGeom prst="roundRect">
            <a:avLst>
              <a:gd name="adj" fmla="val 15686"/>
            </a:avLst>
          </a:prstGeom>
          <a:solidFill>
            <a:srgbClr val="FFFFFF"/>
          </a:solidFill>
          <a:ln w="12700">
            <a:solidFill>
              <a:srgbClr val="E4EBF4"/>
            </a:solidFill>
            <a:prstDash val="solid"/>
          </a:ln>
        </p:spPr>
      </p:sp>
      <p:sp>
        <p:nvSpPr>
          <p:cNvPr id="29" name="Shape 27"/>
          <p:cNvSpPr/>
          <p:nvPr/>
        </p:nvSpPr>
        <p:spPr>
          <a:xfrm>
            <a:off x="6693408" y="4599432"/>
            <a:ext cx="420624" cy="292608"/>
          </a:xfrm>
          <a:prstGeom prst="roundRect">
            <a:avLst>
              <a:gd name="adj" fmla="val 50000"/>
            </a:avLst>
          </a:prstGeom>
          <a:solidFill>
            <a:srgbClr val="E5F7F0"/>
          </a:solidFill>
          <a:ln w="12700">
            <a:solidFill>
              <a:srgbClr val="E5F7F0"/>
            </a:solidFill>
            <a:prstDash val="solid"/>
          </a:ln>
        </p:spPr>
      </p:sp>
      <p:sp>
        <p:nvSpPr>
          <p:cNvPr id="30" name="Text 28"/>
          <p:cNvSpPr/>
          <p:nvPr/>
        </p:nvSpPr>
        <p:spPr>
          <a:xfrm>
            <a:off x="6803136" y="4663440"/>
            <a:ext cx="201168" cy="173736"/>
          </a:xfrm>
          <a:prstGeom prst="rect">
            <a:avLst/>
          </a:prstGeom>
          <a:noFill/>
          <a:ln/>
        </p:spPr>
        <p:txBody>
          <a:bodyPr wrap="square" lIns="0" tIns="0" rIns="0" bIns="0" rtlCol="0" anchor="ctr">
            <a:normAutofit/>
          </a:bodyPr>
          <a:lstStyle/>
          <a:p>
            <a:pPr algn="ctr" indent="0" marL="0">
              <a:buNone/>
            </a:pPr>
            <a:r>
              <a:rPr lang="en-US" sz="1400" b="1" dirty="0">
                <a:solidFill>
                  <a:srgbClr val="168E70"/>
                </a:solidFill>
                <a:latin typeface="Aptos" pitchFamily="34" charset="0"/>
                <a:ea typeface="Aptos" pitchFamily="34" charset="-122"/>
                <a:cs typeface="Aptos" pitchFamily="34" charset="-120"/>
              </a:rPr>
              <a:t>✓</a:t>
            </a:r>
            <a:endParaRPr lang="en-US" sz="1400" dirty="0"/>
          </a:p>
        </p:txBody>
      </p:sp>
      <p:sp>
        <p:nvSpPr>
          <p:cNvPr id="31" name="Text 29"/>
          <p:cNvSpPr/>
          <p:nvPr/>
        </p:nvSpPr>
        <p:spPr>
          <a:xfrm>
            <a:off x="7315200" y="4617720"/>
            <a:ext cx="4215384" cy="338328"/>
          </a:xfrm>
          <a:prstGeom prst="rect">
            <a:avLst/>
          </a:prstGeom>
          <a:noFill/>
          <a:ln/>
        </p:spPr>
        <p:txBody>
          <a:bodyPr wrap="square" lIns="0" tIns="0" rIns="0" bIns="0" rtlCol="0" anchor="ctr">
            <a:normAutofit/>
          </a:bodyPr>
          <a:lstStyle/>
          <a:p>
            <a:pPr indent="0" marL="0">
              <a:buNone/>
            </a:pPr>
            <a:r>
              <a:rPr lang="en-US" sz="2000" b="1" dirty="0">
                <a:solidFill>
                  <a:srgbClr val="12264B"/>
                </a:solidFill>
                <a:latin typeface="Aptos" pitchFamily="34" charset="0"/>
                <a:ea typeface="Aptos" pitchFamily="34" charset="-122"/>
                <a:cs typeface="Aptos" pitchFamily="34" charset="-120"/>
              </a:rPr>
              <a:t>Check saved-data behaviour</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10</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A follow-up prompt can improve the app</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One enhancement at a time. Re-test the original features.</a:t>
            </a:r>
            <a:endParaRPr lang="en-US" sz="1500" dirty="0"/>
          </a:p>
        </p:txBody>
      </p:sp>
      <p:sp>
        <p:nvSpPr>
          <p:cNvPr id="8" name="Shape 6"/>
          <p:cNvSpPr/>
          <p:nvPr/>
        </p:nvSpPr>
        <p:spPr>
          <a:xfrm>
            <a:off x="822960" y="2048256"/>
            <a:ext cx="6976872" cy="3255264"/>
          </a:xfrm>
          <a:prstGeom prst="roundRect">
            <a:avLst>
              <a:gd name="adj" fmla="val 4494"/>
            </a:avLst>
          </a:prstGeom>
          <a:solidFill>
            <a:srgbClr val="12264B"/>
          </a:solidFill>
          <a:ln w="12700">
            <a:solidFill>
              <a:srgbClr val="12264B"/>
            </a:solidFill>
            <a:prstDash val="solid"/>
          </a:ln>
        </p:spPr>
      </p:sp>
      <p:sp>
        <p:nvSpPr>
          <p:cNvPr id="9" name="Text 7"/>
          <p:cNvSpPr/>
          <p:nvPr/>
        </p:nvSpPr>
        <p:spPr>
          <a:xfrm>
            <a:off x="1243584" y="2624328"/>
            <a:ext cx="6089904" cy="1664208"/>
          </a:xfrm>
          <a:prstGeom prst="rect">
            <a:avLst/>
          </a:prstGeom>
          <a:noFill/>
          <a:ln/>
        </p:spPr>
        <p:txBody>
          <a:bodyPr wrap="square" lIns="0" tIns="0" rIns="0" bIns="0" rtlCol="0" anchor="ctr">
            <a:normAutofit/>
          </a:bodyPr>
          <a:lstStyle/>
          <a:p>
            <a:pPr indent="0" marL="0">
              <a:buNone/>
            </a:pPr>
            <a:r>
              <a:rPr lang="en-US" sz="2700" b="1" dirty="0">
                <a:solidFill>
                  <a:srgbClr val="FFFFFF"/>
                </a:solidFill>
                <a:latin typeface="Aptos" pitchFamily="34" charset="0"/>
                <a:ea typeface="Aptos" pitchFamily="34" charset="-122"/>
                <a:cs typeface="Aptos" pitchFamily="34" charset="-120"/>
              </a:rPr>
              <a:t>“Add a dark mode and show a celebration when all tasks are completed. Keep every existing feature working.”</a:t>
            </a:r>
            <a:endParaRPr lang="en-US" sz="2700" dirty="0"/>
          </a:p>
        </p:txBody>
      </p:sp>
      <p:sp>
        <p:nvSpPr>
          <p:cNvPr id="10" name="Shape 8"/>
          <p:cNvSpPr/>
          <p:nvPr/>
        </p:nvSpPr>
        <p:spPr>
          <a:xfrm>
            <a:off x="8074152" y="2048256"/>
            <a:ext cx="3310128" cy="3255264"/>
          </a:xfrm>
          <a:prstGeom prst="roundRect">
            <a:avLst>
              <a:gd name="adj" fmla="val 4494"/>
            </a:avLst>
          </a:prstGeom>
          <a:solidFill>
            <a:srgbClr val="FFFFFF"/>
          </a:solidFill>
          <a:ln w="12700">
            <a:solidFill>
              <a:srgbClr val="E4EBF4"/>
            </a:solidFill>
            <a:prstDash val="solid"/>
          </a:ln>
        </p:spPr>
      </p:sp>
      <p:sp>
        <p:nvSpPr>
          <p:cNvPr id="11" name="Text 9"/>
          <p:cNvSpPr/>
          <p:nvPr/>
        </p:nvSpPr>
        <p:spPr>
          <a:xfrm>
            <a:off x="8439912" y="2441448"/>
            <a:ext cx="2587752" cy="420624"/>
          </a:xfrm>
          <a:prstGeom prst="rect">
            <a:avLst/>
          </a:prstGeom>
          <a:noFill/>
          <a:ln/>
        </p:spPr>
        <p:txBody>
          <a:bodyPr wrap="square" lIns="0" tIns="0" rIns="0" bIns="0" rtlCol="0" anchor="ctr">
            <a:normAutofit/>
          </a:bodyPr>
          <a:lstStyle/>
          <a:p>
            <a:pPr indent="0" marL="0">
              <a:buNone/>
            </a:pPr>
            <a:r>
              <a:rPr lang="en-US" sz="2400" b="1" dirty="0">
                <a:solidFill>
                  <a:srgbClr val="12264B"/>
                </a:solidFill>
                <a:latin typeface="Aptos" pitchFamily="34" charset="0"/>
                <a:ea typeface="Aptos" pitchFamily="34" charset="-122"/>
                <a:cs typeface="Aptos" pitchFamily="34" charset="-120"/>
              </a:rPr>
              <a:t>Iterate safely</a:t>
            </a:r>
            <a:endParaRPr lang="en-US" sz="2400" dirty="0"/>
          </a:p>
        </p:txBody>
      </p:sp>
      <p:sp>
        <p:nvSpPr>
          <p:cNvPr id="12" name="Shape 10"/>
          <p:cNvSpPr/>
          <p:nvPr/>
        </p:nvSpPr>
        <p:spPr>
          <a:xfrm>
            <a:off x="8458200" y="3099816"/>
            <a:ext cx="420624" cy="420624"/>
          </a:xfrm>
          <a:prstGeom prst="ellipse">
            <a:avLst/>
          </a:prstGeom>
          <a:solidFill>
            <a:srgbClr val="325CDA"/>
          </a:solidFill>
          <a:ln w="12700">
            <a:solidFill>
              <a:srgbClr val="325CDA"/>
            </a:solidFill>
            <a:prstDash val="solid"/>
          </a:ln>
        </p:spPr>
      </p:sp>
      <p:sp>
        <p:nvSpPr>
          <p:cNvPr id="13" name="Text 11"/>
          <p:cNvSpPr/>
          <p:nvPr/>
        </p:nvSpPr>
        <p:spPr>
          <a:xfrm>
            <a:off x="8458200" y="3186684"/>
            <a:ext cx="420624" cy="18288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4" name="Text 12"/>
          <p:cNvSpPr/>
          <p:nvPr/>
        </p:nvSpPr>
        <p:spPr>
          <a:xfrm>
            <a:off x="9006840" y="3191256"/>
            <a:ext cx="2139696" cy="274320"/>
          </a:xfrm>
          <a:prstGeom prst="rect">
            <a:avLst/>
          </a:prstGeom>
          <a:noFill/>
          <a:ln/>
        </p:spPr>
        <p:txBody>
          <a:bodyPr wrap="square" lIns="0" tIns="0" rIns="0" bIns="0" rtlCol="0" anchor="ctr">
            <a:normAutofit/>
          </a:bodyPr>
          <a:lstStyle/>
          <a:p>
            <a:pPr indent="0" marL="0">
              <a:buNone/>
            </a:pPr>
            <a:r>
              <a:rPr lang="en-US" sz="1600" dirty="0">
                <a:solidFill>
                  <a:srgbClr val="192940"/>
                </a:solidFill>
                <a:latin typeface="Aptos" pitchFamily="34" charset="0"/>
                <a:ea typeface="Aptos" pitchFamily="34" charset="-122"/>
                <a:cs typeface="Aptos" pitchFamily="34" charset="-120"/>
              </a:rPr>
              <a:t>Change one thing</a:t>
            </a:r>
            <a:endParaRPr lang="en-US" sz="1600" dirty="0"/>
          </a:p>
        </p:txBody>
      </p:sp>
      <p:sp>
        <p:nvSpPr>
          <p:cNvPr id="15" name="Shape 13"/>
          <p:cNvSpPr/>
          <p:nvPr/>
        </p:nvSpPr>
        <p:spPr>
          <a:xfrm>
            <a:off x="8458200" y="3675888"/>
            <a:ext cx="420624" cy="420624"/>
          </a:xfrm>
          <a:prstGeom prst="ellipse">
            <a:avLst/>
          </a:prstGeom>
          <a:solidFill>
            <a:srgbClr val="325CDA"/>
          </a:solidFill>
          <a:ln w="12700">
            <a:solidFill>
              <a:srgbClr val="325CDA"/>
            </a:solidFill>
            <a:prstDash val="solid"/>
          </a:ln>
        </p:spPr>
      </p:sp>
      <p:sp>
        <p:nvSpPr>
          <p:cNvPr id="16" name="Text 14"/>
          <p:cNvSpPr/>
          <p:nvPr/>
        </p:nvSpPr>
        <p:spPr>
          <a:xfrm>
            <a:off x="8458200" y="3762756"/>
            <a:ext cx="420624" cy="18288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7" name="Text 15"/>
          <p:cNvSpPr/>
          <p:nvPr/>
        </p:nvSpPr>
        <p:spPr>
          <a:xfrm>
            <a:off x="9006840" y="3767328"/>
            <a:ext cx="2139696" cy="274320"/>
          </a:xfrm>
          <a:prstGeom prst="rect">
            <a:avLst/>
          </a:prstGeom>
          <a:noFill/>
          <a:ln/>
        </p:spPr>
        <p:txBody>
          <a:bodyPr wrap="square" lIns="0" tIns="0" rIns="0" bIns="0" rtlCol="0" anchor="ctr">
            <a:normAutofit/>
          </a:bodyPr>
          <a:lstStyle/>
          <a:p>
            <a:pPr indent="0" marL="0">
              <a:buNone/>
            </a:pPr>
            <a:r>
              <a:rPr lang="en-US" sz="1600" dirty="0">
                <a:solidFill>
                  <a:srgbClr val="192940"/>
                </a:solidFill>
                <a:latin typeface="Aptos" pitchFamily="34" charset="0"/>
                <a:ea typeface="Aptos" pitchFamily="34" charset="-122"/>
                <a:cs typeface="Aptos" pitchFamily="34" charset="-120"/>
              </a:rPr>
              <a:t>Test the change</a:t>
            </a:r>
            <a:endParaRPr lang="en-US" sz="1600" dirty="0"/>
          </a:p>
        </p:txBody>
      </p:sp>
      <p:sp>
        <p:nvSpPr>
          <p:cNvPr id="18" name="Shape 16"/>
          <p:cNvSpPr/>
          <p:nvPr/>
        </p:nvSpPr>
        <p:spPr>
          <a:xfrm>
            <a:off x="8458200" y="4251960"/>
            <a:ext cx="420624" cy="420624"/>
          </a:xfrm>
          <a:prstGeom prst="ellipse">
            <a:avLst/>
          </a:prstGeom>
          <a:solidFill>
            <a:srgbClr val="325CDA"/>
          </a:solidFill>
          <a:ln w="12700">
            <a:solidFill>
              <a:srgbClr val="325CDA"/>
            </a:solidFill>
            <a:prstDash val="solid"/>
          </a:ln>
        </p:spPr>
      </p:sp>
      <p:sp>
        <p:nvSpPr>
          <p:cNvPr id="19" name="Text 17"/>
          <p:cNvSpPr/>
          <p:nvPr/>
        </p:nvSpPr>
        <p:spPr>
          <a:xfrm>
            <a:off x="8458200" y="4338828"/>
            <a:ext cx="420624" cy="18288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0" name="Text 18"/>
          <p:cNvSpPr/>
          <p:nvPr/>
        </p:nvSpPr>
        <p:spPr>
          <a:xfrm>
            <a:off x="9006840" y="4343400"/>
            <a:ext cx="2139696" cy="274320"/>
          </a:xfrm>
          <a:prstGeom prst="rect">
            <a:avLst/>
          </a:prstGeom>
          <a:noFill/>
          <a:ln/>
        </p:spPr>
        <p:txBody>
          <a:bodyPr wrap="square" lIns="0" tIns="0" rIns="0" bIns="0" rtlCol="0" anchor="ctr">
            <a:normAutofit/>
          </a:bodyPr>
          <a:lstStyle/>
          <a:p>
            <a:pPr indent="0" marL="0">
              <a:buNone/>
            </a:pPr>
            <a:r>
              <a:rPr lang="en-US" sz="1600" dirty="0">
                <a:solidFill>
                  <a:srgbClr val="192940"/>
                </a:solidFill>
                <a:latin typeface="Aptos" pitchFamily="34" charset="0"/>
                <a:ea typeface="Aptos" pitchFamily="34" charset="-122"/>
                <a:cs typeface="Aptos" pitchFamily="34" charset="-120"/>
              </a:rPr>
              <a:t>Check old features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325CDA"/>
          </a:solidFill>
          <a:ln w="12700">
            <a:solidFill>
              <a:srgbClr val="325CDA"/>
            </a:solidFill>
            <a:prstDash val="solid"/>
          </a:ln>
        </p:spPr>
      </p:sp>
      <p:sp>
        <p:nvSpPr>
          <p:cNvPr id="3" name="Text 1"/>
          <p:cNvSpPr/>
          <p:nvPr/>
        </p:nvSpPr>
        <p:spPr>
          <a:xfrm>
            <a:off x="576072" y="292608"/>
            <a:ext cx="7315200" cy="228600"/>
          </a:xfrm>
          <a:prstGeom prst="rect">
            <a:avLst/>
          </a:prstGeom>
          <a:noFill/>
          <a:ln/>
        </p:spPr>
        <p:txBody>
          <a:bodyPr wrap="square" lIns="0" tIns="0" rIns="0" bIns="0" rtlCol="0" anchor="ctr">
            <a:normAutofit/>
          </a:bodyPr>
          <a:lstStyle/>
          <a:p>
            <a:pPr indent="0" marL="0">
              <a:buNone/>
            </a:pPr>
            <a:r>
              <a:rPr lang="en-US" sz="1000" b="1" spc="200" kern="0" dirty="0">
                <a:solidFill>
                  <a:srgbClr val="325CDA"/>
                </a:solidFill>
                <a:latin typeface="Aptos" pitchFamily="34" charset="0"/>
                <a:ea typeface="Aptos" pitchFamily="34" charset="-122"/>
                <a:cs typeface="Aptos" pitchFamily="34" charset="-120"/>
              </a:rPr>
              <a:t>MODULE 4 · AI CAN HELP ME BUILD</a:t>
            </a:r>
            <a:endParaRPr lang="en-US" sz="1000" dirty="0"/>
          </a:p>
        </p:txBody>
      </p:sp>
      <p:sp>
        <p:nvSpPr>
          <p:cNvPr id="4" name="Text 2"/>
          <p:cNvSpPr/>
          <p:nvPr/>
        </p:nvSpPr>
        <p:spPr>
          <a:xfrm>
            <a:off x="11128248" y="6473952"/>
            <a:ext cx="347472" cy="182880"/>
          </a:xfrm>
          <a:prstGeom prst="rect">
            <a:avLst/>
          </a:prstGeom>
          <a:noFill/>
          <a:ln/>
        </p:spPr>
        <p:txBody>
          <a:bodyPr wrap="square" lIns="0" tIns="0" rIns="0" bIns="0" rtlCol="0" anchor="ctr">
            <a:normAutofit/>
          </a:bodyPr>
          <a:lstStyle/>
          <a:p>
            <a:pPr algn="r" indent="0" marL="0">
              <a:buNone/>
            </a:pPr>
            <a:r>
              <a:rPr lang="en-US" sz="1100" dirty="0">
                <a:solidFill>
                  <a:srgbClr val="97A5BC"/>
                </a:solidFill>
                <a:latin typeface="Aptos" pitchFamily="34" charset="0"/>
                <a:ea typeface="Aptos" pitchFamily="34" charset="-122"/>
                <a:cs typeface="Aptos" pitchFamily="34" charset="-120"/>
              </a:rPr>
              <a:t>11</a:t>
            </a:r>
            <a:endParaRPr lang="en-US" sz="1100" dirty="0"/>
          </a:p>
        </p:txBody>
      </p:sp>
      <p:sp>
        <p:nvSpPr>
          <p:cNvPr id="5" name="Shape 3"/>
          <p:cNvSpPr/>
          <p:nvPr/>
        </p:nvSpPr>
        <p:spPr>
          <a:xfrm>
            <a:off x="576072" y="6419088"/>
            <a:ext cx="10972800" cy="0"/>
          </a:xfrm>
          <a:prstGeom prst="line">
            <a:avLst/>
          </a:prstGeom>
          <a:noFill/>
          <a:ln w="12700">
            <a:solidFill>
              <a:srgbClr val="E4EBF4"/>
            </a:solidFill>
            <a:prstDash val="solid"/>
          </a:ln>
        </p:spPr>
      </p:sp>
      <p:sp>
        <p:nvSpPr>
          <p:cNvPr id="6" name="Text 4"/>
          <p:cNvSpPr/>
          <p:nvPr/>
        </p:nvSpPr>
        <p:spPr>
          <a:xfrm>
            <a:off x="621792" y="694944"/>
            <a:ext cx="10881360" cy="539496"/>
          </a:xfrm>
          <a:prstGeom prst="rect">
            <a:avLst/>
          </a:prstGeom>
          <a:noFill/>
          <a:ln/>
        </p:spPr>
        <p:txBody>
          <a:bodyPr wrap="square" lIns="0" tIns="0" rIns="0" bIns="0" rtlCol="0" anchor="ctr">
            <a:normAutofit/>
          </a:bodyPr>
          <a:lstStyle/>
          <a:p>
            <a:pPr indent="0" marL="0">
              <a:buNone/>
            </a:pPr>
            <a:r>
              <a:rPr lang="en-US" sz="3100" b="1" dirty="0">
                <a:solidFill>
                  <a:srgbClr val="12264B"/>
                </a:solidFill>
                <a:latin typeface="Aptos" pitchFamily="34" charset="0"/>
                <a:ea typeface="Aptos" pitchFamily="34" charset="-122"/>
                <a:cs typeface="Aptos" pitchFamily="34" charset="-120"/>
              </a:rPr>
              <a:t>Build responsibly. Know the limits.</a:t>
            </a:r>
            <a:endParaRPr lang="en-US" sz="3100" dirty="0"/>
          </a:p>
        </p:txBody>
      </p:sp>
      <p:sp>
        <p:nvSpPr>
          <p:cNvPr id="7" name="Text 5"/>
          <p:cNvSpPr/>
          <p:nvPr/>
        </p:nvSpPr>
        <p:spPr>
          <a:xfrm>
            <a:off x="630936" y="1335024"/>
            <a:ext cx="10424160" cy="457200"/>
          </a:xfrm>
          <a:prstGeom prst="rect">
            <a:avLst/>
          </a:prstGeom>
          <a:noFill/>
          <a:ln/>
        </p:spPr>
        <p:txBody>
          <a:bodyPr wrap="square" lIns="0" tIns="0" rIns="0" bIns="0" rtlCol="0" anchor="ctr">
            <a:normAutofit/>
          </a:bodyPr>
          <a:lstStyle/>
          <a:p>
            <a:pPr indent="0" marL="0">
              <a:buNone/>
            </a:pPr>
            <a:r>
              <a:rPr lang="en-US" sz="1500" dirty="0">
                <a:solidFill>
                  <a:srgbClr val="667890"/>
                </a:solidFill>
                <a:latin typeface="Aptos" pitchFamily="34" charset="0"/>
                <a:ea typeface="Aptos" pitchFamily="34" charset="-122"/>
                <a:cs typeface="Aptos" pitchFamily="34" charset="-120"/>
              </a:rPr>
              <a:t>A demo can be impressive without pretending to be production-ready.</a:t>
            </a:r>
            <a:endParaRPr lang="en-US" sz="1500" dirty="0"/>
          </a:p>
        </p:txBody>
      </p:sp>
      <p:sp>
        <p:nvSpPr>
          <p:cNvPr id="8" name="Shape 6"/>
          <p:cNvSpPr/>
          <p:nvPr/>
        </p:nvSpPr>
        <p:spPr>
          <a:xfrm>
            <a:off x="804672" y="2066544"/>
            <a:ext cx="5221224" cy="3118104"/>
          </a:xfrm>
          <a:prstGeom prst="roundRect">
            <a:avLst>
              <a:gd name="adj" fmla="val 4692"/>
            </a:avLst>
          </a:prstGeom>
          <a:solidFill>
            <a:srgbClr val="E7F4EE"/>
          </a:solidFill>
          <a:ln w="12700">
            <a:solidFill>
              <a:srgbClr val="E7F4EE"/>
            </a:solidFill>
            <a:prstDash val="solid"/>
          </a:ln>
        </p:spPr>
      </p:sp>
      <p:sp>
        <p:nvSpPr>
          <p:cNvPr id="9" name="Text 7"/>
          <p:cNvSpPr/>
          <p:nvPr/>
        </p:nvSpPr>
        <p:spPr>
          <a:xfrm>
            <a:off x="1143000" y="2441448"/>
            <a:ext cx="4526280" cy="411480"/>
          </a:xfrm>
          <a:prstGeom prst="rect">
            <a:avLst/>
          </a:prstGeom>
          <a:noFill/>
          <a:ln/>
        </p:spPr>
        <p:txBody>
          <a:bodyPr wrap="square" lIns="0" tIns="0" rIns="0" bIns="0" rtlCol="0" anchor="ctr">
            <a:normAutofit/>
          </a:bodyPr>
          <a:lstStyle/>
          <a:p>
            <a:pPr indent="0" marL="0">
              <a:buNone/>
            </a:pPr>
            <a:r>
              <a:rPr lang="en-US" sz="2300" b="1" dirty="0">
                <a:solidFill>
                  <a:srgbClr val="156E57"/>
                </a:solidFill>
                <a:latin typeface="Aptos" pitchFamily="34" charset="0"/>
                <a:ea typeface="Aptos" pitchFamily="34" charset="-122"/>
                <a:cs typeface="Aptos" pitchFamily="34" charset="-120"/>
              </a:rPr>
              <a:t>✓  What our demo does</a:t>
            </a:r>
            <a:endParaRPr lang="en-US" sz="2300" dirty="0"/>
          </a:p>
        </p:txBody>
      </p:sp>
      <p:sp>
        <p:nvSpPr>
          <p:cNvPr id="10" name="Text 8"/>
          <p:cNvSpPr/>
          <p:nvPr/>
        </p:nvSpPr>
        <p:spPr>
          <a:xfrm>
            <a:off x="1170432" y="3090672"/>
            <a:ext cx="4434840" cy="292608"/>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 Runs in a browser</a:t>
            </a:r>
            <a:endParaRPr lang="en-US" sz="1700" dirty="0"/>
          </a:p>
        </p:txBody>
      </p:sp>
      <p:sp>
        <p:nvSpPr>
          <p:cNvPr id="11" name="Text 9"/>
          <p:cNvSpPr/>
          <p:nvPr/>
        </p:nvSpPr>
        <p:spPr>
          <a:xfrm>
            <a:off x="1170432" y="3483864"/>
            <a:ext cx="4434840" cy="292608"/>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 Manages tasks and progress</a:t>
            </a:r>
            <a:endParaRPr lang="en-US" sz="1700" dirty="0"/>
          </a:p>
        </p:txBody>
      </p:sp>
      <p:sp>
        <p:nvSpPr>
          <p:cNvPr id="12" name="Text 10"/>
          <p:cNvSpPr/>
          <p:nvPr/>
        </p:nvSpPr>
        <p:spPr>
          <a:xfrm>
            <a:off x="1170432" y="3877056"/>
            <a:ext cx="4434840" cy="292608"/>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 Offers local JSON backup</a:t>
            </a:r>
            <a:endParaRPr lang="en-US" sz="1700" dirty="0"/>
          </a:p>
        </p:txBody>
      </p:sp>
      <p:sp>
        <p:nvSpPr>
          <p:cNvPr id="13" name="Text 11"/>
          <p:cNvSpPr/>
          <p:nvPr/>
        </p:nvSpPr>
        <p:spPr>
          <a:xfrm>
            <a:off x="1170432" y="4270248"/>
            <a:ext cx="4434840" cy="292608"/>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 Works without paid APIs</a:t>
            </a:r>
            <a:endParaRPr lang="en-US" sz="1700" dirty="0"/>
          </a:p>
        </p:txBody>
      </p:sp>
      <p:sp>
        <p:nvSpPr>
          <p:cNvPr id="14" name="Shape 12"/>
          <p:cNvSpPr/>
          <p:nvPr/>
        </p:nvSpPr>
        <p:spPr>
          <a:xfrm>
            <a:off x="6254496" y="2066544"/>
            <a:ext cx="5129784" cy="3118104"/>
          </a:xfrm>
          <a:prstGeom prst="roundRect">
            <a:avLst>
              <a:gd name="adj" fmla="val 4692"/>
            </a:avLst>
          </a:prstGeom>
          <a:solidFill>
            <a:srgbClr val="FCEEF0"/>
          </a:solidFill>
          <a:ln w="12700">
            <a:solidFill>
              <a:srgbClr val="FCEEF0"/>
            </a:solidFill>
            <a:prstDash val="solid"/>
          </a:ln>
        </p:spPr>
      </p:sp>
      <p:sp>
        <p:nvSpPr>
          <p:cNvPr id="15" name="Text 13"/>
          <p:cNvSpPr/>
          <p:nvPr/>
        </p:nvSpPr>
        <p:spPr>
          <a:xfrm>
            <a:off x="6611112" y="2441448"/>
            <a:ext cx="4544568" cy="411480"/>
          </a:xfrm>
          <a:prstGeom prst="rect">
            <a:avLst/>
          </a:prstGeom>
          <a:noFill/>
          <a:ln/>
        </p:spPr>
        <p:txBody>
          <a:bodyPr wrap="square" lIns="0" tIns="0" rIns="0" bIns="0" rtlCol="0" anchor="ctr">
            <a:normAutofit/>
          </a:bodyPr>
          <a:lstStyle/>
          <a:p>
            <a:pPr indent="0" marL="0">
              <a:buNone/>
            </a:pPr>
            <a:r>
              <a:rPr lang="en-US" sz="2300" b="1" dirty="0">
                <a:solidFill>
                  <a:srgbClr val="CB5661"/>
                </a:solidFill>
                <a:latin typeface="Aptos" pitchFamily="34" charset="0"/>
                <a:ea typeface="Aptos" pitchFamily="34" charset="-122"/>
                <a:cs typeface="Aptos" pitchFamily="34" charset="-120"/>
              </a:rPr>
              <a:t>×  What it does NOT do</a:t>
            </a:r>
            <a:endParaRPr lang="en-US" sz="2300" dirty="0"/>
          </a:p>
        </p:txBody>
      </p:sp>
      <p:sp>
        <p:nvSpPr>
          <p:cNvPr id="16" name="Text 14"/>
          <p:cNvSpPr/>
          <p:nvPr/>
        </p:nvSpPr>
        <p:spPr>
          <a:xfrm>
            <a:off x="6656832" y="3090672"/>
            <a:ext cx="4507992" cy="292608"/>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 Sync between devices</a:t>
            </a:r>
            <a:endParaRPr lang="en-US" sz="1700" dirty="0"/>
          </a:p>
        </p:txBody>
      </p:sp>
      <p:sp>
        <p:nvSpPr>
          <p:cNvPr id="17" name="Text 15"/>
          <p:cNvSpPr/>
          <p:nvPr/>
        </p:nvSpPr>
        <p:spPr>
          <a:xfrm>
            <a:off x="6656832" y="3483864"/>
            <a:ext cx="4507992" cy="292608"/>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 Send real notifications</a:t>
            </a:r>
            <a:endParaRPr lang="en-US" sz="1700" dirty="0"/>
          </a:p>
        </p:txBody>
      </p:sp>
      <p:sp>
        <p:nvSpPr>
          <p:cNvPr id="18" name="Text 16"/>
          <p:cNvSpPr/>
          <p:nvPr/>
        </p:nvSpPr>
        <p:spPr>
          <a:xfrm>
            <a:off x="6656832" y="3877056"/>
            <a:ext cx="4507992" cy="292608"/>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 Call AI for every task</a:t>
            </a:r>
            <a:endParaRPr lang="en-US" sz="1700" dirty="0"/>
          </a:p>
        </p:txBody>
      </p:sp>
      <p:sp>
        <p:nvSpPr>
          <p:cNvPr id="19" name="Text 17"/>
          <p:cNvSpPr/>
          <p:nvPr/>
        </p:nvSpPr>
        <p:spPr>
          <a:xfrm>
            <a:off x="6656832" y="4270248"/>
            <a:ext cx="4507992" cy="292608"/>
          </a:xfrm>
          <a:prstGeom prst="rect">
            <a:avLst/>
          </a:prstGeom>
          <a:noFill/>
          <a:ln/>
        </p:spPr>
        <p:txBody>
          <a:bodyPr wrap="square" lIns="0" tIns="0" rIns="0" bIns="0" rtlCol="0" anchor="ctr">
            <a:normAutofit/>
          </a:bodyPr>
          <a:lstStyle/>
          <a:p>
            <a:pPr indent="0" marL="0">
              <a:buNone/>
            </a:pPr>
            <a:r>
              <a:rPr lang="en-US" sz="1700" dirty="0">
                <a:solidFill>
                  <a:srgbClr val="192940"/>
                </a:solidFill>
                <a:latin typeface="Aptos" pitchFamily="34" charset="0"/>
                <a:ea typeface="Aptos" pitchFamily="34" charset="-122"/>
                <a:cs typeface="Aptos" pitchFamily="34" charset="-120"/>
              </a:rPr>
              <a:t>• Replace production testing</a:t>
            </a:r>
            <a:endParaRPr lang="en-US" sz="1700" dirty="0"/>
          </a:p>
        </p:txBody>
      </p:sp>
      <p:sp>
        <p:nvSpPr>
          <p:cNvPr id="20" name="Shape 18"/>
          <p:cNvSpPr/>
          <p:nvPr/>
        </p:nvSpPr>
        <p:spPr>
          <a:xfrm>
            <a:off x="2093976" y="5577840"/>
            <a:ext cx="8001000" cy="539496"/>
          </a:xfrm>
          <a:prstGeom prst="roundRect">
            <a:avLst>
              <a:gd name="adj" fmla="val 27119"/>
            </a:avLst>
          </a:prstGeom>
          <a:solidFill>
            <a:srgbClr val="E4EDFF"/>
          </a:solidFill>
          <a:ln w="12700">
            <a:solidFill>
              <a:srgbClr val="E4EDFF"/>
            </a:solidFill>
            <a:prstDash val="solid"/>
          </a:ln>
        </p:spPr>
      </p:sp>
      <p:sp>
        <p:nvSpPr>
          <p:cNvPr id="21" name="Text 19"/>
          <p:cNvSpPr/>
          <p:nvPr/>
        </p:nvSpPr>
        <p:spPr>
          <a:xfrm>
            <a:off x="2340864" y="5724144"/>
            <a:ext cx="7479792" cy="283464"/>
          </a:xfrm>
          <a:prstGeom prst="rect">
            <a:avLst/>
          </a:prstGeom>
          <a:noFill/>
          <a:ln/>
        </p:spPr>
        <p:txBody>
          <a:bodyPr wrap="square" lIns="0" tIns="0" rIns="0" bIns="0" rtlCol="0" anchor="ctr">
            <a:normAutofit/>
          </a:bodyPr>
          <a:lstStyle/>
          <a:p>
            <a:pPr algn="ctr" indent="0" marL="0">
              <a:buNone/>
            </a:pPr>
            <a:r>
              <a:rPr lang="en-US" sz="2000" b="1" dirty="0">
                <a:solidFill>
                  <a:srgbClr val="12264B"/>
                </a:solidFill>
                <a:latin typeface="Aptos" pitchFamily="34" charset="0"/>
                <a:ea typeface="Aptos" pitchFamily="34" charset="-122"/>
                <a:cs typeface="Aptos" pitchFamily="34" charset="-120"/>
              </a:rPr>
              <a:t>AI accelerates the first draft. People make it reliable.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64B"/>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6ED9DB"/>
          </a:solidFill>
          <a:ln w="12700">
            <a:solidFill>
              <a:srgbClr val="6ED9DB"/>
            </a:solidFill>
            <a:prstDash val="solid"/>
          </a:ln>
        </p:spPr>
      </p:sp>
      <p:sp>
        <p:nvSpPr>
          <p:cNvPr id="3" name="Text 1"/>
          <p:cNvSpPr/>
          <p:nvPr/>
        </p:nvSpPr>
        <p:spPr>
          <a:xfrm>
            <a:off x="813816" y="722376"/>
            <a:ext cx="8046720" cy="320040"/>
          </a:xfrm>
          <a:prstGeom prst="rect">
            <a:avLst/>
          </a:prstGeom>
          <a:noFill/>
          <a:ln/>
        </p:spPr>
        <p:txBody>
          <a:bodyPr wrap="square" lIns="0" tIns="0" rIns="0" bIns="0" rtlCol="0" anchor="ctr">
            <a:normAutofit/>
          </a:bodyPr>
          <a:lstStyle/>
          <a:p>
            <a:pPr indent="0" marL="0">
              <a:buNone/>
            </a:pPr>
            <a:r>
              <a:rPr lang="en-US" sz="1400" b="1" spc="200" kern="0" dirty="0">
                <a:solidFill>
                  <a:srgbClr val="6ED9DB"/>
                </a:solidFill>
                <a:latin typeface="Aptos" pitchFamily="34" charset="0"/>
                <a:ea typeface="Aptos" pitchFamily="34" charset="-122"/>
                <a:cs typeface="Aptos" pitchFamily="34" charset="-120"/>
              </a:rPr>
              <a:t>YOU HAVE NOW SEEN…</a:t>
            </a:r>
            <a:endParaRPr lang="en-US" sz="1400" dirty="0"/>
          </a:p>
        </p:txBody>
      </p:sp>
      <p:sp>
        <p:nvSpPr>
          <p:cNvPr id="4" name="Text 2"/>
          <p:cNvSpPr/>
          <p:nvPr/>
        </p:nvSpPr>
        <p:spPr>
          <a:xfrm>
            <a:off x="804672" y="1444752"/>
            <a:ext cx="10012680" cy="795528"/>
          </a:xfrm>
          <a:prstGeom prst="rect">
            <a:avLst/>
          </a:prstGeom>
          <a:noFill/>
          <a:ln/>
        </p:spPr>
        <p:txBody>
          <a:bodyPr wrap="square" lIns="0" tIns="0" rIns="0" bIns="0" rtlCol="0" anchor="ctr">
            <a:normAutofit/>
          </a:bodyPr>
          <a:lstStyle/>
          <a:p>
            <a:pPr indent="0" marL="0">
              <a:buNone/>
            </a:pPr>
            <a:r>
              <a:rPr lang="en-US" sz="4900" b="1" dirty="0">
                <a:solidFill>
                  <a:srgbClr val="FFFFFF"/>
                </a:solidFill>
                <a:latin typeface="Aptos" pitchFamily="34" charset="0"/>
                <a:ea typeface="Aptos" pitchFamily="34" charset="-122"/>
                <a:cs typeface="Aptos" pitchFamily="34" charset="-120"/>
              </a:rPr>
              <a:t>Learn. Create. Build.</a:t>
            </a:r>
            <a:endParaRPr lang="en-US" sz="4900" dirty="0"/>
          </a:p>
        </p:txBody>
      </p:sp>
      <p:sp>
        <p:nvSpPr>
          <p:cNvPr id="5" name="Text 3"/>
          <p:cNvSpPr/>
          <p:nvPr/>
        </p:nvSpPr>
        <p:spPr>
          <a:xfrm>
            <a:off x="832104" y="2468880"/>
            <a:ext cx="9829800" cy="566928"/>
          </a:xfrm>
          <a:prstGeom prst="rect">
            <a:avLst/>
          </a:prstGeom>
          <a:noFill/>
          <a:ln/>
        </p:spPr>
        <p:txBody>
          <a:bodyPr wrap="square" lIns="0" tIns="0" rIns="0" bIns="0" rtlCol="0" anchor="ctr">
            <a:normAutofit/>
          </a:bodyPr>
          <a:lstStyle/>
          <a:p>
            <a:pPr indent="0" marL="0">
              <a:buNone/>
            </a:pPr>
            <a:r>
              <a:rPr lang="en-US" sz="2300" dirty="0">
                <a:solidFill>
                  <a:srgbClr val="D5E3FC"/>
                </a:solidFill>
                <a:latin typeface="Aptos" pitchFamily="34" charset="0"/>
                <a:ea typeface="Aptos" pitchFamily="34" charset="-122"/>
                <a:cs typeface="Aptos" pitchFamily="34" charset="-120"/>
              </a:rPr>
              <a:t>Three ways AI can turn curiosity into meaningful work.</a:t>
            </a:r>
            <a:endParaRPr lang="en-US" sz="2300" dirty="0"/>
          </a:p>
        </p:txBody>
      </p:sp>
      <p:sp>
        <p:nvSpPr>
          <p:cNvPr id="6" name="Shape 4"/>
          <p:cNvSpPr/>
          <p:nvPr/>
        </p:nvSpPr>
        <p:spPr>
          <a:xfrm>
            <a:off x="859536" y="3831336"/>
            <a:ext cx="2642616" cy="1042416"/>
          </a:xfrm>
          <a:prstGeom prst="roundRect">
            <a:avLst>
              <a:gd name="adj" fmla="val 14035"/>
            </a:avLst>
          </a:prstGeom>
          <a:solidFill>
            <a:srgbClr val="2C4479"/>
          </a:solidFill>
          <a:ln w="12700">
            <a:solidFill>
              <a:srgbClr val="2C4479"/>
            </a:solidFill>
            <a:prstDash val="solid"/>
          </a:ln>
        </p:spPr>
      </p:sp>
      <p:sp>
        <p:nvSpPr>
          <p:cNvPr id="7" name="Text 5"/>
          <p:cNvSpPr/>
          <p:nvPr/>
        </p:nvSpPr>
        <p:spPr>
          <a:xfrm>
            <a:off x="896112" y="4224528"/>
            <a:ext cx="2551176"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 Describe your idea</a:t>
            </a:r>
            <a:endParaRPr lang="en-US" sz="1800" dirty="0"/>
          </a:p>
        </p:txBody>
      </p:sp>
      <p:sp>
        <p:nvSpPr>
          <p:cNvPr id="8" name="Shape 6"/>
          <p:cNvSpPr/>
          <p:nvPr/>
        </p:nvSpPr>
        <p:spPr>
          <a:xfrm>
            <a:off x="3703320" y="3831336"/>
            <a:ext cx="2642616" cy="1042416"/>
          </a:xfrm>
          <a:prstGeom prst="roundRect">
            <a:avLst>
              <a:gd name="adj" fmla="val 14035"/>
            </a:avLst>
          </a:prstGeom>
          <a:solidFill>
            <a:srgbClr val="2C4479"/>
          </a:solidFill>
          <a:ln w="12700">
            <a:solidFill>
              <a:srgbClr val="2C4479"/>
            </a:solidFill>
            <a:prstDash val="solid"/>
          </a:ln>
        </p:spPr>
      </p:sp>
      <p:sp>
        <p:nvSpPr>
          <p:cNvPr id="9" name="Text 7"/>
          <p:cNvSpPr/>
          <p:nvPr/>
        </p:nvSpPr>
        <p:spPr>
          <a:xfrm>
            <a:off x="3739896" y="4224528"/>
            <a:ext cx="2551176"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 Build a prototype</a:t>
            </a:r>
            <a:endParaRPr lang="en-US" sz="1800" dirty="0"/>
          </a:p>
        </p:txBody>
      </p:sp>
      <p:sp>
        <p:nvSpPr>
          <p:cNvPr id="10" name="Shape 8"/>
          <p:cNvSpPr/>
          <p:nvPr/>
        </p:nvSpPr>
        <p:spPr>
          <a:xfrm>
            <a:off x="6547104" y="3831336"/>
            <a:ext cx="2642616" cy="1042416"/>
          </a:xfrm>
          <a:prstGeom prst="roundRect">
            <a:avLst>
              <a:gd name="adj" fmla="val 14035"/>
            </a:avLst>
          </a:prstGeom>
          <a:solidFill>
            <a:srgbClr val="2C4479"/>
          </a:solidFill>
          <a:ln w="12700">
            <a:solidFill>
              <a:srgbClr val="2C4479"/>
            </a:solidFill>
            <a:prstDash val="solid"/>
          </a:ln>
        </p:spPr>
      </p:sp>
      <p:sp>
        <p:nvSpPr>
          <p:cNvPr id="11" name="Text 9"/>
          <p:cNvSpPr/>
          <p:nvPr/>
        </p:nvSpPr>
        <p:spPr>
          <a:xfrm>
            <a:off x="6583680" y="4224528"/>
            <a:ext cx="2551176"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 Test the result</a:t>
            </a:r>
            <a:endParaRPr lang="en-US" sz="1800" dirty="0"/>
          </a:p>
        </p:txBody>
      </p:sp>
      <p:sp>
        <p:nvSpPr>
          <p:cNvPr id="12" name="Shape 10"/>
          <p:cNvSpPr/>
          <p:nvPr/>
        </p:nvSpPr>
        <p:spPr>
          <a:xfrm>
            <a:off x="9390888" y="3831336"/>
            <a:ext cx="2642616" cy="1042416"/>
          </a:xfrm>
          <a:prstGeom prst="roundRect">
            <a:avLst>
              <a:gd name="adj" fmla="val 14035"/>
            </a:avLst>
          </a:prstGeom>
          <a:solidFill>
            <a:srgbClr val="2C4479"/>
          </a:solidFill>
          <a:ln w="12700">
            <a:solidFill>
              <a:srgbClr val="2C4479"/>
            </a:solidFill>
            <a:prstDash val="solid"/>
          </a:ln>
        </p:spPr>
      </p:sp>
      <p:sp>
        <p:nvSpPr>
          <p:cNvPr id="13" name="Text 11"/>
          <p:cNvSpPr/>
          <p:nvPr/>
        </p:nvSpPr>
        <p:spPr>
          <a:xfrm>
            <a:off x="9427464" y="4224528"/>
            <a:ext cx="2551176"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 Improve with feedback</a:t>
            </a:r>
            <a:endParaRPr lang="en-US" sz="1800" dirty="0"/>
          </a:p>
        </p:txBody>
      </p:sp>
      <p:sp>
        <p:nvSpPr>
          <p:cNvPr id="14" name="Text 12"/>
          <p:cNvSpPr/>
          <p:nvPr/>
        </p:nvSpPr>
        <p:spPr>
          <a:xfrm>
            <a:off x="850392" y="5660136"/>
            <a:ext cx="8778240" cy="365760"/>
          </a:xfrm>
          <a:prstGeom prst="rect">
            <a:avLst/>
          </a:prstGeom>
          <a:noFill/>
          <a:ln/>
        </p:spPr>
        <p:txBody>
          <a:bodyPr wrap="square" lIns="0" tIns="0" rIns="0" bIns="0" rtlCol="0" anchor="ctr">
            <a:normAutofit/>
          </a:bodyPr>
          <a:lstStyle/>
          <a:p>
            <a:pPr indent="0" marL="0">
              <a:buNone/>
            </a:pPr>
            <a:r>
              <a:rPr lang="en-US" sz="2000" dirty="0">
                <a:solidFill>
                  <a:srgbClr val="6ED9DB"/>
                </a:solidFill>
                <a:latin typeface="Aptos" pitchFamily="34" charset="0"/>
                <a:ea typeface="Aptos" pitchFamily="34" charset="-122"/>
                <a:cs typeface="Aptos" pitchFamily="34" charset="-120"/>
              </a:rPr>
              <a:t>Next: Reflect • Quiz • Feedback</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Idea to Working Application</dc:title>
  <dc:subject>Module 4 — AI Can Help Me Build</dc:subject>
  <dc:creator>AI in Action</dc:creator>
  <cp:lastModifiedBy>AI in Action</cp:lastModifiedBy>
  <cp:revision>1</cp:revision>
  <dcterms:created xsi:type="dcterms:W3CDTF">2026-10-22T03:19:38Z</dcterms:created>
  <dcterms:modified xsi:type="dcterms:W3CDTF">2026-10-22T03:19:38Z</dcterms:modified>
</cp:coreProperties>
</file>