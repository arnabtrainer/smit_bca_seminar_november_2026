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speaking cue: Welcome participants to a friendly closing conversation, not a difficult examination. Reassure beginners that the questions reflect concepts they have just seen. Suggested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sentence per module. Discover: everyday AI and clear prompts; Learn: source-grounded study; Create: cinematic AI video pipeline; Build: functioning app plus testing. Invite one attendee to name the most surprising demonstration. Suggested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respond by show of hands, or use the single combined Google Form if ready and published. One best answer per question. Do not expose answers before participants choose. Keep this friendly, inclusive and fast-moving.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B — Video recommendations based on viewing interests,Explanation: Recommendation systems can analyse viewing behaviour and content patterns to suggest relevant videos. The other activities do not inherently require AI.,Facilitation: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C — Explain computer memory to a beginner with an example and three key points.,Explanation: A clear task, audience, context and expected format help an AI assistant deliver a more relevant answer. Verification is still important.,Facilitation: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A — It uses supplied sources and links answers to supporting passages.,Explanation: Source-grounded Q&amp;A lets learners trace answers to the uploaded material. Source citations support checking but do not guarantee the source itself is correct.,Facilitation: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D — An AI response can sound convincing while containing errors.,Explanation: Generative AI can produce plausible but inaccurate claims. Check important facts against trustworthy primary or authoritative sources.,Facilitation: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A — Animating a reference image into moving footage,Explanation: Image-to-video generation uses a still image plus motion instructions to produce moving scenes, often with camera, subject and environmental motion.,Facilitation: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C — Voiceover communicates spoken information; music supports the mood.,Explanation: Narration delivers the spoken message, while music shapes atmosphere and emotional pacing. They should be mixed so speech stays understandable.,Facilitation: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B — Test key interactions, calculations and data handling.,Explanation: Generated software must be tested. Create, edit and complete tasks, check progress calculations, and verify data storage and input validation.,Facilitation: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answer key: D — Verifying outputs and protecting private or sensitive information,Explanation: Responsible use means checking important claims, maintaining privacy, respecting permissions and applying human judgement.,Facilitation: Invite a vote or two answers, then explain why the best choice is correct. Avoid treating a wrong answer as a failure. Roughly 55–75 seconds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event, create or publish the Google Form from the private guide. Insert the real responder-link QR into this slide in your EVENT-SPECIFIC copy, or display the form link outside the deck. Never insert a pretend QR. Ask for honest, anonymous-by-default feedback. If time is short, invite a quick verbal response and provide the link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another tool tour. Give participants one practical assignment: use an AI assistant to understand a topic, create a small media asset, or improve a simple task workflow; verify important outputs. Mention that the next session can go deeper into one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closing script: AI is not simply about getting answers faster. It can help us understand information, express creativity and build useful solutions. But the ideas, judgement and responsibility still belong to us. Keep learning, experimenting and creating. Thank everyone. Reserve space for one final question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slide — hidden during normal slide show. Only for trainer preparation. Use quiz answer explanations from the all-in-one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slide — hidden during normal slide show. No audience timing commitments. The real form and QR cannot be prepopulated because this package is reusable.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62F"/>
        </a:solidFill>
      </p:bgPr>
    </p:bg>
    <p:spTree>
      <p:nvGrpSpPr>
        <p:cNvPr id="1" name=""/>
        <p:cNvGrpSpPr/>
        <p:nvPr/>
      </p:nvGrpSpPr>
      <p:grpSpPr>
        <a:xfrm>
          <a:off x="0" y="0"/>
          <a:ext cx="0" cy="0"/>
          <a:chOff x="0" y="0"/>
          <a:chExt cx="0" cy="0"/>
        </a:xfrm>
      </p:grpSpPr>
      <p:pic>
        <p:nvPicPr>
          <p:cNvPr id="2" name="Image 0" descr="/mnt/data/_module5_work/bg_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67512" y="758952"/>
            <a:ext cx="3959352"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777240" y="827532"/>
            <a:ext cx="3730752"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MODULE 05  •  INTERACTIVE CONCLUSION</a:t>
            </a:r>
            <a:endParaRPr lang="en-US" sz="1000" dirty="0"/>
          </a:p>
        </p:txBody>
      </p:sp>
      <p:sp>
        <p:nvSpPr>
          <p:cNvPr id="5" name="Text 2"/>
          <p:cNvSpPr/>
          <p:nvPr/>
        </p:nvSpPr>
        <p:spPr>
          <a:xfrm>
            <a:off x="676656" y="1527048"/>
            <a:ext cx="8001000" cy="1517904"/>
          </a:xfrm>
          <a:prstGeom prst="rect">
            <a:avLst/>
          </a:prstGeom>
          <a:noFill/>
          <a:ln/>
        </p:spPr>
        <p:txBody>
          <a:bodyPr wrap="square" lIns="0" tIns="0" rIns="0" bIns="0" rtlCol="0" anchor="ctr">
            <a:normAutofit/>
          </a:bodyPr>
          <a:lstStyle/>
          <a:p>
            <a:pPr indent="0" marL="0">
              <a:buNone/>
            </a:pPr>
            <a:r>
              <a:rPr lang="en-US" sz="5200" b="1" dirty="0">
                <a:solidFill>
                  <a:srgbClr val="F6FAFF"/>
                </a:solidFill>
                <a:latin typeface="Aptos Display" pitchFamily="34" charset="0"/>
                <a:ea typeface="Aptos Display" pitchFamily="34" charset="-122"/>
                <a:cs typeface="Aptos Display" pitchFamily="34" charset="-120"/>
              </a:rPr>
              <a:t>Your AI Journey</a:t>
            </a:r>
            <a:endParaRPr lang="en-US" sz="5200" dirty="0"/>
          </a:p>
          <a:p>
            <a:pPr indent="0" marL="0">
              <a:buNone/>
            </a:pPr>
            <a:r>
              <a:rPr lang="en-US" sz="5200" b="1" dirty="0">
                <a:solidFill>
                  <a:srgbClr val="F6FAFF"/>
                </a:solidFill>
                <a:latin typeface="Aptos Display" pitchFamily="34" charset="0"/>
                <a:ea typeface="Aptos Display" pitchFamily="34" charset="-122"/>
                <a:cs typeface="Aptos Display" pitchFamily="34" charset="-120"/>
              </a:rPr>
              <a:t>Starts Here!</a:t>
            </a:r>
            <a:endParaRPr lang="en-US" sz="5200" dirty="0"/>
          </a:p>
        </p:txBody>
      </p:sp>
      <p:sp>
        <p:nvSpPr>
          <p:cNvPr id="6" name="Text 3"/>
          <p:cNvSpPr/>
          <p:nvPr/>
        </p:nvSpPr>
        <p:spPr>
          <a:xfrm>
            <a:off x="694944" y="3401568"/>
            <a:ext cx="8138160" cy="320040"/>
          </a:xfrm>
          <a:prstGeom prst="rect">
            <a:avLst/>
          </a:prstGeom>
          <a:noFill/>
          <a:ln/>
        </p:spPr>
        <p:txBody>
          <a:bodyPr wrap="square" lIns="0" tIns="0" rIns="0" bIns="0" rtlCol="0" anchor="ctr">
            <a:normAutofit/>
          </a:bodyPr>
          <a:lstStyle/>
          <a:p>
            <a:pPr indent="0" marL="0">
              <a:buNone/>
            </a:pPr>
            <a:r>
              <a:rPr lang="en-US" sz="2100" dirty="0">
                <a:solidFill>
                  <a:srgbClr val="D8EAFE"/>
                </a:solidFill>
                <a:latin typeface="Aptos" pitchFamily="34" charset="0"/>
                <a:ea typeface="Aptos" pitchFamily="34" charset="-122"/>
                <a:cs typeface="Aptos" pitchFamily="34" charset="-120"/>
              </a:rPr>
              <a:t>Reflect  •  Test Your Knowledge  •  Share Your Feedback</a:t>
            </a:r>
            <a:endParaRPr lang="en-US" sz="2100" dirty="0"/>
          </a:p>
        </p:txBody>
      </p:sp>
      <p:sp>
        <p:nvSpPr>
          <p:cNvPr id="7" name="Shape 4"/>
          <p:cNvSpPr/>
          <p:nvPr/>
        </p:nvSpPr>
        <p:spPr>
          <a:xfrm>
            <a:off x="676656" y="4142232"/>
            <a:ext cx="6099048" cy="932688"/>
          </a:xfrm>
          <a:prstGeom prst="roundRect">
            <a:avLst/>
          </a:prstGeom>
          <a:solidFill>
            <a:srgbClr val="092444">
              <a:alpha val="82000"/>
            </a:srgbClr>
          </a:solidFill>
          <a:ln w="12700">
            <a:solidFill>
              <a:srgbClr val="3F7298">
                <a:alpha val="45000"/>
              </a:srgbClr>
            </a:solidFill>
            <a:prstDash val="solid"/>
          </a:ln>
        </p:spPr>
      </p:sp>
      <p:sp>
        <p:nvSpPr>
          <p:cNvPr id="8" name="Text 5"/>
          <p:cNvSpPr/>
          <p:nvPr/>
        </p:nvSpPr>
        <p:spPr>
          <a:xfrm>
            <a:off x="932688" y="4453128"/>
            <a:ext cx="5596128" cy="256032"/>
          </a:xfrm>
          <a:prstGeom prst="rect">
            <a:avLst/>
          </a:prstGeom>
          <a:noFill/>
          <a:ln/>
        </p:spPr>
        <p:txBody>
          <a:bodyPr wrap="square" lIns="0" tIns="0" rIns="0" bIns="0" rtlCol="0" anchor="ctr">
            <a:normAutofit/>
          </a:bodyPr>
          <a:lstStyle/>
          <a:p>
            <a:pPr algn="ctr" indent="0" marL="0">
              <a:buNone/>
            </a:pPr>
            <a:r>
              <a:rPr lang="en-US" sz="1800" b="1" dirty="0">
                <a:solidFill>
                  <a:srgbClr val="6DE4E2"/>
                </a:solidFill>
                <a:latin typeface="Aptos" pitchFamily="34" charset="0"/>
                <a:ea typeface="Aptos" pitchFamily="34" charset="-122"/>
                <a:cs typeface="Aptos" pitchFamily="34" charset="-120"/>
              </a:rPr>
              <a:t>DISCOVER   →   LEARN   →   CREATE   →   BUILD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62F"/>
        </a:solidFill>
      </p:bgPr>
    </p:bg>
    <p:spTree>
      <p:nvGrpSpPr>
        <p:cNvPr id="1" name=""/>
        <p:cNvGrpSpPr/>
        <p:nvPr/>
      </p:nvGrpSpPr>
      <p:grpSpPr>
        <a:xfrm>
          <a:off x="0" y="0"/>
          <a:ext cx="0" cy="0"/>
          <a:chOff x="0" y="0"/>
          <a:chExt cx="0" cy="0"/>
        </a:xfrm>
      </p:grpSpPr>
      <p:pic>
        <p:nvPicPr>
          <p:cNvPr id="2" name="Image 0" descr="/mnt/data/_module5_work/bg_pla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1874520"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1645920"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THE JOURNEY</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Four experiences. One new perspective.</a:t>
            </a:r>
            <a:endParaRPr lang="en-US" sz="3500" dirty="0"/>
          </a:p>
        </p:txBody>
      </p:sp>
      <p:sp>
        <p:nvSpPr>
          <p:cNvPr id="6" name="Shape 3"/>
          <p:cNvSpPr/>
          <p:nvPr/>
        </p:nvSpPr>
        <p:spPr>
          <a:xfrm>
            <a:off x="576072" y="2148840"/>
            <a:ext cx="2761488" cy="3182112"/>
          </a:xfrm>
          <a:prstGeom prst="roundRect">
            <a:avLst/>
          </a:prstGeom>
          <a:solidFill>
            <a:srgbClr val="142C51">
              <a:alpha val="87000"/>
            </a:srgbClr>
          </a:solidFill>
          <a:ln w="12700">
            <a:solidFill>
              <a:srgbClr val="49D3E1">
                <a:alpha val="38000"/>
              </a:srgbClr>
            </a:solidFill>
            <a:prstDash val="solid"/>
          </a:ln>
        </p:spPr>
      </p:sp>
      <p:sp>
        <p:nvSpPr>
          <p:cNvPr id="7" name="Shape 4"/>
          <p:cNvSpPr/>
          <p:nvPr/>
        </p:nvSpPr>
        <p:spPr>
          <a:xfrm>
            <a:off x="749808" y="2423160"/>
            <a:ext cx="713232" cy="713232"/>
          </a:xfrm>
          <a:prstGeom prst="ellipse">
            <a:avLst/>
          </a:prstGeom>
          <a:solidFill>
            <a:srgbClr val="49D3E1">
              <a:alpha val="23000"/>
            </a:srgbClr>
          </a:solidFill>
          <a:ln w="12700">
            <a:solidFill>
              <a:srgbClr val="49D3E1">
                <a:alpha val="80000"/>
              </a:srgbClr>
            </a:solidFill>
            <a:prstDash val="solid"/>
          </a:ln>
        </p:spPr>
      </p:sp>
      <p:sp>
        <p:nvSpPr>
          <p:cNvPr id="8" name="Text 5"/>
          <p:cNvSpPr/>
          <p:nvPr/>
        </p:nvSpPr>
        <p:spPr>
          <a:xfrm>
            <a:off x="896112" y="2615184"/>
            <a:ext cx="420624" cy="265176"/>
          </a:xfrm>
          <a:prstGeom prst="rect">
            <a:avLst/>
          </a:prstGeom>
          <a:noFill/>
          <a:ln/>
        </p:spPr>
        <p:txBody>
          <a:bodyPr wrap="square" lIns="0" tIns="0" rIns="0" bIns="0" rtlCol="0" anchor="ctr">
            <a:normAutofit/>
          </a:bodyPr>
          <a:lstStyle/>
          <a:p>
            <a:pPr algn="ctr" indent="0" marL="0">
              <a:buNone/>
            </a:pPr>
            <a:r>
              <a:rPr lang="en-US" sz="2200" b="1" dirty="0">
                <a:solidFill>
                  <a:srgbClr val="49D3E1"/>
                </a:solidFill>
                <a:latin typeface="Aptos" pitchFamily="34" charset="0"/>
                <a:ea typeface="Aptos" pitchFamily="34" charset="-122"/>
                <a:cs typeface="Aptos" pitchFamily="34" charset="-120"/>
              </a:rPr>
              <a:t>01</a:t>
            </a:r>
            <a:endParaRPr lang="en-US" sz="2200" dirty="0"/>
          </a:p>
        </p:txBody>
      </p:sp>
      <p:sp>
        <p:nvSpPr>
          <p:cNvPr id="9" name="Text 6"/>
          <p:cNvSpPr/>
          <p:nvPr/>
        </p:nvSpPr>
        <p:spPr>
          <a:xfrm>
            <a:off x="804672" y="3429000"/>
            <a:ext cx="2286000" cy="237744"/>
          </a:xfrm>
          <a:prstGeom prst="rect">
            <a:avLst/>
          </a:prstGeom>
          <a:noFill/>
          <a:ln/>
        </p:spPr>
        <p:txBody>
          <a:bodyPr wrap="square" lIns="0" tIns="0" rIns="0" bIns="0" rtlCol="0" anchor="ctr">
            <a:normAutofit/>
          </a:bodyPr>
          <a:lstStyle/>
          <a:p>
            <a:pPr algn="ctr" indent="0" marL="0">
              <a:buNone/>
            </a:pPr>
            <a:r>
              <a:rPr lang="en-US" sz="1800" b="1" spc="140" kern="0" dirty="0">
                <a:solidFill>
                  <a:srgbClr val="49D3E1"/>
                </a:solidFill>
                <a:latin typeface="Aptos" pitchFamily="34" charset="0"/>
                <a:ea typeface="Aptos" pitchFamily="34" charset="-122"/>
                <a:cs typeface="Aptos" pitchFamily="34" charset="-120"/>
              </a:rPr>
              <a:t>DISCOVER</a:t>
            </a:r>
            <a:endParaRPr lang="en-US" sz="1800" dirty="0"/>
          </a:p>
        </p:txBody>
      </p:sp>
      <p:sp>
        <p:nvSpPr>
          <p:cNvPr id="10" name="Text 7"/>
          <p:cNvSpPr/>
          <p:nvPr/>
        </p:nvSpPr>
        <p:spPr>
          <a:xfrm>
            <a:off x="795528" y="3840480"/>
            <a:ext cx="2331720" cy="612648"/>
          </a:xfrm>
          <a:prstGeom prst="rect">
            <a:avLst/>
          </a:prstGeom>
          <a:noFill/>
          <a:ln/>
        </p:spPr>
        <p:txBody>
          <a:bodyPr wrap="square" lIns="0" tIns="0" rIns="0" bIns="0" rtlCol="0" anchor="ctr">
            <a:normAutofit/>
          </a:bodyPr>
          <a:lstStyle/>
          <a:p>
            <a:pPr algn="ctr" indent="0" marL="0">
              <a:buNone/>
            </a:pPr>
            <a:r>
              <a:rPr lang="en-US" sz="2100" b="1" dirty="0">
                <a:solidFill>
                  <a:srgbClr val="F6FAFF"/>
                </a:solidFill>
                <a:latin typeface="Aptos" pitchFamily="34" charset="0"/>
                <a:ea typeface="Aptos" pitchFamily="34" charset="-122"/>
                <a:cs typeface="Aptos" pitchFamily="34" charset="-120"/>
              </a:rPr>
              <a:t>Understand what AI can do</a:t>
            </a:r>
            <a:endParaRPr lang="en-US" sz="2100" dirty="0"/>
          </a:p>
        </p:txBody>
      </p:sp>
      <p:sp>
        <p:nvSpPr>
          <p:cNvPr id="11" name="Text 8"/>
          <p:cNvSpPr/>
          <p:nvPr/>
        </p:nvSpPr>
        <p:spPr>
          <a:xfrm>
            <a:off x="832104" y="4663440"/>
            <a:ext cx="2258568" cy="530352"/>
          </a:xfrm>
          <a:prstGeom prst="rect">
            <a:avLst/>
          </a:prstGeom>
          <a:noFill/>
          <a:ln/>
        </p:spPr>
        <p:txBody>
          <a:bodyPr wrap="square" lIns="0" tIns="0" rIns="0" bIns="0" rtlCol="0" anchor="ctr">
            <a:normAutofit/>
          </a:bodyPr>
          <a:lstStyle/>
          <a:p>
            <a:pPr algn="ctr" indent="0" marL="0">
              <a:buNone/>
            </a:pPr>
            <a:r>
              <a:rPr lang="en-US" sz="1400" dirty="0">
                <a:solidFill>
                  <a:srgbClr val="B1C4DE"/>
                </a:solidFill>
                <a:latin typeface="Aptos" pitchFamily="34" charset="0"/>
                <a:ea typeface="Aptos" pitchFamily="34" charset="-122"/>
                <a:cs typeface="Aptos" pitchFamily="34" charset="-120"/>
              </a:rPr>
              <a:t>Everyday applications &amp; prompt quality</a:t>
            </a:r>
            <a:endParaRPr lang="en-US" sz="1400" dirty="0"/>
          </a:p>
        </p:txBody>
      </p:sp>
      <p:sp>
        <p:nvSpPr>
          <p:cNvPr id="12" name="Shape 9"/>
          <p:cNvSpPr/>
          <p:nvPr/>
        </p:nvSpPr>
        <p:spPr>
          <a:xfrm>
            <a:off x="3474720" y="2148840"/>
            <a:ext cx="2761488" cy="3182112"/>
          </a:xfrm>
          <a:prstGeom prst="roundRect">
            <a:avLst/>
          </a:prstGeom>
          <a:solidFill>
            <a:srgbClr val="142C51">
              <a:alpha val="87000"/>
            </a:srgbClr>
          </a:solidFill>
          <a:ln w="12700">
            <a:solidFill>
              <a:srgbClr val="51D8B9">
                <a:alpha val="38000"/>
              </a:srgbClr>
            </a:solidFill>
            <a:prstDash val="solid"/>
          </a:ln>
        </p:spPr>
      </p:sp>
      <p:sp>
        <p:nvSpPr>
          <p:cNvPr id="13" name="Shape 10"/>
          <p:cNvSpPr/>
          <p:nvPr/>
        </p:nvSpPr>
        <p:spPr>
          <a:xfrm>
            <a:off x="3648456" y="2423160"/>
            <a:ext cx="713232" cy="713232"/>
          </a:xfrm>
          <a:prstGeom prst="ellipse">
            <a:avLst/>
          </a:prstGeom>
          <a:solidFill>
            <a:srgbClr val="51D8B9">
              <a:alpha val="23000"/>
            </a:srgbClr>
          </a:solidFill>
          <a:ln w="12700">
            <a:solidFill>
              <a:srgbClr val="51D8B9">
                <a:alpha val="80000"/>
              </a:srgbClr>
            </a:solidFill>
            <a:prstDash val="solid"/>
          </a:ln>
        </p:spPr>
      </p:sp>
      <p:sp>
        <p:nvSpPr>
          <p:cNvPr id="14" name="Text 11"/>
          <p:cNvSpPr/>
          <p:nvPr/>
        </p:nvSpPr>
        <p:spPr>
          <a:xfrm>
            <a:off x="3794760" y="2615184"/>
            <a:ext cx="420624" cy="265176"/>
          </a:xfrm>
          <a:prstGeom prst="rect">
            <a:avLst/>
          </a:prstGeom>
          <a:noFill/>
          <a:ln/>
        </p:spPr>
        <p:txBody>
          <a:bodyPr wrap="square" lIns="0" tIns="0" rIns="0" bIns="0" rtlCol="0" anchor="ctr">
            <a:normAutofit/>
          </a:bodyPr>
          <a:lstStyle/>
          <a:p>
            <a:pPr algn="ctr" indent="0" marL="0">
              <a:buNone/>
            </a:pPr>
            <a:r>
              <a:rPr lang="en-US" sz="2200" b="1" dirty="0">
                <a:solidFill>
                  <a:srgbClr val="51D8B9"/>
                </a:solidFill>
                <a:latin typeface="Aptos" pitchFamily="34" charset="0"/>
                <a:ea typeface="Aptos" pitchFamily="34" charset="-122"/>
                <a:cs typeface="Aptos" pitchFamily="34" charset="-120"/>
              </a:rPr>
              <a:t>02</a:t>
            </a:r>
            <a:endParaRPr lang="en-US" sz="2200" dirty="0"/>
          </a:p>
        </p:txBody>
      </p:sp>
      <p:sp>
        <p:nvSpPr>
          <p:cNvPr id="15" name="Text 12"/>
          <p:cNvSpPr/>
          <p:nvPr/>
        </p:nvSpPr>
        <p:spPr>
          <a:xfrm>
            <a:off x="3703320" y="3429000"/>
            <a:ext cx="2286000" cy="237744"/>
          </a:xfrm>
          <a:prstGeom prst="rect">
            <a:avLst/>
          </a:prstGeom>
          <a:noFill/>
          <a:ln/>
        </p:spPr>
        <p:txBody>
          <a:bodyPr wrap="square" lIns="0" tIns="0" rIns="0" bIns="0" rtlCol="0" anchor="ctr">
            <a:normAutofit/>
          </a:bodyPr>
          <a:lstStyle/>
          <a:p>
            <a:pPr algn="ctr" indent="0" marL="0">
              <a:buNone/>
            </a:pPr>
            <a:r>
              <a:rPr lang="en-US" sz="1800" b="1" spc="140" kern="0" dirty="0">
                <a:solidFill>
                  <a:srgbClr val="51D8B9"/>
                </a:solidFill>
                <a:latin typeface="Aptos" pitchFamily="34" charset="0"/>
                <a:ea typeface="Aptos" pitchFamily="34" charset="-122"/>
                <a:cs typeface="Aptos" pitchFamily="34" charset="-120"/>
              </a:rPr>
              <a:t>LEARN</a:t>
            </a:r>
            <a:endParaRPr lang="en-US" sz="1800" dirty="0"/>
          </a:p>
        </p:txBody>
      </p:sp>
      <p:sp>
        <p:nvSpPr>
          <p:cNvPr id="16" name="Text 13"/>
          <p:cNvSpPr/>
          <p:nvPr/>
        </p:nvSpPr>
        <p:spPr>
          <a:xfrm>
            <a:off x="3694176" y="3840480"/>
            <a:ext cx="2331720" cy="612648"/>
          </a:xfrm>
          <a:prstGeom prst="rect">
            <a:avLst/>
          </a:prstGeom>
          <a:noFill/>
          <a:ln/>
        </p:spPr>
        <p:txBody>
          <a:bodyPr wrap="square" lIns="0" tIns="0" rIns="0" bIns="0" rtlCol="0" anchor="ctr">
            <a:normAutofit/>
          </a:bodyPr>
          <a:lstStyle/>
          <a:p>
            <a:pPr algn="ctr" indent="0" marL="0">
              <a:buNone/>
            </a:pPr>
            <a:r>
              <a:rPr lang="en-US" sz="2100" b="1" dirty="0">
                <a:solidFill>
                  <a:srgbClr val="F6FAFF"/>
                </a:solidFill>
                <a:latin typeface="Aptos" pitchFamily="34" charset="0"/>
                <a:ea typeface="Aptos" pitchFamily="34" charset="-122"/>
                <a:cs typeface="Aptos" pitchFamily="34" charset="-120"/>
              </a:rPr>
              <a:t>Learn from trusted sources</a:t>
            </a:r>
            <a:endParaRPr lang="en-US" sz="2100" dirty="0"/>
          </a:p>
        </p:txBody>
      </p:sp>
      <p:sp>
        <p:nvSpPr>
          <p:cNvPr id="17" name="Text 14"/>
          <p:cNvSpPr/>
          <p:nvPr/>
        </p:nvSpPr>
        <p:spPr>
          <a:xfrm>
            <a:off x="3730752" y="4663440"/>
            <a:ext cx="2258568" cy="530352"/>
          </a:xfrm>
          <a:prstGeom prst="rect">
            <a:avLst/>
          </a:prstGeom>
          <a:noFill/>
          <a:ln/>
        </p:spPr>
        <p:txBody>
          <a:bodyPr wrap="square" lIns="0" tIns="0" rIns="0" bIns="0" rtlCol="0" anchor="ctr">
            <a:normAutofit/>
          </a:bodyPr>
          <a:lstStyle/>
          <a:p>
            <a:pPr algn="ctr" indent="0" marL="0">
              <a:buNone/>
            </a:pPr>
            <a:r>
              <a:rPr lang="en-US" sz="1400" dirty="0">
                <a:solidFill>
                  <a:srgbClr val="B1C4DE"/>
                </a:solidFill>
                <a:latin typeface="Aptos" pitchFamily="34" charset="0"/>
                <a:ea typeface="Aptos" pitchFamily="34" charset="-122"/>
                <a:cs typeface="Aptos" pitchFamily="34" charset="-120"/>
              </a:rPr>
              <a:t>Gemini Notebook summaries &amp; citations</a:t>
            </a:r>
            <a:endParaRPr lang="en-US" sz="1400" dirty="0"/>
          </a:p>
        </p:txBody>
      </p:sp>
      <p:sp>
        <p:nvSpPr>
          <p:cNvPr id="18" name="Shape 15"/>
          <p:cNvSpPr/>
          <p:nvPr/>
        </p:nvSpPr>
        <p:spPr>
          <a:xfrm>
            <a:off x="6373368" y="2148840"/>
            <a:ext cx="2761488" cy="3182112"/>
          </a:xfrm>
          <a:prstGeom prst="roundRect">
            <a:avLst/>
          </a:prstGeom>
          <a:solidFill>
            <a:srgbClr val="142C51">
              <a:alpha val="87000"/>
            </a:srgbClr>
          </a:solidFill>
          <a:ln w="12700">
            <a:solidFill>
              <a:srgbClr val="A8A0FE">
                <a:alpha val="38000"/>
              </a:srgbClr>
            </a:solidFill>
            <a:prstDash val="solid"/>
          </a:ln>
        </p:spPr>
      </p:sp>
      <p:sp>
        <p:nvSpPr>
          <p:cNvPr id="19" name="Shape 16"/>
          <p:cNvSpPr/>
          <p:nvPr/>
        </p:nvSpPr>
        <p:spPr>
          <a:xfrm>
            <a:off x="6547104" y="2423160"/>
            <a:ext cx="713232" cy="713232"/>
          </a:xfrm>
          <a:prstGeom prst="ellipse">
            <a:avLst/>
          </a:prstGeom>
          <a:solidFill>
            <a:srgbClr val="A8A0FE">
              <a:alpha val="23000"/>
            </a:srgbClr>
          </a:solidFill>
          <a:ln w="12700">
            <a:solidFill>
              <a:srgbClr val="A8A0FE">
                <a:alpha val="80000"/>
              </a:srgbClr>
            </a:solidFill>
            <a:prstDash val="solid"/>
          </a:ln>
        </p:spPr>
      </p:sp>
      <p:sp>
        <p:nvSpPr>
          <p:cNvPr id="20" name="Text 17"/>
          <p:cNvSpPr/>
          <p:nvPr/>
        </p:nvSpPr>
        <p:spPr>
          <a:xfrm>
            <a:off x="6693408" y="2615184"/>
            <a:ext cx="420624" cy="265176"/>
          </a:xfrm>
          <a:prstGeom prst="rect">
            <a:avLst/>
          </a:prstGeom>
          <a:noFill/>
          <a:ln/>
        </p:spPr>
        <p:txBody>
          <a:bodyPr wrap="square" lIns="0" tIns="0" rIns="0" bIns="0" rtlCol="0" anchor="ctr">
            <a:normAutofit/>
          </a:bodyPr>
          <a:lstStyle/>
          <a:p>
            <a:pPr algn="ctr" indent="0" marL="0">
              <a:buNone/>
            </a:pPr>
            <a:r>
              <a:rPr lang="en-US" sz="2200" b="1" dirty="0">
                <a:solidFill>
                  <a:srgbClr val="A8A0FE"/>
                </a:solidFill>
                <a:latin typeface="Aptos" pitchFamily="34" charset="0"/>
                <a:ea typeface="Aptos" pitchFamily="34" charset="-122"/>
                <a:cs typeface="Aptos" pitchFamily="34" charset="-120"/>
              </a:rPr>
              <a:t>03</a:t>
            </a:r>
            <a:endParaRPr lang="en-US" sz="2200" dirty="0"/>
          </a:p>
        </p:txBody>
      </p:sp>
      <p:sp>
        <p:nvSpPr>
          <p:cNvPr id="21" name="Text 18"/>
          <p:cNvSpPr/>
          <p:nvPr/>
        </p:nvSpPr>
        <p:spPr>
          <a:xfrm>
            <a:off x="6601968" y="3429000"/>
            <a:ext cx="2286000" cy="237744"/>
          </a:xfrm>
          <a:prstGeom prst="rect">
            <a:avLst/>
          </a:prstGeom>
          <a:noFill/>
          <a:ln/>
        </p:spPr>
        <p:txBody>
          <a:bodyPr wrap="square" lIns="0" tIns="0" rIns="0" bIns="0" rtlCol="0" anchor="ctr">
            <a:normAutofit/>
          </a:bodyPr>
          <a:lstStyle/>
          <a:p>
            <a:pPr algn="ctr" indent="0" marL="0">
              <a:buNone/>
            </a:pPr>
            <a:r>
              <a:rPr lang="en-US" sz="1800" b="1" spc="140" kern="0" dirty="0">
                <a:solidFill>
                  <a:srgbClr val="A8A0FE"/>
                </a:solidFill>
                <a:latin typeface="Aptos" pitchFamily="34" charset="0"/>
                <a:ea typeface="Aptos" pitchFamily="34" charset="-122"/>
                <a:cs typeface="Aptos" pitchFamily="34" charset="-120"/>
              </a:rPr>
              <a:t>CREATE</a:t>
            </a:r>
            <a:endParaRPr lang="en-US" sz="1800" dirty="0"/>
          </a:p>
        </p:txBody>
      </p:sp>
      <p:sp>
        <p:nvSpPr>
          <p:cNvPr id="22" name="Text 19"/>
          <p:cNvSpPr/>
          <p:nvPr/>
        </p:nvSpPr>
        <p:spPr>
          <a:xfrm>
            <a:off x="6592824" y="3840480"/>
            <a:ext cx="2331720" cy="612648"/>
          </a:xfrm>
          <a:prstGeom prst="rect">
            <a:avLst/>
          </a:prstGeom>
          <a:noFill/>
          <a:ln/>
        </p:spPr>
        <p:txBody>
          <a:bodyPr wrap="square" lIns="0" tIns="0" rIns="0" bIns="0" rtlCol="0" anchor="ctr">
            <a:normAutofit/>
          </a:bodyPr>
          <a:lstStyle/>
          <a:p>
            <a:pPr algn="ctr" indent="0" marL="0">
              <a:buNone/>
            </a:pPr>
            <a:r>
              <a:rPr lang="en-US" sz="2100" b="1" dirty="0">
                <a:solidFill>
                  <a:srgbClr val="F6FAFF"/>
                </a:solidFill>
                <a:latin typeface="Aptos" pitchFamily="34" charset="0"/>
                <a:ea typeface="Aptos" pitchFamily="34" charset="-122"/>
                <a:cs typeface="Aptos" pitchFamily="34" charset="-120"/>
              </a:rPr>
              <a:t>Transform ideas into stories</a:t>
            </a:r>
            <a:endParaRPr lang="en-US" sz="2100" dirty="0"/>
          </a:p>
        </p:txBody>
      </p:sp>
      <p:sp>
        <p:nvSpPr>
          <p:cNvPr id="23" name="Text 20"/>
          <p:cNvSpPr/>
          <p:nvPr/>
        </p:nvSpPr>
        <p:spPr>
          <a:xfrm>
            <a:off x="6629400" y="4663440"/>
            <a:ext cx="2258568" cy="530352"/>
          </a:xfrm>
          <a:prstGeom prst="rect">
            <a:avLst/>
          </a:prstGeom>
          <a:noFill/>
          <a:ln/>
        </p:spPr>
        <p:txBody>
          <a:bodyPr wrap="square" lIns="0" tIns="0" rIns="0" bIns="0" rtlCol="0" anchor="ctr">
            <a:normAutofit/>
          </a:bodyPr>
          <a:lstStyle/>
          <a:p>
            <a:pPr algn="ctr" indent="0" marL="0">
              <a:buNone/>
            </a:pPr>
            <a:r>
              <a:rPr lang="en-US" sz="1400" dirty="0">
                <a:solidFill>
                  <a:srgbClr val="B1C4DE"/>
                </a:solidFill>
                <a:latin typeface="Aptos" pitchFamily="34" charset="0"/>
                <a:ea typeface="Aptos" pitchFamily="34" charset="-122"/>
                <a:cs typeface="Aptos" pitchFamily="34" charset="-120"/>
              </a:rPr>
              <a:t>AI imagery, motion, narration &amp; music</a:t>
            </a:r>
            <a:endParaRPr lang="en-US" sz="1400" dirty="0"/>
          </a:p>
        </p:txBody>
      </p:sp>
      <p:sp>
        <p:nvSpPr>
          <p:cNvPr id="24" name="Shape 21"/>
          <p:cNvSpPr/>
          <p:nvPr/>
        </p:nvSpPr>
        <p:spPr>
          <a:xfrm>
            <a:off x="9272016" y="2148840"/>
            <a:ext cx="2761488" cy="3182112"/>
          </a:xfrm>
          <a:prstGeom prst="roundRect">
            <a:avLst/>
          </a:prstGeom>
          <a:solidFill>
            <a:srgbClr val="142C51">
              <a:alpha val="87000"/>
            </a:srgbClr>
          </a:solidFill>
          <a:ln w="12700">
            <a:solidFill>
              <a:srgbClr val="F3C56B">
                <a:alpha val="38000"/>
              </a:srgbClr>
            </a:solidFill>
            <a:prstDash val="solid"/>
          </a:ln>
        </p:spPr>
      </p:sp>
      <p:sp>
        <p:nvSpPr>
          <p:cNvPr id="25" name="Shape 22"/>
          <p:cNvSpPr/>
          <p:nvPr/>
        </p:nvSpPr>
        <p:spPr>
          <a:xfrm>
            <a:off x="9445752" y="2423160"/>
            <a:ext cx="713232" cy="713232"/>
          </a:xfrm>
          <a:prstGeom prst="ellipse">
            <a:avLst/>
          </a:prstGeom>
          <a:solidFill>
            <a:srgbClr val="F3C56B">
              <a:alpha val="23000"/>
            </a:srgbClr>
          </a:solidFill>
          <a:ln w="12700">
            <a:solidFill>
              <a:srgbClr val="F3C56B">
                <a:alpha val="80000"/>
              </a:srgbClr>
            </a:solidFill>
            <a:prstDash val="solid"/>
          </a:ln>
        </p:spPr>
      </p:sp>
      <p:sp>
        <p:nvSpPr>
          <p:cNvPr id="26" name="Text 23"/>
          <p:cNvSpPr/>
          <p:nvPr/>
        </p:nvSpPr>
        <p:spPr>
          <a:xfrm>
            <a:off x="9592056" y="2615184"/>
            <a:ext cx="420624" cy="265176"/>
          </a:xfrm>
          <a:prstGeom prst="rect">
            <a:avLst/>
          </a:prstGeom>
          <a:noFill/>
          <a:ln/>
        </p:spPr>
        <p:txBody>
          <a:bodyPr wrap="square" lIns="0" tIns="0" rIns="0" bIns="0" rtlCol="0" anchor="ctr">
            <a:normAutofit/>
          </a:bodyPr>
          <a:lstStyle/>
          <a:p>
            <a:pPr algn="ctr" indent="0" marL="0">
              <a:buNone/>
            </a:pPr>
            <a:r>
              <a:rPr lang="en-US" sz="2200" b="1" dirty="0">
                <a:solidFill>
                  <a:srgbClr val="F3C56B"/>
                </a:solidFill>
                <a:latin typeface="Aptos" pitchFamily="34" charset="0"/>
                <a:ea typeface="Aptos" pitchFamily="34" charset="-122"/>
                <a:cs typeface="Aptos" pitchFamily="34" charset="-120"/>
              </a:rPr>
              <a:t>04</a:t>
            </a:r>
            <a:endParaRPr lang="en-US" sz="2200" dirty="0"/>
          </a:p>
        </p:txBody>
      </p:sp>
      <p:sp>
        <p:nvSpPr>
          <p:cNvPr id="27" name="Text 24"/>
          <p:cNvSpPr/>
          <p:nvPr/>
        </p:nvSpPr>
        <p:spPr>
          <a:xfrm>
            <a:off x="9500616" y="3429000"/>
            <a:ext cx="2286000" cy="237744"/>
          </a:xfrm>
          <a:prstGeom prst="rect">
            <a:avLst/>
          </a:prstGeom>
          <a:noFill/>
          <a:ln/>
        </p:spPr>
        <p:txBody>
          <a:bodyPr wrap="square" lIns="0" tIns="0" rIns="0" bIns="0" rtlCol="0" anchor="ctr">
            <a:normAutofit/>
          </a:bodyPr>
          <a:lstStyle/>
          <a:p>
            <a:pPr algn="ctr" indent="0" marL="0">
              <a:buNone/>
            </a:pPr>
            <a:r>
              <a:rPr lang="en-US" sz="1800" b="1" spc="140" kern="0" dirty="0">
                <a:solidFill>
                  <a:srgbClr val="F3C56B"/>
                </a:solidFill>
                <a:latin typeface="Aptos" pitchFamily="34" charset="0"/>
                <a:ea typeface="Aptos" pitchFamily="34" charset="-122"/>
                <a:cs typeface="Aptos" pitchFamily="34" charset="-120"/>
              </a:rPr>
              <a:t>BUILD</a:t>
            </a:r>
            <a:endParaRPr lang="en-US" sz="1800" dirty="0"/>
          </a:p>
        </p:txBody>
      </p:sp>
      <p:sp>
        <p:nvSpPr>
          <p:cNvPr id="28" name="Text 25"/>
          <p:cNvSpPr/>
          <p:nvPr/>
        </p:nvSpPr>
        <p:spPr>
          <a:xfrm>
            <a:off x="9491472" y="3840480"/>
            <a:ext cx="2331720" cy="612648"/>
          </a:xfrm>
          <a:prstGeom prst="rect">
            <a:avLst/>
          </a:prstGeom>
          <a:noFill/>
          <a:ln/>
        </p:spPr>
        <p:txBody>
          <a:bodyPr wrap="square" lIns="0" tIns="0" rIns="0" bIns="0" rtlCol="0" anchor="ctr">
            <a:normAutofit/>
          </a:bodyPr>
          <a:lstStyle/>
          <a:p>
            <a:pPr algn="ctr" indent="0" marL="0">
              <a:buNone/>
            </a:pPr>
            <a:r>
              <a:rPr lang="en-US" sz="2100" b="1" dirty="0">
                <a:solidFill>
                  <a:srgbClr val="F6FAFF"/>
                </a:solidFill>
                <a:latin typeface="Aptos" pitchFamily="34" charset="0"/>
                <a:ea typeface="Aptos" pitchFamily="34" charset="-122"/>
                <a:cs typeface="Aptos" pitchFamily="34" charset="-120"/>
              </a:rPr>
              <a:t>Turn ideas into working tools</a:t>
            </a:r>
            <a:endParaRPr lang="en-US" sz="2100" dirty="0"/>
          </a:p>
        </p:txBody>
      </p:sp>
      <p:sp>
        <p:nvSpPr>
          <p:cNvPr id="29" name="Text 26"/>
          <p:cNvSpPr/>
          <p:nvPr/>
        </p:nvSpPr>
        <p:spPr>
          <a:xfrm>
            <a:off x="9528048" y="4663440"/>
            <a:ext cx="2258568" cy="530352"/>
          </a:xfrm>
          <a:prstGeom prst="rect">
            <a:avLst/>
          </a:prstGeom>
          <a:noFill/>
          <a:ln/>
        </p:spPr>
        <p:txBody>
          <a:bodyPr wrap="square" lIns="0" tIns="0" rIns="0" bIns="0" rtlCol="0" anchor="ctr">
            <a:normAutofit/>
          </a:bodyPr>
          <a:lstStyle/>
          <a:p>
            <a:pPr algn="ctr" indent="0" marL="0">
              <a:buNone/>
            </a:pPr>
            <a:r>
              <a:rPr lang="en-US" sz="1400" dirty="0">
                <a:solidFill>
                  <a:srgbClr val="B1C4DE"/>
                </a:solidFill>
                <a:latin typeface="Aptos" pitchFamily="34" charset="0"/>
                <a:ea typeface="Aptos" pitchFamily="34" charset="-122"/>
                <a:cs typeface="Aptos" pitchFamily="34" charset="-120"/>
              </a:rPr>
              <a:t>Smart Planner, testing &amp; iteration</a:t>
            </a:r>
            <a:endParaRPr lang="en-US" sz="1400" dirty="0"/>
          </a:p>
        </p:txBody>
      </p:sp>
      <p:sp>
        <p:nvSpPr>
          <p:cNvPr id="30" name="Shape 27"/>
          <p:cNvSpPr/>
          <p:nvPr/>
        </p:nvSpPr>
        <p:spPr>
          <a:xfrm>
            <a:off x="502920" y="6473952"/>
            <a:ext cx="11137392" cy="0"/>
          </a:xfrm>
          <a:prstGeom prst="line">
            <a:avLst/>
          </a:prstGeom>
          <a:noFill/>
          <a:ln w="8890">
            <a:solidFill>
              <a:srgbClr val="345477">
                <a:alpha val="65000"/>
              </a:srgbClr>
            </a:solidFill>
            <a:prstDash val="solid"/>
          </a:ln>
        </p:spPr>
      </p:sp>
      <p:sp>
        <p:nvSpPr>
          <p:cNvPr id="31" name="Text 28"/>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32" name="Text 29"/>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1874520"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1645920"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LET’S PLAY</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The AI Knowledge Challenge</a:t>
            </a:r>
            <a:endParaRPr lang="en-US" sz="3500" dirty="0"/>
          </a:p>
        </p:txBody>
      </p:sp>
      <p:sp>
        <p:nvSpPr>
          <p:cNvPr id="6" name="Shape 3"/>
          <p:cNvSpPr/>
          <p:nvPr/>
        </p:nvSpPr>
        <p:spPr>
          <a:xfrm>
            <a:off x="621792" y="2212848"/>
            <a:ext cx="6995160" cy="2496312"/>
          </a:xfrm>
          <a:prstGeom prst="roundRect">
            <a:avLst/>
          </a:prstGeom>
          <a:solidFill>
            <a:srgbClr val="142C51">
              <a:alpha val="88000"/>
            </a:srgbClr>
          </a:solidFill>
          <a:ln w="12700">
            <a:solidFill>
              <a:srgbClr val="4A739A">
                <a:alpha val="60000"/>
              </a:srgbClr>
            </a:solidFill>
            <a:prstDash val="solid"/>
          </a:ln>
        </p:spPr>
      </p:sp>
      <p:sp>
        <p:nvSpPr>
          <p:cNvPr id="7" name="Text 4"/>
          <p:cNvSpPr/>
          <p:nvPr/>
        </p:nvSpPr>
        <p:spPr>
          <a:xfrm>
            <a:off x="978408" y="2578608"/>
            <a:ext cx="6217920" cy="374904"/>
          </a:xfrm>
          <a:prstGeom prst="rect">
            <a:avLst/>
          </a:prstGeom>
          <a:noFill/>
          <a:ln/>
        </p:spPr>
        <p:txBody>
          <a:bodyPr wrap="square" lIns="0" tIns="0" rIns="0" bIns="0" rtlCol="0" anchor="ctr">
            <a:normAutofit/>
          </a:bodyPr>
          <a:lstStyle/>
          <a:p>
            <a:pPr indent="0" marL="0">
              <a:buNone/>
            </a:pPr>
            <a:r>
              <a:rPr lang="en-US" sz="2600" b="1" dirty="0">
                <a:solidFill>
                  <a:srgbClr val="49D3E1"/>
                </a:solidFill>
                <a:latin typeface="Aptos" pitchFamily="34" charset="0"/>
                <a:ea typeface="Aptos" pitchFamily="34" charset="-122"/>
                <a:cs typeface="Aptos" pitchFamily="34" charset="-120"/>
              </a:rPr>
              <a:t>8 questions   •   4 options   •   1 best answer</a:t>
            </a:r>
            <a:endParaRPr lang="en-US" sz="2600" dirty="0"/>
          </a:p>
        </p:txBody>
      </p:sp>
      <p:sp>
        <p:nvSpPr>
          <p:cNvPr id="8" name="Text 5"/>
          <p:cNvSpPr/>
          <p:nvPr/>
        </p:nvSpPr>
        <p:spPr>
          <a:xfrm>
            <a:off x="987552" y="3300984"/>
            <a:ext cx="6071616" cy="850392"/>
          </a:xfrm>
          <a:prstGeom prst="rect">
            <a:avLst/>
          </a:prstGeom>
          <a:noFill/>
          <a:ln/>
        </p:spPr>
        <p:txBody>
          <a:bodyPr wrap="square" lIns="0" tIns="0" rIns="0" bIns="0" rtlCol="0" anchor="ctr">
            <a:normAutofit/>
          </a:bodyPr>
          <a:lstStyle/>
          <a:p>
            <a:pPr indent="0" marL="0">
              <a:buNone/>
            </a:pPr>
            <a:r>
              <a:rPr lang="en-US" sz="2500" dirty="0">
                <a:solidFill>
                  <a:srgbClr val="F6FAFF"/>
                </a:solidFill>
                <a:latin typeface="Aptos" pitchFamily="34" charset="0"/>
                <a:ea typeface="Aptos" pitchFamily="34" charset="-122"/>
                <a:cs typeface="Aptos" pitchFamily="34" charset="-120"/>
              </a:rPr>
              <a:t>Think first. Choose an answer.</a:t>
            </a:r>
            <a:endParaRPr lang="en-US" sz="2500" dirty="0"/>
          </a:p>
          <a:p>
            <a:pPr indent="0" marL="0">
              <a:buNone/>
            </a:pPr>
            <a:r>
              <a:rPr lang="en-US" sz="2500" dirty="0">
                <a:solidFill>
                  <a:srgbClr val="F6FAFF"/>
                </a:solidFill>
                <a:latin typeface="Aptos" pitchFamily="34" charset="0"/>
                <a:ea typeface="Aptos" pitchFamily="34" charset="-122"/>
                <a:cs typeface="Aptos" pitchFamily="34" charset="-120"/>
              </a:rPr>
              <a:t>Discuss what makes it correct.</a:t>
            </a:r>
            <a:endParaRPr lang="en-US" sz="2500" dirty="0"/>
          </a:p>
        </p:txBody>
      </p:sp>
      <p:sp>
        <p:nvSpPr>
          <p:cNvPr id="9" name="Shape 6"/>
          <p:cNvSpPr/>
          <p:nvPr/>
        </p:nvSpPr>
        <p:spPr>
          <a:xfrm>
            <a:off x="8631936" y="2039112"/>
            <a:ext cx="2377440" cy="2377440"/>
          </a:xfrm>
          <a:prstGeom prst="ellipse">
            <a:avLst/>
          </a:prstGeom>
          <a:solidFill>
            <a:srgbClr val="468DEF">
              <a:alpha val="23000"/>
            </a:srgbClr>
          </a:solidFill>
          <a:ln w="15240">
            <a:solidFill>
              <a:srgbClr val="49D3E1">
                <a:alpha val="60000"/>
              </a:srgbClr>
            </a:solidFill>
            <a:prstDash val="solid"/>
          </a:ln>
        </p:spPr>
      </p:sp>
      <p:sp>
        <p:nvSpPr>
          <p:cNvPr id="10" name="Text 7"/>
          <p:cNvSpPr/>
          <p:nvPr/>
        </p:nvSpPr>
        <p:spPr>
          <a:xfrm>
            <a:off x="9262872" y="2295144"/>
            <a:ext cx="1042416" cy="1664208"/>
          </a:xfrm>
          <a:prstGeom prst="rect">
            <a:avLst/>
          </a:prstGeom>
          <a:noFill/>
          <a:ln/>
        </p:spPr>
        <p:txBody>
          <a:bodyPr wrap="square" lIns="0" tIns="0" rIns="0" bIns="0" rtlCol="0" anchor="ctr">
            <a:normAutofit/>
          </a:bodyPr>
          <a:lstStyle/>
          <a:p>
            <a:pPr algn="ctr" indent="0" marL="0">
              <a:buNone/>
            </a:pPr>
            <a:r>
              <a:rPr lang="en-US" sz="11400" b="1" dirty="0">
                <a:solidFill>
                  <a:srgbClr val="49D3E1"/>
                </a:solidFill>
                <a:latin typeface="Aptos" pitchFamily="34" charset="0"/>
                <a:ea typeface="Aptos" pitchFamily="34" charset="-122"/>
                <a:cs typeface="Aptos" pitchFamily="34" charset="-120"/>
              </a:rPr>
              <a:t>?</a:t>
            </a:r>
            <a:endParaRPr lang="en-US" sz="11400" dirty="0"/>
          </a:p>
        </p:txBody>
      </p:sp>
      <p:sp>
        <p:nvSpPr>
          <p:cNvPr id="11" name="Shape 8"/>
          <p:cNvSpPr/>
          <p:nvPr/>
        </p:nvSpPr>
        <p:spPr>
          <a:xfrm>
            <a:off x="502920" y="6473952"/>
            <a:ext cx="11137392" cy="0"/>
          </a:xfrm>
          <a:prstGeom prst="line">
            <a:avLst/>
          </a:prstGeom>
          <a:noFill/>
          <a:ln w="8890">
            <a:solidFill>
              <a:srgbClr val="345477">
                <a:alpha val="65000"/>
              </a:srgbClr>
            </a:solidFill>
            <a:prstDash val="solid"/>
          </a:ln>
        </p:spPr>
      </p:sp>
      <p:sp>
        <p:nvSpPr>
          <p:cNvPr id="12" name="Text 9"/>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13" name="Text 10"/>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834640"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94944" y="553212"/>
            <a:ext cx="2606040"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AI IN DAILY LIFE   •   Q1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Q1. Which is a familiar example of AI in everyday life?</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49D3E1">
              <a:alpha val="17000"/>
            </a:srgbClr>
          </a:solidFill>
          <a:ln w="12700">
            <a:solidFill>
              <a:srgbClr val="49D3E1">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 USB drive storing a document</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49D3E1">
              <a:alpha val="17000"/>
            </a:srgbClr>
          </a:solidFill>
          <a:ln w="12700">
            <a:solidFill>
              <a:srgbClr val="49D3E1">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Video recommendations based on viewing interests</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49D3E1">
              <a:alpha val="17000"/>
            </a:srgbClr>
          </a:solidFill>
          <a:ln w="12700">
            <a:solidFill>
              <a:srgbClr val="49D3E1">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 printer printing a PDF</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49D3E1">
              <a:alpha val="17000"/>
            </a:srgbClr>
          </a:solidFill>
          <a:ln w="12700">
            <a:solidFill>
              <a:srgbClr val="49D3E1">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 keyboard typing a message</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49D3E1"/>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3017520" cy="292608"/>
          </a:xfrm>
          <a:prstGeom prst="roundRect">
            <a:avLst>
              <a:gd name="adj" fmla="val 31250"/>
            </a:avLst>
          </a:prstGeom>
          <a:solidFill>
            <a:srgbClr val="51D8B9">
              <a:alpha val="18000"/>
            </a:srgbClr>
          </a:solidFill>
          <a:ln w="10160">
            <a:solidFill>
              <a:srgbClr val="51D8B9">
                <a:alpha val="55000"/>
              </a:srgbClr>
            </a:solidFill>
            <a:prstDash val="solid"/>
          </a:ln>
        </p:spPr>
      </p:sp>
      <p:sp>
        <p:nvSpPr>
          <p:cNvPr id="4" name="Text 1"/>
          <p:cNvSpPr/>
          <p:nvPr/>
        </p:nvSpPr>
        <p:spPr>
          <a:xfrm>
            <a:off x="694944" y="553212"/>
            <a:ext cx="2788920" cy="137160"/>
          </a:xfrm>
          <a:prstGeom prst="rect">
            <a:avLst/>
          </a:prstGeom>
          <a:noFill/>
          <a:ln/>
        </p:spPr>
        <p:txBody>
          <a:bodyPr wrap="square" lIns="0" tIns="0" rIns="0" bIns="0" rtlCol="0" anchor="ctr">
            <a:normAutofit/>
          </a:bodyPr>
          <a:lstStyle/>
          <a:p>
            <a:pPr indent="0" marL="0">
              <a:buNone/>
            </a:pPr>
            <a:r>
              <a:rPr lang="en-US" sz="1000" b="1" spc="115" kern="0" dirty="0">
                <a:solidFill>
                  <a:srgbClr val="51D8B9"/>
                </a:solidFill>
                <a:latin typeface="Aptos" pitchFamily="34" charset="0"/>
                <a:ea typeface="Aptos" pitchFamily="34" charset="-122"/>
                <a:cs typeface="Aptos" pitchFamily="34" charset="-120"/>
              </a:rPr>
              <a:t>PROMPT ENGINEERING   •   Q2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Q2. Which instruction is most likely to produce a useful AI response?</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51D8B9">
              <a:alpha val="17000"/>
            </a:srgbClr>
          </a:solidFill>
          <a:ln w="12700">
            <a:solidFill>
              <a:srgbClr val="51D8B9">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Explain it.</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51D8B9">
              <a:alpha val="17000"/>
            </a:srgbClr>
          </a:solidFill>
          <a:ln w="12700">
            <a:solidFill>
              <a:srgbClr val="51D8B9">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Write about computers, and make it nice.</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51D8B9">
              <a:alpha val="17000"/>
            </a:srgbClr>
          </a:solidFill>
          <a:ln w="12700">
            <a:solidFill>
              <a:srgbClr val="51D8B9">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Explain computer memory to a beginner with an example and three key points.</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51D8B9">
              <a:alpha val="17000"/>
            </a:srgbClr>
          </a:solidFill>
          <a:ln w="12700">
            <a:solidFill>
              <a:srgbClr val="51D8B9">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Give me everything you know.</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51D8B9"/>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743200" cy="292608"/>
          </a:xfrm>
          <a:prstGeom prst="roundRect">
            <a:avLst>
              <a:gd name="adj" fmla="val 31250"/>
            </a:avLst>
          </a:prstGeom>
          <a:solidFill>
            <a:srgbClr val="A8A0FE">
              <a:alpha val="18000"/>
            </a:srgbClr>
          </a:solidFill>
          <a:ln w="10160">
            <a:solidFill>
              <a:srgbClr val="A8A0FE">
                <a:alpha val="55000"/>
              </a:srgbClr>
            </a:solidFill>
            <a:prstDash val="solid"/>
          </a:ln>
        </p:spPr>
      </p:sp>
      <p:sp>
        <p:nvSpPr>
          <p:cNvPr id="4" name="Text 1"/>
          <p:cNvSpPr/>
          <p:nvPr/>
        </p:nvSpPr>
        <p:spPr>
          <a:xfrm>
            <a:off x="694944" y="553212"/>
            <a:ext cx="2514600" cy="137160"/>
          </a:xfrm>
          <a:prstGeom prst="rect">
            <a:avLst/>
          </a:prstGeom>
          <a:noFill/>
          <a:ln/>
        </p:spPr>
        <p:txBody>
          <a:bodyPr wrap="square" lIns="0" tIns="0" rIns="0" bIns="0" rtlCol="0" anchor="ctr">
            <a:normAutofit/>
          </a:bodyPr>
          <a:lstStyle/>
          <a:p>
            <a:pPr indent="0" marL="0">
              <a:buNone/>
            </a:pPr>
            <a:r>
              <a:rPr lang="en-US" sz="1000" b="1" spc="115" kern="0" dirty="0">
                <a:solidFill>
                  <a:srgbClr val="A8A0FE"/>
                </a:solidFill>
                <a:latin typeface="Aptos" pitchFamily="34" charset="0"/>
                <a:ea typeface="Aptos" pitchFamily="34" charset="-122"/>
                <a:cs typeface="Aptos" pitchFamily="34" charset="-120"/>
              </a:rPr>
              <a:t>LEARN WITH AI   •   Q3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Q3. What makes Gemini Notebook particularly useful for source-based learning?</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A8A0FE">
              <a:alpha val="17000"/>
            </a:srgbClr>
          </a:solidFill>
          <a:ln w="12700">
            <a:solidFill>
              <a:srgbClr val="A8A0FE">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It uses supplied sources and links answers to supporting passages.</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A8A0FE">
              <a:alpha val="17000"/>
            </a:srgbClr>
          </a:solidFill>
          <a:ln w="12700">
            <a:solidFill>
              <a:srgbClr val="A8A0FE">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It guarantees every uploaded document is accurate.</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A8A0FE">
              <a:alpha val="17000"/>
            </a:srgbClr>
          </a:solidFill>
          <a:ln w="12700">
            <a:solidFill>
              <a:srgbClr val="A8A0FE">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It replaces the need to read original sources.</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A8A0FE">
              <a:alpha val="17000"/>
            </a:srgbClr>
          </a:solidFill>
          <a:ln w="12700">
            <a:solidFill>
              <a:srgbClr val="A8A0FE">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It checks every claim against the entire internet automatically.</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A8A0FE"/>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926080" cy="292608"/>
          </a:xfrm>
          <a:prstGeom prst="roundRect">
            <a:avLst>
              <a:gd name="adj" fmla="val 31250"/>
            </a:avLst>
          </a:prstGeom>
          <a:solidFill>
            <a:srgbClr val="F3C56B">
              <a:alpha val="18000"/>
            </a:srgbClr>
          </a:solidFill>
          <a:ln w="10160">
            <a:solidFill>
              <a:srgbClr val="F3C56B">
                <a:alpha val="55000"/>
              </a:srgbClr>
            </a:solidFill>
            <a:prstDash val="solid"/>
          </a:ln>
        </p:spPr>
      </p:sp>
      <p:sp>
        <p:nvSpPr>
          <p:cNvPr id="4" name="Text 1"/>
          <p:cNvSpPr/>
          <p:nvPr/>
        </p:nvSpPr>
        <p:spPr>
          <a:xfrm>
            <a:off x="694944" y="553212"/>
            <a:ext cx="2697480" cy="137160"/>
          </a:xfrm>
          <a:prstGeom prst="rect">
            <a:avLst/>
          </a:prstGeom>
          <a:noFill/>
          <a:ln/>
        </p:spPr>
        <p:txBody>
          <a:bodyPr wrap="square" lIns="0" tIns="0" rIns="0" bIns="0" rtlCol="0" anchor="ctr">
            <a:normAutofit/>
          </a:bodyPr>
          <a:lstStyle/>
          <a:p>
            <a:pPr indent="0" marL="0">
              <a:buNone/>
            </a:pPr>
            <a:r>
              <a:rPr lang="en-US" sz="1000" b="1" spc="115" kern="0" dirty="0">
                <a:solidFill>
                  <a:srgbClr val="F3C56B"/>
                </a:solidFill>
                <a:latin typeface="Aptos" pitchFamily="34" charset="0"/>
                <a:ea typeface="Aptos" pitchFamily="34" charset="-122"/>
                <a:cs typeface="Aptos" pitchFamily="34" charset="-120"/>
              </a:rPr>
              <a:t>CRITICAL THINKING   •   Q4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Q4. Why should we verify important answers generated by AI?</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F3C56B">
              <a:alpha val="17000"/>
            </a:srgbClr>
          </a:solidFill>
          <a:ln w="12700">
            <a:solidFill>
              <a:srgbClr val="F3C56B">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AI never provides factual information.</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F3C56B">
              <a:alpha val="17000"/>
            </a:srgbClr>
          </a:solidFill>
          <a:ln w="12700">
            <a:solidFill>
              <a:srgbClr val="F3C56B">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AI responses are always verified automatically.</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F3C56B">
              <a:alpha val="17000"/>
            </a:srgbClr>
          </a:solidFill>
          <a:ln w="12700">
            <a:solidFill>
              <a:srgbClr val="F3C56B">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 confident tone proves a statement is correct.</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F3C56B">
              <a:alpha val="17000"/>
            </a:srgbClr>
          </a:solidFill>
          <a:ln w="12700">
            <a:solidFill>
              <a:srgbClr val="F3C56B">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An AI response can sound convincing while containing errors.</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F3C56B"/>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743200"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94944" y="553212"/>
            <a:ext cx="2514600"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CREATE WITH AI   •   Q5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Q5. In AI video production, what does image-to-video mean?</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49D3E1">
              <a:alpha val="17000"/>
            </a:srgbClr>
          </a:solidFill>
          <a:ln w="12700">
            <a:solidFill>
              <a:srgbClr val="49D3E1">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Animating a reference image into moving footage</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49D3E1">
              <a:alpha val="17000"/>
            </a:srgbClr>
          </a:solidFill>
          <a:ln w="12700">
            <a:solidFill>
              <a:srgbClr val="49D3E1">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Exporting one still frame from a movie</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49D3E1">
              <a:alpha val="17000"/>
            </a:srgbClr>
          </a:solidFill>
          <a:ln w="12700">
            <a:solidFill>
              <a:srgbClr val="49D3E1">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Shrinking an image file</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49D3E1">
              <a:alpha val="17000"/>
            </a:srgbClr>
          </a:solidFill>
          <a:ln w="12700">
            <a:solidFill>
              <a:srgbClr val="49D3E1">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49D3E1"/>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Converting a photo to a text document</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49D3E1"/>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3017520" cy="292608"/>
          </a:xfrm>
          <a:prstGeom prst="roundRect">
            <a:avLst>
              <a:gd name="adj" fmla="val 31250"/>
            </a:avLst>
          </a:prstGeom>
          <a:solidFill>
            <a:srgbClr val="51D8B9">
              <a:alpha val="18000"/>
            </a:srgbClr>
          </a:solidFill>
          <a:ln w="10160">
            <a:solidFill>
              <a:srgbClr val="51D8B9">
                <a:alpha val="55000"/>
              </a:srgbClr>
            </a:solidFill>
            <a:prstDash val="solid"/>
          </a:ln>
        </p:spPr>
      </p:sp>
      <p:sp>
        <p:nvSpPr>
          <p:cNvPr id="4" name="Text 1"/>
          <p:cNvSpPr/>
          <p:nvPr/>
        </p:nvSpPr>
        <p:spPr>
          <a:xfrm>
            <a:off x="694944" y="553212"/>
            <a:ext cx="2788920" cy="137160"/>
          </a:xfrm>
          <a:prstGeom prst="rect">
            <a:avLst/>
          </a:prstGeom>
          <a:noFill/>
          <a:ln/>
        </p:spPr>
        <p:txBody>
          <a:bodyPr wrap="square" lIns="0" tIns="0" rIns="0" bIns="0" rtlCol="0" anchor="ctr">
            <a:normAutofit/>
          </a:bodyPr>
          <a:lstStyle/>
          <a:p>
            <a:pPr indent="0" marL="0">
              <a:buNone/>
            </a:pPr>
            <a:r>
              <a:rPr lang="en-US" sz="1000" b="1" spc="115" kern="0" dirty="0">
                <a:solidFill>
                  <a:srgbClr val="51D8B9"/>
                </a:solidFill>
                <a:latin typeface="Aptos" pitchFamily="34" charset="0"/>
                <a:ea typeface="Aptos" pitchFamily="34" charset="-122"/>
                <a:cs typeface="Aptos" pitchFamily="34" charset="-120"/>
              </a:rPr>
              <a:t>AUDIO STORYTELLING   •   Q6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Q6. In a product advertisement, what is the main role of voiceover compared with background music?</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51D8B9">
              <a:alpha val="17000"/>
            </a:srgbClr>
          </a:solidFill>
          <a:ln w="12700">
            <a:solidFill>
              <a:srgbClr val="51D8B9">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Voiceover controls camera motion; music controls focus.</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51D8B9">
              <a:alpha val="17000"/>
            </a:srgbClr>
          </a:solidFill>
          <a:ln w="12700">
            <a:solidFill>
              <a:srgbClr val="51D8B9">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They both replace the need for visual storytelling.</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51D8B9">
              <a:alpha val="17000"/>
            </a:srgbClr>
          </a:solidFill>
          <a:ln w="12700">
            <a:solidFill>
              <a:srgbClr val="51D8B9">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Voiceover communicates spoken information; music supports the mood.</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51D8B9">
              <a:alpha val="17000"/>
            </a:srgbClr>
          </a:solidFill>
          <a:ln w="12700">
            <a:solidFill>
              <a:srgbClr val="51D8B9">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51D8B9"/>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Background music automatically verifies product claims.</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51D8B9"/>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743200" cy="292608"/>
          </a:xfrm>
          <a:prstGeom prst="roundRect">
            <a:avLst>
              <a:gd name="adj" fmla="val 31250"/>
            </a:avLst>
          </a:prstGeom>
          <a:solidFill>
            <a:srgbClr val="A8A0FE">
              <a:alpha val="18000"/>
            </a:srgbClr>
          </a:solidFill>
          <a:ln w="10160">
            <a:solidFill>
              <a:srgbClr val="A8A0FE">
                <a:alpha val="55000"/>
              </a:srgbClr>
            </a:solidFill>
            <a:prstDash val="solid"/>
          </a:ln>
        </p:spPr>
      </p:sp>
      <p:sp>
        <p:nvSpPr>
          <p:cNvPr id="4" name="Text 1"/>
          <p:cNvSpPr/>
          <p:nvPr/>
        </p:nvSpPr>
        <p:spPr>
          <a:xfrm>
            <a:off x="694944" y="553212"/>
            <a:ext cx="2514600" cy="137160"/>
          </a:xfrm>
          <a:prstGeom prst="rect">
            <a:avLst/>
          </a:prstGeom>
          <a:noFill/>
          <a:ln/>
        </p:spPr>
        <p:txBody>
          <a:bodyPr wrap="square" lIns="0" tIns="0" rIns="0" bIns="0" rtlCol="0" anchor="ctr">
            <a:normAutofit/>
          </a:bodyPr>
          <a:lstStyle/>
          <a:p>
            <a:pPr indent="0" marL="0">
              <a:buNone/>
            </a:pPr>
            <a:r>
              <a:rPr lang="en-US" sz="1000" b="1" spc="115" kern="0" dirty="0">
                <a:solidFill>
                  <a:srgbClr val="A8A0FE"/>
                </a:solidFill>
                <a:latin typeface="Aptos" pitchFamily="34" charset="0"/>
                <a:ea typeface="Aptos" pitchFamily="34" charset="-122"/>
                <a:cs typeface="Aptos" pitchFamily="34" charset="-120"/>
              </a:rPr>
              <a:t>BUILD WITH AI   •   Q7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Q7. What should you do after an AI tool generates a task-planning app?</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A8A0FE">
              <a:alpha val="17000"/>
            </a:srgbClr>
          </a:solidFill>
          <a:ln w="12700">
            <a:solidFill>
              <a:srgbClr val="A8A0FE">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Share it immediately without using it.</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A8A0FE">
              <a:alpha val="17000"/>
            </a:srgbClr>
          </a:solidFill>
          <a:ln w="12700">
            <a:solidFill>
              <a:srgbClr val="A8A0FE">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Test key interactions, calculations and data handling.</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A8A0FE">
              <a:alpha val="17000"/>
            </a:srgbClr>
          </a:solidFill>
          <a:ln w="12700">
            <a:solidFill>
              <a:srgbClr val="A8A0FE">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Remove input validation to make it simpler.</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A8A0FE">
              <a:alpha val="17000"/>
            </a:srgbClr>
          </a:solidFill>
          <a:ln w="12700">
            <a:solidFill>
              <a:srgbClr val="A8A0FE">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A8A0FE"/>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Avoid requesting improvements to the design.</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A8A0FE"/>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62F"/>
        </a:solidFill>
      </p:bgPr>
    </p:bg>
    <p:spTree>
      <p:nvGrpSpPr>
        <p:cNvPr id="1" name=""/>
        <p:cNvGrpSpPr/>
        <p:nvPr/>
      </p:nvGrpSpPr>
      <p:grpSpPr>
        <a:xfrm>
          <a:off x="0" y="0"/>
          <a:ext cx="0" cy="0"/>
          <a:chOff x="0" y="0"/>
          <a:chExt cx="0" cy="0"/>
        </a:xfrm>
      </p:grpSpPr>
      <p:pic>
        <p:nvPicPr>
          <p:cNvPr id="2" name="Image 0" descr="/mnt/data/_module5_work/bg_quiz.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 y="484632"/>
            <a:ext cx="2743200" cy="292608"/>
          </a:xfrm>
          <a:prstGeom prst="roundRect">
            <a:avLst>
              <a:gd name="adj" fmla="val 31250"/>
            </a:avLst>
          </a:prstGeom>
          <a:solidFill>
            <a:srgbClr val="F3C56B">
              <a:alpha val="18000"/>
            </a:srgbClr>
          </a:solidFill>
          <a:ln w="10160">
            <a:solidFill>
              <a:srgbClr val="F3C56B">
                <a:alpha val="55000"/>
              </a:srgbClr>
            </a:solidFill>
            <a:prstDash val="solid"/>
          </a:ln>
        </p:spPr>
      </p:sp>
      <p:sp>
        <p:nvSpPr>
          <p:cNvPr id="4" name="Text 1"/>
          <p:cNvSpPr/>
          <p:nvPr/>
        </p:nvSpPr>
        <p:spPr>
          <a:xfrm>
            <a:off x="694944" y="553212"/>
            <a:ext cx="2514600" cy="137160"/>
          </a:xfrm>
          <a:prstGeom prst="rect">
            <a:avLst/>
          </a:prstGeom>
          <a:noFill/>
          <a:ln/>
        </p:spPr>
        <p:txBody>
          <a:bodyPr wrap="square" lIns="0" tIns="0" rIns="0" bIns="0" rtlCol="0" anchor="ctr">
            <a:normAutofit/>
          </a:bodyPr>
          <a:lstStyle/>
          <a:p>
            <a:pPr indent="0" marL="0">
              <a:buNone/>
            </a:pPr>
            <a:r>
              <a:rPr lang="en-US" sz="1000" b="1" spc="115" kern="0" dirty="0">
                <a:solidFill>
                  <a:srgbClr val="F3C56B"/>
                </a:solidFill>
                <a:latin typeface="Aptos" pitchFamily="34" charset="0"/>
                <a:ea typeface="Aptos" pitchFamily="34" charset="-122"/>
                <a:cs typeface="Aptos" pitchFamily="34" charset="-120"/>
              </a:rPr>
              <a:t>RESPONSIBLE AI   •   Q8 / 8</a:t>
            </a:r>
            <a:endParaRPr lang="en-US" sz="1000" dirty="0"/>
          </a:p>
        </p:txBody>
      </p:sp>
      <p:sp>
        <p:nvSpPr>
          <p:cNvPr id="5" name="Text 2"/>
          <p:cNvSpPr/>
          <p:nvPr/>
        </p:nvSpPr>
        <p:spPr>
          <a:xfrm>
            <a:off x="585216" y="941832"/>
            <a:ext cx="11045952" cy="960120"/>
          </a:xfrm>
          <a:prstGeom prst="rect">
            <a:avLst/>
          </a:prstGeom>
          <a:noFill/>
          <a:ln/>
        </p:spPr>
        <p:txBody>
          <a:bodyPr wrap="square" lIns="0" tIns="0" rIns="0" bIns="0" rtlCol="0" anchor="ctr">
            <a:normAutofit/>
          </a:bodyPr>
          <a:lstStyle/>
          <a:p>
            <a:pPr indent="0" marL="0">
              <a:buNone/>
            </a:pPr>
            <a:r>
              <a:rPr lang="en-US" sz="2970" b="1" dirty="0">
                <a:solidFill>
                  <a:srgbClr val="F6FAFF"/>
                </a:solidFill>
                <a:latin typeface="Aptos" pitchFamily="34" charset="0"/>
                <a:ea typeface="Aptos" pitchFamily="34" charset="-122"/>
                <a:cs typeface="Aptos" pitchFamily="34" charset="-120"/>
              </a:rPr>
              <a:t>Q8. Which choice best demonstrates responsible AI use?</a:t>
            </a:r>
            <a:endParaRPr lang="en-US" sz="2970" dirty="0"/>
          </a:p>
        </p:txBody>
      </p:sp>
      <p:sp>
        <p:nvSpPr>
          <p:cNvPr id="6" name="Shape 3"/>
          <p:cNvSpPr/>
          <p:nvPr/>
        </p:nvSpPr>
        <p:spPr>
          <a:xfrm>
            <a:off x="612648" y="2331720"/>
            <a:ext cx="5522976" cy="1234440"/>
          </a:xfrm>
          <a:prstGeom prst="roundRect">
            <a:avLst/>
          </a:prstGeom>
          <a:solidFill>
            <a:srgbClr val="142C51">
              <a:alpha val="91000"/>
            </a:srgbClr>
          </a:solidFill>
          <a:ln w="12700">
            <a:solidFill>
              <a:srgbClr val="43749A">
                <a:alpha val="47000"/>
              </a:srgbClr>
            </a:solidFill>
            <a:prstDash val="solid"/>
          </a:ln>
        </p:spPr>
      </p:sp>
      <p:sp>
        <p:nvSpPr>
          <p:cNvPr id="7" name="Shape 4"/>
          <p:cNvSpPr/>
          <p:nvPr/>
        </p:nvSpPr>
        <p:spPr>
          <a:xfrm>
            <a:off x="795528" y="2660904"/>
            <a:ext cx="530352" cy="530352"/>
          </a:xfrm>
          <a:prstGeom prst="ellipse">
            <a:avLst/>
          </a:prstGeom>
          <a:solidFill>
            <a:srgbClr val="F3C56B">
              <a:alpha val="17000"/>
            </a:srgbClr>
          </a:solidFill>
          <a:ln w="12700">
            <a:solidFill>
              <a:srgbClr val="F3C56B">
                <a:alpha val="72000"/>
              </a:srgbClr>
            </a:solidFill>
            <a:prstDash val="solid"/>
          </a:ln>
        </p:spPr>
      </p:sp>
      <p:sp>
        <p:nvSpPr>
          <p:cNvPr id="8" name="Text 5"/>
          <p:cNvSpPr/>
          <p:nvPr/>
        </p:nvSpPr>
        <p:spPr>
          <a:xfrm>
            <a:off x="905256"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A</a:t>
            </a:r>
            <a:endParaRPr lang="en-US" sz="1740" dirty="0"/>
          </a:p>
        </p:txBody>
      </p:sp>
      <p:sp>
        <p:nvSpPr>
          <p:cNvPr id="9" name="Text 6"/>
          <p:cNvSpPr/>
          <p:nvPr/>
        </p:nvSpPr>
        <p:spPr>
          <a:xfrm>
            <a:off x="1508760"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Sharing passwords to get more personalised answers</a:t>
            </a:r>
            <a:endParaRPr lang="en-US" sz="1820" dirty="0"/>
          </a:p>
        </p:txBody>
      </p:sp>
      <p:sp>
        <p:nvSpPr>
          <p:cNvPr id="10" name="Shape 7"/>
          <p:cNvSpPr/>
          <p:nvPr/>
        </p:nvSpPr>
        <p:spPr>
          <a:xfrm>
            <a:off x="6400800" y="2331720"/>
            <a:ext cx="5522976" cy="1234440"/>
          </a:xfrm>
          <a:prstGeom prst="roundRect">
            <a:avLst/>
          </a:prstGeom>
          <a:solidFill>
            <a:srgbClr val="142C51">
              <a:alpha val="91000"/>
            </a:srgbClr>
          </a:solidFill>
          <a:ln w="12700">
            <a:solidFill>
              <a:srgbClr val="43749A">
                <a:alpha val="47000"/>
              </a:srgbClr>
            </a:solidFill>
            <a:prstDash val="solid"/>
          </a:ln>
        </p:spPr>
      </p:sp>
      <p:sp>
        <p:nvSpPr>
          <p:cNvPr id="11" name="Shape 8"/>
          <p:cNvSpPr/>
          <p:nvPr/>
        </p:nvSpPr>
        <p:spPr>
          <a:xfrm>
            <a:off x="6583680" y="2660904"/>
            <a:ext cx="530352" cy="530352"/>
          </a:xfrm>
          <a:prstGeom prst="ellipse">
            <a:avLst/>
          </a:prstGeom>
          <a:solidFill>
            <a:srgbClr val="F3C56B">
              <a:alpha val="17000"/>
            </a:srgbClr>
          </a:solidFill>
          <a:ln w="12700">
            <a:solidFill>
              <a:srgbClr val="F3C56B">
                <a:alpha val="72000"/>
              </a:srgbClr>
            </a:solidFill>
            <a:prstDash val="solid"/>
          </a:ln>
        </p:spPr>
      </p:sp>
      <p:sp>
        <p:nvSpPr>
          <p:cNvPr id="12" name="Text 9"/>
          <p:cNvSpPr/>
          <p:nvPr/>
        </p:nvSpPr>
        <p:spPr>
          <a:xfrm>
            <a:off x="6693408" y="2775204"/>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B</a:t>
            </a:r>
            <a:endParaRPr lang="en-US" sz="1740" dirty="0"/>
          </a:p>
        </p:txBody>
      </p:sp>
      <p:sp>
        <p:nvSpPr>
          <p:cNvPr id="13" name="Text 10"/>
          <p:cNvSpPr/>
          <p:nvPr/>
        </p:nvSpPr>
        <p:spPr>
          <a:xfrm>
            <a:off x="7296912" y="2569464"/>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Publishing generated claims without checking them</a:t>
            </a:r>
            <a:endParaRPr lang="en-US" sz="1820" dirty="0"/>
          </a:p>
        </p:txBody>
      </p:sp>
      <p:sp>
        <p:nvSpPr>
          <p:cNvPr id="14" name="Shape 11"/>
          <p:cNvSpPr/>
          <p:nvPr/>
        </p:nvSpPr>
        <p:spPr>
          <a:xfrm>
            <a:off x="612648"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5" name="Shape 12"/>
          <p:cNvSpPr/>
          <p:nvPr/>
        </p:nvSpPr>
        <p:spPr>
          <a:xfrm>
            <a:off x="795528" y="4187952"/>
            <a:ext cx="530352" cy="530352"/>
          </a:xfrm>
          <a:prstGeom prst="ellipse">
            <a:avLst/>
          </a:prstGeom>
          <a:solidFill>
            <a:srgbClr val="F3C56B">
              <a:alpha val="17000"/>
            </a:srgbClr>
          </a:solidFill>
          <a:ln w="12700">
            <a:solidFill>
              <a:srgbClr val="F3C56B">
                <a:alpha val="72000"/>
              </a:srgbClr>
            </a:solidFill>
            <a:prstDash val="solid"/>
          </a:ln>
        </p:spPr>
      </p:sp>
      <p:sp>
        <p:nvSpPr>
          <p:cNvPr id="16" name="Text 13"/>
          <p:cNvSpPr/>
          <p:nvPr/>
        </p:nvSpPr>
        <p:spPr>
          <a:xfrm>
            <a:off x="905256"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C</a:t>
            </a:r>
            <a:endParaRPr lang="en-US" sz="1740" dirty="0"/>
          </a:p>
        </p:txBody>
      </p:sp>
      <p:sp>
        <p:nvSpPr>
          <p:cNvPr id="17" name="Text 14"/>
          <p:cNvSpPr/>
          <p:nvPr/>
        </p:nvSpPr>
        <p:spPr>
          <a:xfrm>
            <a:off x="1508760"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Uploading confidential information to every AI tool</a:t>
            </a:r>
            <a:endParaRPr lang="en-US" sz="1820" dirty="0"/>
          </a:p>
        </p:txBody>
      </p:sp>
      <p:sp>
        <p:nvSpPr>
          <p:cNvPr id="18" name="Shape 15"/>
          <p:cNvSpPr/>
          <p:nvPr/>
        </p:nvSpPr>
        <p:spPr>
          <a:xfrm>
            <a:off x="6400800" y="3858768"/>
            <a:ext cx="5522976" cy="1234440"/>
          </a:xfrm>
          <a:prstGeom prst="roundRect">
            <a:avLst/>
          </a:prstGeom>
          <a:solidFill>
            <a:srgbClr val="142C51">
              <a:alpha val="91000"/>
            </a:srgbClr>
          </a:solidFill>
          <a:ln w="12700">
            <a:solidFill>
              <a:srgbClr val="43749A">
                <a:alpha val="47000"/>
              </a:srgbClr>
            </a:solidFill>
            <a:prstDash val="solid"/>
          </a:ln>
        </p:spPr>
      </p:sp>
      <p:sp>
        <p:nvSpPr>
          <p:cNvPr id="19" name="Shape 16"/>
          <p:cNvSpPr/>
          <p:nvPr/>
        </p:nvSpPr>
        <p:spPr>
          <a:xfrm>
            <a:off x="6583680" y="4187952"/>
            <a:ext cx="530352" cy="530352"/>
          </a:xfrm>
          <a:prstGeom prst="ellipse">
            <a:avLst/>
          </a:prstGeom>
          <a:solidFill>
            <a:srgbClr val="F3C56B">
              <a:alpha val="17000"/>
            </a:srgbClr>
          </a:solidFill>
          <a:ln w="12700">
            <a:solidFill>
              <a:srgbClr val="F3C56B">
                <a:alpha val="72000"/>
              </a:srgbClr>
            </a:solidFill>
            <a:prstDash val="solid"/>
          </a:ln>
        </p:spPr>
      </p:sp>
      <p:sp>
        <p:nvSpPr>
          <p:cNvPr id="20" name="Text 17"/>
          <p:cNvSpPr/>
          <p:nvPr/>
        </p:nvSpPr>
        <p:spPr>
          <a:xfrm>
            <a:off x="6693408" y="4302252"/>
            <a:ext cx="329184" cy="228600"/>
          </a:xfrm>
          <a:prstGeom prst="rect">
            <a:avLst/>
          </a:prstGeom>
          <a:noFill/>
          <a:ln/>
        </p:spPr>
        <p:txBody>
          <a:bodyPr wrap="square" lIns="0" tIns="0" rIns="0" bIns="0" rtlCol="0" anchor="ctr">
            <a:normAutofit/>
          </a:bodyPr>
          <a:lstStyle/>
          <a:p>
            <a:pPr algn="ctr" indent="0" marL="0">
              <a:buNone/>
            </a:pPr>
            <a:r>
              <a:rPr lang="en-US" sz="1740" b="1" dirty="0">
                <a:solidFill>
                  <a:srgbClr val="F3C56B"/>
                </a:solidFill>
                <a:latin typeface="Aptos" pitchFamily="34" charset="0"/>
                <a:ea typeface="Aptos" pitchFamily="34" charset="-122"/>
                <a:cs typeface="Aptos" pitchFamily="34" charset="-120"/>
              </a:rPr>
              <a:t>D</a:t>
            </a:r>
            <a:endParaRPr lang="en-US" sz="1740" dirty="0"/>
          </a:p>
        </p:txBody>
      </p:sp>
      <p:sp>
        <p:nvSpPr>
          <p:cNvPr id="21" name="Text 18"/>
          <p:cNvSpPr/>
          <p:nvPr/>
        </p:nvSpPr>
        <p:spPr>
          <a:xfrm>
            <a:off x="7296912" y="4096512"/>
            <a:ext cx="4389120" cy="795528"/>
          </a:xfrm>
          <a:prstGeom prst="rect">
            <a:avLst/>
          </a:prstGeom>
          <a:noFill/>
          <a:ln/>
        </p:spPr>
        <p:txBody>
          <a:bodyPr wrap="square" lIns="0" tIns="0" rIns="0" bIns="0" rtlCol="0" anchor="ctr">
            <a:normAutofit/>
          </a:bodyPr>
          <a:lstStyle/>
          <a:p>
            <a:pPr indent="0" marL="0">
              <a:buNone/>
            </a:pPr>
            <a:r>
              <a:rPr lang="en-US" sz="1820" dirty="0">
                <a:solidFill>
                  <a:srgbClr val="F6FAFF"/>
                </a:solidFill>
                <a:latin typeface="Aptos" pitchFamily="34" charset="0"/>
                <a:ea typeface="Aptos" pitchFamily="34" charset="-122"/>
                <a:cs typeface="Aptos" pitchFamily="34" charset="-120"/>
              </a:rPr>
              <a:t>Verifying outputs and protecting private or sensitive information</a:t>
            </a:r>
            <a:endParaRPr lang="en-US" sz="1820" dirty="0"/>
          </a:p>
        </p:txBody>
      </p:sp>
      <p:sp>
        <p:nvSpPr>
          <p:cNvPr id="22" name="Text 19"/>
          <p:cNvSpPr/>
          <p:nvPr/>
        </p:nvSpPr>
        <p:spPr>
          <a:xfrm>
            <a:off x="676656" y="5907024"/>
            <a:ext cx="6400800" cy="274320"/>
          </a:xfrm>
          <a:prstGeom prst="rect">
            <a:avLst/>
          </a:prstGeom>
          <a:noFill/>
          <a:ln/>
        </p:spPr>
        <p:txBody>
          <a:bodyPr wrap="square" lIns="0" tIns="0" rIns="0" bIns="0" rtlCol="0" anchor="ctr">
            <a:normAutofit/>
          </a:bodyPr>
          <a:lstStyle/>
          <a:p>
            <a:pPr indent="0" marL="0">
              <a:buNone/>
            </a:pPr>
            <a:r>
              <a:rPr lang="en-US" sz="1250" b="1" spc="170" kern="0" dirty="0">
                <a:solidFill>
                  <a:srgbClr val="F3C56B"/>
                </a:solidFill>
                <a:latin typeface="Aptos" pitchFamily="34" charset="0"/>
                <a:ea typeface="Aptos" pitchFamily="34" charset="-122"/>
                <a:cs typeface="Aptos" pitchFamily="34" charset="-120"/>
              </a:rPr>
              <a:t>CHOOSE THE BEST ANSWER</a:t>
            </a:r>
            <a:endParaRPr lang="en-US" sz="1250" dirty="0"/>
          </a:p>
        </p:txBody>
      </p:sp>
      <p:sp>
        <p:nvSpPr>
          <p:cNvPr id="23" name="Shape 20"/>
          <p:cNvSpPr/>
          <p:nvPr/>
        </p:nvSpPr>
        <p:spPr>
          <a:xfrm>
            <a:off x="502920" y="6473952"/>
            <a:ext cx="11137392" cy="0"/>
          </a:xfrm>
          <a:prstGeom prst="line">
            <a:avLst/>
          </a:prstGeom>
          <a:noFill/>
          <a:ln w="8890">
            <a:solidFill>
              <a:srgbClr val="345477">
                <a:alpha val="65000"/>
              </a:srgbClr>
            </a:solidFill>
            <a:prstDash val="solid"/>
          </a:ln>
        </p:spPr>
      </p:sp>
      <p:sp>
        <p:nvSpPr>
          <p:cNvPr id="24" name="Text 21"/>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5" name="Text 22"/>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62F"/>
        </a:solidFill>
      </p:bgPr>
    </p:bg>
    <p:spTree>
      <p:nvGrpSpPr>
        <p:cNvPr id="1" name=""/>
        <p:cNvGrpSpPr/>
        <p:nvPr/>
      </p:nvGrpSpPr>
      <p:grpSpPr>
        <a:xfrm>
          <a:off x="0" y="0"/>
          <a:ext cx="0" cy="0"/>
          <a:chOff x="0" y="0"/>
          <a:chExt cx="0" cy="0"/>
        </a:xfrm>
      </p:grpSpPr>
      <p:pic>
        <p:nvPicPr>
          <p:cNvPr id="2" name="Image 0" descr="/mnt/data/_module5_work/bg_pla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1880006"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1651406"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YOUR VOICE MATTERS</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Help make the next session even better.</a:t>
            </a:r>
            <a:endParaRPr lang="en-US" sz="3500" dirty="0"/>
          </a:p>
        </p:txBody>
      </p:sp>
      <p:sp>
        <p:nvSpPr>
          <p:cNvPr id="6" name="Shape 3"/>
          <p:cNvSpPr/>
          <p:nvPr/>
        </p:nvSpPr>
        <p:spPr>
          <a:xfrm>
            <a:off x="713232" y="2304288"/>
            <a:ext cx="3520440" cy="1828800"/>
          </a:xfrm>
          <a:prstGeom prst="roundRect">
            <a:avLst/>
          </a:prstGeom>
          <a:solidFill>
            <a:srgbClr val="142C51">
              <a:alpha val="87000"/>
            </a:srgbClr>
          </a:solidFill>
          <a:ln w="12700">
            <a:solidFill>
              <a:srgbClr val="49D3E1">
                <a:alpha val="48000"/>
              </a:srgbClr>
            </a:solidFill>
            <a:prstDash val="solid"/>
          </a:ln>
        </p:spPr>
      </p:sp>
      <p:sp>
        <p:nvSpPr>
          <p:cNvPr id="7" name="Text 4"/>
          <p:cNvSpPr/>
          <p:nvPr/>
        </p:nvSpPr>
        <p:spPr>
          <a:xfrm>
            <a:off x="978408" y="2596896"/>
            <a:ext cx="566928" cy="365760"/>
          </a:xfrm>
          <a:prstGeom prst="rect">
            <a:avLst/>
          </a:prstGeom>
          <a:noFill/>
          <a:ln/>
        </p:spPr>
        <p:txBody>
          <a:bodyPr wrap="square" lIns="0" tIns="0" rIns="0" bIns="0" rtlCol="0" anchor="ctr">
            <a:normAutofit/>
          </a:bodyPr>
          <a:lstStyle/>
          <a:p>
            <a:pPr indent="0" marL="0">
              <a:buNone/>
            </a:pPr>
            <a:r>
              <a:rPr lang="en-US" sz="2800" b="1" dirty="0">
                <a:solidFill>
                  <a:srgbClr val="49D3E1"/>
                </a:solidFill>
                <a:latin typeface="Aptos" pitchFamily="34" charset="0"/>
                <a:ea typeface="Aptos" pitchFamily="34" charset="-122"/>
                <a:cs typeface="Aptos" pitchFamily="34" charset="-120"/>
              </a:rPr>
              <a:t>01</a:t>
            </a:r>
            <a:endParaRPr lang="en-US" sz="2800" dirty="0"/>
          </a:p>
        </p:txBody>
      </p:sp>
      <p:sp>
        <p:nvSpPr>
          <p:cNvPr id="8" name="Text 5"/>
          <p:cNvSpPr/>
          <p:nvPr/>
        </p:nvSpPr>
        <p:spPr>
          <a:xfrm>
            <a:off x="978408" y="3172968"/>
            <a:ext cx="2944368" cy="585216"/>
          </a:xfrm>
          <a:prstGeom prst="rect">
            <a:avLst/>
          </a:prstGeom>
          <a:noFill/>
          <a:ln/>
        </p:spPr>
        <p:txBody>
          <a:bodyPr wrap="square" lIns="0" tIns="0" rIns="0" bIns="0" rtlCol="0" anchor="ctr">
            <a:normAutofit/>
          </a:bodyPr>
          <a:lstStyle/>
          <a:p>
            <a:pPr indent="0" marL="0">
              <a:buNone/>
            </a:pPr>
            <a:r>
              <a:rPr lang="en-US" sz="2170" b="1" dirty="0">
                <a:solidFill>
                  <a:srgbClr val="F6FAFF"/>
                </a:solidFill>
                <a:latin typeface="Aptos" pitchFamily="34" charset="0"/>
                <a:ea typeface="Aptos" pitchFamily="34" charset="-122"/>
                <a:cs typeface="Aptos" pitchFamily="34" charset="-120"/>
              </a:rPr>
              <a:t>What was most useful?</a:t>
            </a:r>
            <a:endParaRPr lang="en-US" sz="2170" dirty="0"/>
          </a:p>
        </p:txBody>
      </p:sp>
      <p:sp>
        <p:nvSpPr>
          <p:cNvPr id="9" name="Shape 6"/>
          <p:cNvSpPr/>
          <p:nvPr/>
        </p:nvSpPr>
        <p:spPr>
          <a:xfrm>
            <a:off x="4544568" y="2304288"/>
            <a:ext cx="3520440" cy="1828800"/>
          </a:xfrm>
          <a:prstGeom prst="roundRect">
            <a:avLst/>
          </a:prstGeom>
          <a:solidFill>
            <a:srgbClr val="142C51">
              <a:alpha val="87000"/>
            </a:srgbClr>
          </a:solidFill>
          <a:ln w="12700">
            <a:solidFill>
              <a:srgbClr val="51D8B9">
                <a:alpha val="48000"/>
              </a:srgbClr>
            </a:solidFill>
            <a:prstDash val="solid"/>
          </a:ln>
        </p:spPr>
      </p:sp>
      <p:sp>
        <p:nvSpPr>
          <p:cNvPr id="10" name="Text 7"/>
          <p:cNvSpPr/>
          <p:nvPr/>
        </p:nvSpPr>
        <p:spPr>
          <a:xfrm>
            <a:off x="4809744" y="2596896"/>
            <a:ext cx="566928" cy="365760"/>
          </a:xfrm>
          <a:prstGeom prst="rect">
            <a:avLst/>
          </a:prstGeom>
          <a:noFill/>
          <a:ln/>
        </p:spPr>
        <p:txBody>
          <a:bodyPr wrap="square" lIns="0" tIns="0" rIns="0" bIns="0" rtlCol="0" anchor="ctr">
            <a:normAutofit/>
          </a:bodyPr>
          <a:lstStyle/>
          <a:p>
            <a:pPr indent="0" marL="0">
              <a:buNone/>
            </a:pPr>
            <a:r>
              <a:rPr lang="en-US" sz="2800" b="1" dirty="0">
                <a:solidFill>
                  <a:srgbClr val="51D8B9"/>
                </a:solidFill>
                <a:latin typeface="Aptos" pitchFamily="34" charset="0"/>
                <a:ea typeface="Aptos" pitchFamily="34" charset="-122"/>
                <a:cs typeface="Aptos" pitchFamily="34" charset="-120"/>
              </a:rPr>
              <a:t>02</a:t>
            </a:r>
            <a:endParaRPr lang="en-US" sz="2800" dirty="0"/>
          </a:p>
        </p:txBody>
      </p:sp>
      <p:sp>
        <p:nvSpPr>
          <p:cNvPr id="11" name="Text 8"/>
          <p:cNvSpPr/>
          <p:nvPr/>
        </p:nvSpPr>
        <p:spPr>
          <a:xfrm>
            <a:off x="4809744" y="3172968"/>
            <a:ext cx="2944368" cy="585216"/>
          </a:xfrm>
          <a:prstGeom prst="rect">
            <a:avLst/>
          </a:prstGeom>
          <a:noFill/>
          <a:ln/>
        </p:spPr>
        <p:txBody>
          <a:bodyPr wrap="square" lIns="0" tIns="0" rIns="0" bIns="0" rtlCol="0" anchor="ctr">
            <a:normAutofit/>
          </a:bodyPr>
          <a:lstStyle/>
          <a:p>
            <a:pPr indent="0" marL="0">
              <a:buNone/>
            </a:pPr>
            <a:r>
              <a:rPr lang="en-US" sz="2170" b="1" dirty="0">
                <a:solidFill>
                  <a:srgbClr val="F6FAFF"/>
                </a:solidFill>
                <a:latin typeface="Aptos" pitchFamily="34" charset="0"/>
                <a:ea typeface="Aptos" pitchFamily="34" charset="-122"/>
                <a:cs typeface="Aptos" pitchFamily="34" charset="-120"/>
              </a:rPr>
              <a:t>How confident do you feel?</a:t>
            </a:r>
            <a:endParaRPr lang="en-US" sz="2170" dirty="0"/>
          </a:p>
        </p:txBody>
      </p:sp>
      <p:sp>
        <p:nvSpPr>
          <p:cNvPr id="12" name="Shape 9"/>
          <p:cNvSpPr/>
          <p:nvPr/>
        </p:nvSpPr>
        <p:spPr>
          <a:xfrm>
            <a:off x="8375904" y="2304288"/>
            <a:ext cx="3520440" cy="1828800"/>
          </a:xfrm>
          <a:prstGeom prst="roundRect">
            <a:avLst/>
          </a:prstGeom>
          <a:solidFill>
            <a:srgbClr val="142C51">
              <a:alpha val="87000"/>
            </a:srgbClr>
          </a:solidFill>
          <a:ln w="12700">
            <a:solidFill>
              <a:srgbClr val="A8A0FE">
                <a:alpha val="48000"/>
              </a:srgbClr>
            </a:solidFill>
            <a:prstDash val="solid"/>
          </a:ln>
        </p:spPr>
      </p:sp>
      <p:sp>
        <p:nvSpPr>
          <p:cNvPr id="13" name="Text 10"/>
          <p:cNvSpPr/>
          <p:nvPr/>
        </p:nvSpPr>
        <p:spPr>
          <a:xfrm>
            <a:off x="8641080" y="2596896"/>
            <a:ext cx="566928" cy="365760"/>
          </a:xfrm>
          <a:prstGeom prst="rect">
            <a:avLst/>
          </a:prstGeom>
          <a:noFill/>
          <a:ln/>
        </p:spPr>
        <p:txBody>
          <a:bodyPr wrap="square" lIns="0" tIns="0" rIns="0" bIns="0" rtlCol="0" anchor="ctr">
            <a:normAutofit/>
          </a:bodyPr>
          <a:lstStyle/>
          <a:p>
            <a:pPr indent="0" marL="0">
              <a:buNone/>
            </a:pPr>
            <a:r>
              <a:rPr lang="en-US" sz="2800" b="1" dirty="0">
                <a:solidFill>
                  <a:srgbClr val="A8A0FE"/>
                </a:solidFill>
                <a:latin typeface="Aptos" pitchFamily="34" charset="0"/>
                <a:ea typeface="Aptos" pitchFamily="34" charset="-122"/>
                <a:cs typeface="Aptos" pitchFamily="34" charset="-120"/>
              </a:rPr>
              <a:t>03</a:t>
            </a:r>
            <a:endParaRPr lang="en-US" sz="2800" dirty="0"/>
          </a:p>
        </p:txBody>
      </p:sp>
      <p:sp>
        <p:nvSpPr>
          <p:cNvPr id="14" name="Text 11"/>
          <p:cNvSpPr/>
          <p:nvPr/>
        </p:nvSpPr>
        <p:spPr>
          <a:xfrm>
            <a:off x="8641080" y="3172968"/>
            <a:ext cx="2944368" cy="585216"/>
          </a:xfrm>
          <a:prstGeom prst="rect">
            <a:avLst/>
          </a:prstGeom>
          <a:noFill/>
          <a:ln/>
        </p:spPr>
        <p:txBody>
          <a:bodyPr wrap="square" lIns="0" tIns="0" rIns="0" bIns="0" rtlCol="0" anchor="ctr">
            <a:normAutofit/>
          </a:bodyPr>
          <a:lstStyle/>
          <a:p>
            <a:pPr indent="0" marL="0">
              <a:buNone/>
            </a:pPr>
            <a:r>
              <a:rPr lang="en-US" sz="2170" b="1" dirty="0">
                <a:solidFill>
                  <a:srgbClr val="F6FAFF"/>
                </a:solidFill>
                <a:latin typeface="Aptos" pitchFamily="34" charset="0"/>
                <a:ea typeface="Aptos" pitchFamily="34" charset="-122"/>
                <a:cs typeface="Aptos" pitchFamily="34" charset="-120"/>
              </a:rPr>
              <a:t>What should we improve?</a:t>
            </a:r>
            <a:endParaRPr lang="en-US" sz="2170" dirty="0"/>
          </a:p>
        </p:txBody>
      </p:sp>
      <p:sp>
        <p:nvSpPr>
          <p:cNvPr id="15" name="Shape 12"/>
          <p:cNvSpPr/>
          <p:nvPr/>
        </p:nvSpPr>
        <p:spPr>
          <a:xfrm>
            <a:off x="749808" y="4736592"/>
            <a:ext cx="10698480" cy="585216"/>
          </a:xfrm>
          <a:prstGeom prst="roundRect">
            <a:avLst/>
          </a:prstGeom>
          <a:solidFill>
            <a:srgbClr val="173C64">
              <a:alpha val="90000"/>
            </a:srgbClr>
          </a:solidFill>
          <a:ln w="12700">
            <a:solidFill>
              <a:srgbClr val="49D3E1">
                <a:alpha val="27000"/>
              </a:srgbClr>
            </a:solidFill>
            <a:prstDash val="solid"/>
          </a:ln>
        </p:spPr>
      </p:sp>
      <p:sp>
        <p:nvSpPr>
          <p:cNvPr id="16" name="Text 13"/>
          <p:cNvSpPr/>
          <p:nvPr/>
        </p:nvSpPr>
        <p:spPr>
          <a:xfrm>
            <a:off x="960120" y="4937760"/>
            <a:ext cx="10287000" cy="201168"/>
          </a:xfrm>
          <a:prstGeom prst="rect">
            <a:avLst/>
          </a:prstGeom>
          <a:noFill/>
          <a:ln/>
        </p:spPr>
        <p:txBody>
          <a:bodyPr wrap="square" lIns="0" tIns="0" rIns="0" bIns="0" rtlCol="0" anchor="ctr">
            <a:normAutofit/>
          </a:bodyPr>
          <a:lstStyle/>
          <a:p>
            <a:pPr algn="ctr" indent="0" marL="0">
              <a:buNone/>
            </a:pPr>
            <a:r>
              <a:rPr lang="en-US" sz="1700" dirty="0">
                <a:solidFill>
                  <a:srgbClr val="B1C4DE"/>
                </a:solidFill>
                <a:latin typeface="Aptos" pitchFamily="34" charset="0"/>
                <a:ea typeface="Aptos" pitchFamily="34" charset="-122"/>
                <a:cs typeface="Aptos" pitchFamily="34" charset="-120"/>
              </a:rPr>
              <a:t>Use the feedback form shared by your organiser. Responses help improve future programmes.</a:t>
            </a:r>
            <a:endParaRPr lang="en-US" sz="1700" dirty="0"/>
          </a:p>
        </p:txBody>
      </p:sp>
      <p:sp>
        <p:nvSpPr>
          <p:cNvPr id="17" name="Shape 14"/>
          <p:cNvSpPr/>
          <p:nvPr/>
        </p:nvSpPr>
        <p:spPr>
          <a:xfrm>
            <a:off x="502920" y="6473952"/>
            <a:ext cx="11137392" cy="0"/>
          </a:xfrm>
          <a:prstGeom prst="line">
            <a:avLst/>
          </a:prstGeom>
          <a:noFill/>
          <a:ln w="8890">
            <a:solidFill>
              <a:srgbClr val="345477">
                <a:alpha val="65000"/>
              </a:srgbClr>
            </a:solidFill>
            <a:prstDash val="solid"/>
          </a:ln>
        </p:spPr>
      </p:sp>
      <p:sp>
        <p:nvSpPr>
          <p:cNvPr id="18" name="Text 15"/>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19" name="Text 16"/>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62F"/>
        </a:solidFill>
      </p:bgPr>
    </p:bg>
    <p:spTree>
      <p:nvGrpSpPr>
        <p:cNvPr id="1" name=""/>
        <p:cNvGrpSpPr/>
        <p:nvPr/>
      </p:nvGrpSpPr>
      <p:grpSpPr>
        <a:xfrm>
          <a:off x="0" y="0"/>
          <a:ext cx="0" cy="0"/>
          <a:chOff x="0" y="0"/>
          <a:chExt cx="0" cy="0"/>
        </a:xfrm>
      </p:grpSpPr>
      <p:pic>
        <p:nvPicPr>
          <p:cNvPr id="2" name="Image 0" descr="/mnt/data/_module5_work/bg_pla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1880006"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1651406"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WHAT HAPPENS NEXT?</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Three small habits. Meaningful progress.</a:t>
            </a:r>
            <a:endParaRPr lang="en-US" sz="3500" dirty="0"/>
          </a:p>
        </p:txBody>
      </p:sp>
      <p:sp>
        <p:nvSpPr>
          <p:cNvPr id="6" name="Shape 3"/>
          <p:cNvSpPr/>
          <p:nvPr/>
        </p:nvSpPr>
        <p:spPr>
          <a:xfrm>
            <a:off x="731520" y="2176272"/>
            <a:ext cx="3483864" cy="2615184"/>
          </a:xfrm>
          <a:prstGeom prst="roundRect">
            <a:avLst/>
          </a:prstGeom>
          <a:solidFill>
            <a:srgbClr val="142C51">
              <a:alpha val="88000"/>
            </a:srgbClr>
          </a:solidFill>
          <a:ln w="12700">
            <a:solidFill>
              <a:srgbClr val="49D3E1">
                <a:alpha val="50000"/>
              </a:srgbClr>
            </a:solidFill>
            <a:prstDash val="solid"/>
          </a:ln>
        </p:spPr>
      </p:sp>
      <p:sp>
        <p:nvSpPr>
          <p:cNvPr id="7" name="Text 4"/>
          <p:cNvSpPr/>
          <p:nvPr/>
        </p:nvSpPr>
        <p:spPr>
          <a:xfrm>
            <a:off x="1024128" y="2450592"/>
            <a:ext cx="713232" cy="384048"/>
          </a:xfrm>
          <a:prstGeom prst="rect">
            <a:avLst/>
          </a:prstGeom>
          <a:noFill/>
          <a:ln/>
        </p:spPr>
        <p:txBody>
          <a:bodyPr wrap="square" lIns="0" tIns="0" rIns="0" bIns="0" rtlCol="0" anchor="ctr">
            <a:normAutofit/>
          </a:bodyPr>
          <a:lstStyle/>
          <a:p>
            <a:pPr indent="0" marL="0">
              <a:buNone/>
            </a:pPr>
            <a:r>
              <a:rPr lang="en-US" sz="2900" b="1" dirty="0">
                <a:solidFill>
                  <a:srgbClr val="49D3E1"/>
                </a:solidFill>
                <a:latin typeface="Aptos" pitchFamily="34" charset="0"/>
                <a:ea typeface="Aptos" pitchFamily="34" charset="-122"/>
                <a:cs typeface="Aptos" pitchFamily="34" charset="-120"/>
              </a:rPr>
              <a:t>01</a:t>
            </a:r>
            <a:endParaRPr lang="en-US" sz="2900" dirty="0"/>
          </a:p>
        </p:txBody>
      </p:sp>
      <p:sp>
        <p:nvSpPr>
          <p:cNvPr id="8" name="Text 5"/>
          <p:cNvSpPr/>
          <p:nvPr/>
        </p:nvSpPr>
        <p:spPr>
          <a:xfrm>
            <a:off x="1024128" y="3054096"/>
            <a:ext cx="2697480" cy="393192"/>
          </a:xfrm>
          <a:prstGeom prst="rect">
            <a:avLst/>
          </a:prstGeom>
          <a:noFill/>
          <a:ln/>
        </p:spPr>
        <p:txBody>
          <a:bodyPr wrap="square" lIns="0" tIns="0" rIns="0" bIns="0" rtlCol="0" anchor="ctr">
            <a:normAutofit/>
          </a:bodyPr>
          <a:lstStyle/>
          <a:p>
            <a:pPr indent="0" marL="0">
              <a:buNone/>
            </a:pPr>
            <a:r>
              <a:rPr lang="en-US" sz="3000" b="1" dirty="0">
                <a:solidFill>
                  <a:srgbClr val="F6FAFF"/>
                </a:solidFill>
                <a:latin typeface="Aptos" pitchFamily="34" charset="0"/>
                <a:ea typeface="Aptos" pitchFamily="34" charset="-122"/>
                <a:cs typeface="Aptos" pitchFamily="34" charset="-120"/>
              </a:rPr>
              <a:t>TRY</a:t>
            </a:r>
            <a:endParaRPr lang="en-US" sz="3000" dirty="0"/>
          </a:p>
        </p:txBody>
      </p:sp>
      <p:sp>
        <p:nvSpPr>
          <p:cNvPr id="9" name="Text 6"/>
          <p:cNvSpPr/>
          <p:nvPr/>
        </p:nvSpPr>
        <p:spPr>
          <a:xfrm>
            <a:off x="1024128" y="3776472"/>
            <a:ext cx="2889504" cy="722376"/>
          </a:xfrm>
          <a:prstGeom prst="rect">
            <a:avLst/>
          </a:prstGeom>
          <a:noFill/>
          <a:ln/>
        </p:spPr>
        <p:txBody>
          <a:bodyPr wrap="square" lIns="0" tIns="0" rIns="0" bIns="0" rtlCol="0" anchor="ctr">
            <a:normAutofit/>
          </a:bodyPr>
          <a:lstStyle/>
          <a:p>
            <a:pPr indent="0" marL="0">
              <a:buNone/>
            </a:pPr>
            <a:r>
              <a:rPr lang="en-US" sz="1730" dirty="0">
                <a:solidFill>
                  <a:srgbClr val="B1C4DE"/>
                </a:solidFill>
                <a:latin typeface="Aptos" pitchFamily="34" charset="0"/>
                <a:ea typeface="Aptos" pitchFamily="34" charset="-122"/>
                <a:cs typeface="Aptos" pitchFamily="34" charset="-120"/>
              </a:rPr>
              <a:t>Choose one task and experiment with an AI tool.</a:t>
            </a:r>
            <a:endParaRPr lang="en-US" sz="1730" dirty="0"/>
          </a:p>
        </p:txBody>
      </p:sp>
      <p:sp>
        <p:nvSpPr>
          <p:cNvPr id="10" name="Shape 7"/>
          <p:cNvSpPr/>
          <p:nvPr/>
        </p:nvSpPr>
        <p:spPr>
          <a:xfrm>
            <a:off x="4535424" y="2176272"/>
            <a:ext cx="3483864" cy="2615184"/>
          </a:xfrm>
          <a:prstGeom prst="roundRect">
            <a:avLst/>
          </a:prstGeom>
          <a:solidFill>
            <a:srgbClr val="142C51">
              <a:alpha val="88000"/>
            </a:srgbClr>
          </a:solidFill>
          <a:ln w="12700">
            <a:solidFill>
              <a:srgbClr val="51D8B9">
                <a:alpha val="50000"/>
              </a:srgbClr>
            </a:solidFill>
            <a:prstDash val="solid"/>
          </a:ln>
        </p:spPr>
      </p:sp>
      <p:sp>
        <p:nvSpPr>
          <p:cNvPr id="11" name="Text 8"/>
          <p:cNvSpPr/>
          <p:nvPr/>
        </p:nvSpPr>
        <p:spPr>
          <a:xfrm>
            <a:off x="4828032" y="2450592"/>
            <a:ext cx="713232" cy="384048"/>
          </a:xfrm>
          <a:prstGeom prst="rect">
            <a:avLst/>
          </a:prstGeom>
          <a:noFill/>
          <a:ln/>
        </p:spPr>
        <p:txBody>
          <a:bodyPr wrap="square" lIns="0" tIns="0" rIns="0" bIns="0" rtlCol="0" anchor="ctr">
            <a:normAutofit/>
          </a:bodyPr>
          <a:lstStyle/>
          <a:p>
            <a:pPr indent="0" marL="0">
              <a:buNone/>
            </a:pPr>
            <a:r>
              <a:rPr lang="en-US" sz="2900" b="1" dirty="0">
                <a:solidFill>
                  <a:srgbClr val="51D8B9"/>
                </a:solidFill>
                <a:latin typeface="Aptos" pitchFamily="34" charset="0"/>
                <a:ea typeface="Aptos" pitchFamily="34" charset="-122"/>
                <a:cs typeface="Aptos" pitchFamily="34" charset="-120"/>
              </a:rPr>
              <a:t>02</a:t>
            </a:r>
            <a:endParaRPr lang="en-US" sz="2900" dirty="0"/>
          </a:p>
        </p:txBody>
      </p:sp>
      <p:sp>
        <p:nvSpPr>
          <p:cNvPr id="12" name="Text 9"/>
          <p:cNvSpPr/>
          <p:nvPr/>
        </p:nvSpPr>
        <p:spPr>
          <a:xfrm>
            <a:off x="4828032" y="3054096"/>
            <a:ext cx="2697480" cy="393192"/>
          </a:xfrm>
          <a:prstGeom prst="rect">
            <a:avLst/>
          </a:prstGeom>
          <a:noFill/>
          <a:ln/>
        </p:spPr>
        <p:txBody>
          <a:bodyPr wrap="square" lIns="0" tIns="0" rIns="0" bIns="0" rtlCol="0" anchor="ctr">
            <a:normAutofit/>
          </a:bodyPr>
          <a:lstStyle/>
          <a:p>
            <a:pPr indent="0" marL="0">
              <a:buNone/>
            </a:pPr>
            <a:r>
              <a:rPr lang="en-US" sz="3000" b="1" dirty="0">
                <a:solidFill>
                  <a:srgbClr val="F6FAFF"/>
                </a:solidFill>
                <a:latin typeface="Aptos" pitchFamily="34" charset="0"/>
                <a:ea typeface="Aptos" pitchFamily="34" charset="-122"/>
                <a:cs typeface="Aptos" pitchFamily="34" charset="-120"/>
              </a:rPr>
              <a:t>VERIFY</a:t>
            </a:r>
            <a:endParaRPr lang="en-US" sz="3000" dirty="0"/>
          </a:p>
        </p:txBody>
      </p:sp>
      <p:sp>
        <p:nvSpPr>
          <p:cNvPr id="13" name="Text 10"/>
          <p:cNvSpPr/>
          <p:nvPr/>
        </p:nvSpPr>
        <p:spPr>
          <a:xfrm>
            <a:off x="4828032" y="3776472"/>
            <a:ext cx="2889504" cy="722376"/>
          </a:xfrm>
          <a:prstGeom prst="rect">
            <a:avLst/>
          </a:prstGeom>
          <a:noFill/>
          <a:ln/>
        </p:spPr>
        <p:txBody>
          <a:bodyPr wrap="square" lIns="0" tIns="0" rIns="0" bIns="0" rtlCol="0" anchor="ctr">
            <a:normAutofit/>
          </a:bodyPr>
          <a:lstStyle/>
          <a:p>
            <a:pPr indent="0" marL="0">
              <a:buNone/>
            </a:pPr>
            <a:r>
              <a:rPr lang="en-US" sz="1730" dirty="0">
                <a:solidFill>
                  <a:srgbClr val="B1C4DE"/>
                </a:solidFill>
                <a:latin typeface="Aptos" pitchFamily="34" charset="0"/>
                <a:ea typeface="Aptos" pitchFamily="34" charset="-122"/>
                <a:cs typeface="Aptos" pitchFamily="34" charset="-120"/>
              </a:rPr>
              <a:t>Check important claims against trusted sources.</a:t>
            </a:r>
            <a:endParaRPr lang="en-US" sz="1730" dirty="0"/>
          </a:p>
        </p:txBody>
      </p:sp>
      <p:sp>
        <p:nvSpPr>
          <p:cNvPr id="14" name="Shape 11"/>
          <p:cNvSpPr/>
          <p:nvPr/>
        </p:nvSpPr>
        <p:spPr>
          <a:xfrm>
            <a:off x="8339328" y="2176272"/>
            <a:ext cx="3483864" cy="2615184"/>
          </a:xfrm>
          <a:prstGeom prst="roundRect">
            <a:avLst/>
          </a:prstGeom>
          <a:solidFill>
            <a:srgbClr val="142C51">
              <a:alpha val="88000"/>
            </a:srgbClr>
          </a:solidFill>
          <a:ln w="12700">
            <a:solidFill>
              <a:srgbClr val="F3C56B">
                <a:alpha val="50000"/>
              </a:srgbClr>
            </a:solidFill>
            <a:prstDash val="solid"/>
          </a:ln>
        </p:spPr>
      </p:sp>
      <p:sp>
        <p:nvSpPr>
          <p:cNvPr id="15" name="Text 12"/>
          <p:cNvSpPr/>
          <p:nvPr/>
        </p:nvSpPr>
        <p:spPr>
          <a:xfrm>
            <a:off x="8631936" y="2450592"/>
            <a:ext cx="713232" cy="384048"/>
          </a:xfrm>
          <a:prstGeom prst="rect">
            <a:avLst/>
          </a:prstGeom>
          <a:noFill/>
          <a:ln/>
        </p:spPr>
        <p:txBody>
          <a:bodyPr wrap="square" lIns="0" tIns="0" rIns="0" bIns="0" rtlCol="0" anchor="ctr">
            <a:normAutofit/>
          </a:bodyPr>
          <a:lstStyle/>
          <a:p>
            <a:pPr indent="0" marL="0">
              <a:buNone/>
            </a:pPr>
            <a:r>
              <a:rPr lang="en-US" sz="2900" b="1" dirty="0">
                <a:solidFill>
                  <a:srgbClr val="F3C56B"/>
                </a:solidFill>
                <a:latin typeface="Aptos" pitchFamily="34" charset="0"/>
                <a:ea typeface="Aptos" pitchFamily="34" charset="-122"/>
                <a:cs typeface="Aptos" pitchFamily="34" charset="-120"/>
              </a:rPr>
              <a:t>03</a:t>
            </a:r>
            <a:endParaRPr lang="en-US" sz="2900" dirty="0"/>
          </a:p>
        </p:txBody>
      </p:sp>
      <p:sp>
        <p:nvSpPr>
          <p:cNvPr id="16" name="Text 13"/>
          <p:cNvSpPr/>
          <p:nvPr/>
        </p:nvSpPr>
        <p:spPr>
          <a:xfrm>
            <a:off x="8631936" y="3054096"/>
            <a:ext cx="2697480" cy="393192"/>
          </a:xfrm>
          <a:prstGeom prst="rect">
            <a:avLst/>
          </a:prstGeom>
          <a:noFill/>
          <a:ln/>
        </p:spPr>
        <p:txBody>
          <a:bodyPr wrap="square" lIns="0" tIns="0" rIns="0" bIns="0" rtlCol="0" anchor="ctr">
            <a:normAutofit/>
          </a:bodyPr>
          <a:lstStyle/>
          <a:p>
            <a:pPr indent="0" marL="0">
              <a:buNone/>
            </a:pPr>
            <a:r>
              <a:rPr lang="en-US" sz="3000" b="1" dirty="0">
                <a:solidFill>
                  <a:srgbClr val="F6FAFF"/>
                </a:solidFill>
                <a:latin typeface="Aptos" pitchFamily="34" charset="0"/>
                <a:ea typeface="Aptos" pitchFamily="34" charset="-122"/>
                <a:cs typeface="Aptos" pitchFamily="34" charset="-120"/>
              </a:rPr>
              <a:t>IMPROVE</a:t>
            </a:r>
            <a:endParaRPr lang="en-US" sz="3000" dirty="0"/>
          </a:p>
        </p:txBody>
      </p:sp>
      <p:sp>
        <p:nvSpPr>
          <p:cNvPr id="17" name="Text 14"/>
          <p:cNvSpPr/>
          <p:nvPr/>
        </p:nvSpPr>
        <p:spPr>
          <a:xfrm>
            <a:off x="8631936" y="3776472"/>
            <a:ext cx="2889504" cy="722376"/>
          </a:xfrm>
          <a:prstGeom prst="rect">
            <a:avLst/>
          </a:prstGeom>
          <a:noFill/>
          <a:ln/>
        </p:spPr>
        <p:txBody>
          <a:bodyPr wrap="square" lIns="0" tIns="0" rIns="0" bIns="0" rtlCol="0" anchor="ctr">
            <a:normAutofit/>
          </a:bodyPr>
          <a:lstStyle/>
          <a:p>
            <a:pPr indent="0" marL="0">
              <a:buNone/>
            </a:pPr>
            <a:r>
              <a:rPr lang="en-US" sz="1730" dirty="0">
                <a:solidFill>
                  <a:srgbClr val="B1C4DE"/>
                </a:solidFill>
                <a:latin typeface="Aptos" pitchFamily="34" charset="0"/>
                <a:ea typeface="Aptos" pitchFamily="34" charset="-122"/>
                <a:cs typeface="Aptos" pitchFamily="34" charset="-120"/>
              </a:rPr>
              <a:t>Refine your prompt, test the result and try again.</a:t>
            </a:r>
            <a:endParaRPr lang="en-US" sz="1730" dirty="0"/>
          </a:p>
        </p:txBody>
      </p:sp>
      <p:sp>
        <p:nvSpPr>
          <p:cNvPr id="18" name="Shape 15"/>
          <p:cNvSpPr/>
          <p:nvPr/>
        </p:nvSpPr>
        <p:spPr>
          <a:xfrm>
            <a:off x="502920" y="6473952"/>
            <a:ext cx="11137392" cy="0"/>
          </a:xfrm>
          <a:prstGeom prst="line">
            <a:avLst/>
          </a:prstGeom>
          <a:noFill/>
          <a:ln w="8890">
            <a:solidFill>
              <a:srgbClr val="345477">
                <a:alpha val="65000"/>
              </a:srgbClr>
            </a:solidFill>
            <a:prstDash val="solid"/>
          </a:ln>
        </p:spPr>
      </p:sp>
      <p:sp>
        <p:nvSpPr>
          <p:cNvPr id="19" name="Text 16"/>
          <p:cNvSpPr/>
          <p:nvPr/>
        </p:nvSpPr>
        <p:spPr>
          <a:xfrm>
            <a:off x="548640" y="6528816"/>
            <a:ext cx="8595360" cy="137160"/>
          </a:xfrm>
          <a:prstGeom prst="rect">
            <a:avLst/>
          </a:prstGeom>
          <a:noFill/>
          <a:ln/>
        </p:spPr>
        <p:txBody>
          <a:bodyPr wrap="square" lIns="0" tIns="0" rIns="0" bIns="0" rtlCol="0" anchor="ctr">
            <a:normAutofit/>
          </a:bodyPr>
          <a:lstStyle/>
          <a:p>
            <a:pPr indent="0" marL="0">
              <a:buNone/>
            </a:pPr>
            <a:r>
              <a:rPr lang="en-US" sz="870" b="1" spc="200" kern="0" dirty="0">
                <a:solidFill>
                  <a:srgbClr val="B1C4DE"/>
                </a:solidFill>
                <a:latin typeface="Aptos" pitchFamily="34" charset="0"/>
                <a:ea typeface="Aptos" pitchFamily="34" charset="-122"/>
                <a:cs typeface="Aptos" pitchFamily="34" charset="-120"/>
              </a:rPr>
              <a:t>AI IN ACTION   •   LEARN  /  CREATE  /  BUILD</a:t>
            </a:r>
            <a:endParaRPr lang="en-US" sz="870" dirty="0"/>
          </a:p>
        </p:txBody>
      </p:sp>
      <p:sp>
        <p:nvSpPr>
          <p:cNvPr id="20" name="Text 17"/>
          <p:cNvSpPr/>
          <p:nvPr/>
        </p:nvSpPr>
        <p:spPr>
          <a:xfrm>
            <a:off x="11082528" y="6496812"/>
            <a:ext cx="475488" cy="182880"/>
          </a:xfrm>
          <a:prstGeom prst="rect">
            <a:avLst/>
          </a:prstGeom>
          <a:noFill/>
          <a:ln/>
        </p:spPr>
        <p:txBody>
          <a:bodyPr wrap="square" lIns="0" tIns="0" rIns="0" bIns="0" rtlCol="0" anchor="ctr">
            <a:normAutofit/>
          </a:bodyPr>
          <a:lstStyle/>
          <a:p>
            <a:pPr algn="r" indent="0" marL="0">
              <a:buNone/>
            </a:pPr>
            <a:r>
              <a:rPr lang="en-US" sz="1000" b="1" dirty="0">
                <a:solidFill>
                  <a:srgbClr val="B1C4DE"/>
                </a:solidFill>
                <a:latin typeface="Aptos" pitchFamily="34" charset="0"/>
                <a:ea typeface="Aptos" pitchFamily="34" charset="-122"/>
                <a:cs typeface="Aptos"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62F"/>
        </a:solidFill>
      </p:bgPr>
    </p:bg>
    <p:spTree>
      <p:nvGrpSpPr>
        <p:cNvPr id="1" name=""/>
        <p:cNvGrpSpPr/>
        <p:nvPr/>
      </p:nvGrpSpPr>
      <p:grpSpPr>
        <a:xfrm>
          <a:off x="0" y="0"/>
          <a:ext cx="0" cy="0"/>
          <a:chOff x="0" y="0"/>
          <a:chExt cx="0" cy="0"/>
        </a:xfrm>
      </p:grpSpPr>
      <p:pic>
        <p:nvPicPr>
          <p:cNvPr id="2" name="Image 0" descr="/mnt/data/_module5_work/bg_clos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85800" y="777240"/>
            <a:ext cx="1892808"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795528" y="845820"/>
            <a:ext cx="1664208"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AI IN ACTION</a:t>
            </a:r>
            <a:endParaRPr lang="en-US" sz="1000" dirty="0"/>
          </a:p>
        </p:txBody>
      </p:sp>
      <p:sp>
        <p:nvSpPr>
          <p:cNvPr id="5" name="Text 2"/>
          <p:cNvSpPr/>
          <p:nvPr/>
        </p:nvSpPr>
        <p:spPr>
          <a:xfrm>
            <a:off x="667512" y="1527048"/>
            <a:ext cx="8229600" cy="2715768"/>
          </a:xfrm>
          <a:prstGeom prst="rect">
            <a:avLst/>
          </a:prstGeom>
          <a:noFill/>
          <a:ln/>
        </p:spPr>
        <p:txBody>
          <a:bodyPr wrap="square" lIns="0" tIns="0" rIns="0" bIns="0" rtlCol="0" anchor="ctr">
            <a:normAutofit/>
          </a:bodyPr>
          <a:lstStyle/>
          <a:p>
            <a:pPr indent="0" marL="0">
              <a:buNone/>
            </a:pPr>
            <a:r>
              <a:rPr lang="en-US" sz="4700" b="1" dirty="0">
                <a:solidFill>
                  <a:srgbClr val="F6FAFF"/>
                </a:solidFill>
                <a:latin typeface="Aptos Display" pitchFamily="34" charset="0"/>
                <a:ea typeface="Aptos Display" pitchFamily="34" charset="-122"/>
                <a:cs typeface="Aptos Display" pitchFamily="34" charset="-120"/>
              </a:rPr>
              <a:t>Keep Learning.</a:t>
            </a:r>
            <a:endParaRPr lang="en-US" sz="4700" dirty="0"/>
          </a:p>
          <a:p>
            <a:pPr indent="0" marL="0">
              <a:buNone/>
            </a:pPr>
            <a:r>
              <a:rPr lang="en-US" sz="4700" b="1" dirty="0">
                <a:solidFill>
                  <a:srgbClr val="F6FAFF"/>
                </a:solidFill>
                <a:latin typeface="Aptos Display" pitchFamily="34" charset="0"/>
                <a:ea typeface="Aptos Display" pitchFamily="34" charset="-122"/>
                <a:cs typeface="Aptos Display" pitchFamily="34" charset="-120"/>
              </a:rPr>
              <a:t>Keep Creating.</a:t>
            </a:r>
            <a:endParaRPr lang="en-US" sz="4700" dirty="0"/>
          </a:p>
          <a:p>
            <a:pPr indent="0" marL="0">
              <a:buNone/>
            </a:pPr>
            <a:r>
              <a:rPr lang="en-US" sz="4700" b="1" dirty="0">
                <a:solidFill>
                  <a:srgbClr val="F6FAFF"/>
                </a:solidFill>
                <a:latin typeface="Aptos Display" pitchFamily="34" charset="0"/>
                <a:ea typeface="Aptos Display" pitchFamily="34" charset="-122"/>
                <a:cs typeface="Aptos Display" pitchFamily="34" charset="-120"/>
              </a:rPr>
              <a:t>Keep Building.</a:t>
            </a:r>
            <a:endParaRPr lang="en-US" sz="4700" dirty="0"/>
          </a:p>
        </p:txBody>
      </p:sp>
      <p:sp>
        <p:nvSpPr>
          <p:cNvPr id="6" name="Shape 3"/>
          <p:cNvSpPr/>
          <p:nvPr/>
        </p:nvSpPr>
        <p:spPr>
          <a:xfrm>
            <a:off x="713232" y="4709160"/>
            <a:ext cx="6903720" cy="0"/>
          </a:xfrm>
          <a:prstGeom prst="line">
            <a:avLst/>
          </a:prstGeom>
          <a:noFill/>
          <a:ln w="27940">
            <a:solidFill>
              <a:srgbClr val="49D3E1"/>
            </a:solidFill>
            <a:prstDash val="solid"/>
          </a:ln>
        </p:spPr>
      </p:sp>
      <p:sp>
        <p:nvSpPr>
          <p:cNvPr id="7" name="Text 4"/>
          <p:cNvSpPr/>
          <p:nvPr/>
        </p:nvSpPr>
        <p:spPr>
          <a:xfrm>
            <a:off x="722376" y="4965192"/>
            <a:ext cx="9052560" cy="658368"/>
          </a:xfrm>
          <a:prstGeom prst="rect">
            <a:avLst/>
          </a:prstGeom>
          <a:noFill/>
          <a:ln/>
        </p:spPr>
        <p:txBody>
          <a:bodyPr wrap="square" lIns="0" tIns="0" rIns="0" bIns="0" rtlCol="0" anchor="ctr">
            <a:normAutofit/>
          </a:bodyPr>
          <a:lstStyle/>
          <a:p>
            <a:pPr indent="0" marL="0">
              <a:buNone/>
            </a:pPr>
            <a:r>
              <a:rPr lang="en-US" sz="2100" dirty="0">
                <a:solidFill>
                  <a:srgbClr val="DDEEFF"/>
                </a:solidFill>
                <a:latin typeface="Aptos" pitchFamily="34" charset="0"/>
                <a:ea typeface="Aptos" pitchFamily="34" charset="-122"/>
                <a:cs typeface="Aptos" pitchFamily="34" charset="-120"/>
              </a:rPr>
              <a:t>The real power of AI lies in your curiosity, creativity and judgement.</a:t>
            </a:r>
            <a:endParaRPr lang="en-US" sz="2100" dirty="0"/>
          </a:p>
        </p:txBody>
      </p:sp>
      <p:sp>
        <p:nvSpPr>
          <p:cNvPr id="8" name="Text 5"/>
          <p:cNvSpPr/>
          <p:nvPr/>
        </p:nvSpPr>
        <p:spPr>
          <a:xfrm>
            <a:off x="713232" y="6007608"/>
            <a:ext cx="3749040" cy="265176"/>
          </a:xfrm>
          <a:prstGeom prst="rect">
            <a:avLst/>
          </a:prstGeom>
          <a:noFill/>
          <a:ln/>
        </p:spPr>
        <p:txBody>
          <a:bodyPr wrap="square" lIns="0" tIns="0" rIns="0" bIns="0" rtlCol="0" anchor="ctr">
            <a:normAutofit/>
          </a:bodyPr>
          <a:lstStyle/>
          <a:p>
            <a:pPr indent="0" marL="0">
              <a:buNone/>
            </a:pPr>
            <a:r>
              <a:rPr lang="en-US" sz="2100" b="1" spc="180" kern="0" dirty="0">
                <a:solidFill>
                  <a:srgbClr val="49D3E1"/>
                </a:solidFill>
                <a:latin typeface="Aptos" pitchFamily="34" charset="0"/>
                <a:ea typeface="Aptos" pitchFamily="34" charset="-122"/>
                <a:cs typeface="Aptos" pitchFamily="34" charset="-120"/>
              </a:rPr>
              <a:t>THANK YOU!</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07162F"/>
        </a:solidFill>
      </p:bgPr>
    </p:bg>
    <p:spTree>
      <p:nvGrpSpPr>
        <p:cNvPr id="1" name=""/>
        <p:cNvGrpSpPr/>
        <p:nvPr/>
      </p:nvGrpSpPr>
      <p:grpSpPr>
        <a:xfrm>
          <a:off x="0" y="0"/>
          <a:ext cx="0" cy="0"/>
          <a:chOff x="0" y="0"/>
          <a:chExt cx="0" cy="0"/>
        </a:xfrm>
      </p:grpSpPr>
      <p:pic>
        <p:nvPicPr>
          <p:cNvPr id="2" name="Image 0" descr="/mnt/data/_module5_work/bg_pla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2553005"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2324405"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PRIVATE — FACILITATOR ONLY</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Answer key and explanations</a:t>
            </a:r>
            <a:endParaRPr lang="en-US" sz="3500" dirty="0"/>
          </a:p>
        </p:txBody>
      </p:sp>
      <p:sp>
        <p:nvSpPr>
          <p:cNvPr id="6" name="Text 3"/>
          <p:cNvSpPr/>
          <p:nvPr/>
        </p:nvSpPr>
        <p:spPr>
          <a:xfrm>
            <a:off x="640080" y="1956816"/>
            <a:ext cx="5468112" cy="640080"/>
          </a:xfrm>
          <a:prstGeom prst="rect">
            <a:avLst/>
          </a:prstGeom>
          <a:noFill/>
          <a:ln/>
        </p:spPr>
        <p:txBody>
          <a:bodyPr wrap="square" lIns="0" tIns="0" rIns="0" bIns="0" rtlCol="0" anchor="ctr">
            <a:normAutofit/>
          </a:bodyPr>
          <a:lstStyle/>
          <a:p>
            <a:pPr indent="0" marL="0">
              <a:buNone/>
            </a:pPr>
            <a:r>
              <a:rPr lang="en-US" sz="1680" b="1" dirty="0">
                <a:solidFill>
                  <a:srgbClr val="49D3E1"/>
                </a:solidFill>
                <a:latin typeface="Aptos" pitchFamily="34" charset="0"/>
                <a:ea typeface="Aptos" pitchFamily="34" charset="-122"/>
                <a:cs typeface="Aptos" pitchFamily="34" charset="-120"/>
              </a:rPr>
              <a:t>Q1  B — Video recommendations based on viewing interests</a:t>
            </a:r>
            <a:endParaRPr lang="en-US" sz="1680" dirty="0"/>
          </a:p>
        </p:txBody>
      </p:sp>
      <p:sp>
        <p:nvSpPr>
          <p:cNvPr id="7" name="Text 4"/>
          <p:cNvSpPr/>
          <p:nvPr/>
        </p:nvSpPr>
        <p:spPr>
          <a:xfrm>
            <a:off x="640080" y="2916936"/>
            <a:ext cx="5468112" cy="640080"/>
          </a:xfrm>
          <a:prstGeom prst="rect">
            <a:avLst/>
          </a:prstGeom>
          <a:noFill/>
          <a:ln/>
        </p:spPr>
        <p:txBody>
          <a:bodyPr wrap="square" lIns="0" tIns="0" rIns="0" bIns="0" rtlCol="0" anchor="ctr">
            <a:normAutofit/>
          </a:bodyPr>
          <a:lstStyle/>
          <a:p>
            <a:pPr indent="0" marL="0">
              <a:buNone/>
            </a:pPr>
            <a:r>
              <a:rPr lang="en-US" sz="1680" b="1" dirty="0">
                <a:solidFill>
                  <a:srgbClr val="51D8B9"/>
                </a:solidFill>
                <a:latin typeface="Aptos" pitchFamily="34" charset="0"/>
                <a:ea typeface="Aptos" pitchFamily="34" charset="-122"/>
                <a:cs typeface="Aptos" pitchFamily="34" charset="-120"/>
              </a:rPr>
              <a:t>Q2  C — Explain computer memory to a beginner with an example and three key points.</a:t>
            </a:r>
            <a:endParaRPr lang="en-US" sz="1680" dirty="0"/>
          </a:p>
        </p:txBody>
      </p:sp>
      <p:sp>
        <p:nvSpPr>
          <p:cNvPr id="8" name="Text 5"/>
          <p:cNvSpPr/>
          <p:nvPr/>
        </p:nvSpPr>
        <p:spPr>
          <a:xfrm>
            <a:off x="640080" y="3877056"/>
            <a:ext cx="5468112" cy="640080"/>
          </a:xfrm>
          <a:prstGeom prst="rect">
            <a:avLst/>
          </a:prstGeom>
          <a:noFill/>
          <a:ln/>
        </p:spPr>
        <p:txBody>
          <a:bodyPr wrap="square" lIns="0" tIns="0" rIns="0" bIns="0" rtlCol="0" anchor="ctr">
            <a:normAutofit/>
          </a:bodyPr>
          <a:lstStyle/>
          <a:p>
            <a:pPr indent="0" marL="0">
              <a:buNone/>
            </a:pPr>
            <a:r>
              <a:rPr lang="en-US" sz="1680" b="1" dirty="0">
                <a:solidFill>
                  <a:srgbClr val="49D3E1"/>
                </a:solidFill>
                <a:latin typeface="Aptos" pitchFamily="34" charset="0"/>
                <a:ea typeface="Aptos" pitchFamily="34" charset="-122"/>
                <a:cs typeface="Aptos" pitchFamily="34" charset="-120"/>
              </a:rPr>
              <a:t>Q3  A — It uses supplied sources and links answers to supporting passages.</a:t>
            </a:r>
            <a:endParaRPr lang="en-US" sz="1680" dirty="0"/>
          </a:p>
        </p:txBody>
      </p:sp>
      <p:sp>
        <p:nvSpPr>
          <p:cNvPr id="9" name="Text 6"/>
          <p:cNvSpPr/>
          <p:nvPr/>
        </p:nvSpPr>
        <p:spPr>
          <a:xfrm>
            <a:off x="640080" y="4837176"/>
            <a:ext cx="5468112" cy="640080"/>
          </a:xfrm>
          <a:prstGeom prst="rect">
            <a:avLst/>
          </a:prstGeom>
          <a:noFill/>
          <a:ln/>
        </p:spPr>
        <p:txBody>
          <a:bodyPr wrap="square" lIns="0" tIns="0" rIns="0" bIns="0" rtlCol="0" anchor="ctr">
            <a:normAutofit/>
          </a:bodyPr>
          <a:lstStyle/>
          <a:p>
            <a:pPr indent="0" marL="0">
              <a:buNone/>
            </a:pPr>
            <a:r>
              <a:rPr lang="en-US" sz="1680" b="1" dirty="0">
                <a:solidFill>
                  <a:srgbClr val="51D8B9"/>
                </a:solidFill>
                <a:latin typeface="Aptos" pitchFamily="34" charset="0"/>
                <a:ea typeface="Aptos" pitchFamily="34" charset="-122"/>
                <a:cs typeface="Aptos" pitchFamily="34" charset="-120"/>
              </a:rPr>
              <a:t>Q4  D — An AI response can sound convincing while containing errors.</a:t>
            </a:r>
            <a:endParaRPr lang="en-US" sz="1680" dirty="0"/>
          </a:p>
        </p:txBody>
      </p:sp>
      <p:sp>
        <p:nvSpPr>
          <p:cNvPr id="10" name="Text 7"/>
          <p:cNvSpPr/>
          <p:nvPr/>
        </p:nvSpPr>
        <p:spPr>
          <a:xfrm>
            <a:off x="6537960" y="1956816"/>
            <a:ext cx="5468112" cy="640080"/>
          </a:xfrm>
          <a:prstGeom prst="rect">
            <a:avLst/>
          </a:prstGeom>
          <a:noFill/>
          <a:ln/>
        </p:spPr>
        <p:txBody>
          <a:bodyPr wrap="square" lIns="0" tIns="0" rIns="0" bIns="0" rtlCol="0" anchor="ctr">
            <a:normAutofit/>
          </a:bodyPr>
          <a:lstStyle/>
          <a:p>
            <a:pPr indent="0" marL="0">
              <a:buNone/>
            </a:pPr>
            <a:r>
              <a:rPr lang="en-US" sz="1680" b="1" dirty="0">
                <a:solidFill>
                  <a:srgbClr val="49D3E1"/>
                </a:solidFill>
                <a:latin typeface="Aptos" pitchFamily="34" charset="0"/>
                <a:ea typeface="Aptos" pitchFamily="34" charset="-122"/>
                <a:cs typeface="Aptos" pitchFamily="34" charset="-120"/>
              </a:rPr>
              <a:t>Q5  A — Animating a reference image into moving footage</a:t>
            </a:r>
            <a:endParaRPr lang="en-US" sz="1680" dirty="0"/>
          </a:p>
        </p:txBody>
      </p:sp>
      <p:sp>
        <p:nvSpPr>
          <p:cNvPr id="11" name="Text 8"/>
          <p:cNvSpPr/>
          <p:nvPr/>
        </p:nvSpPr>
        <p:spPr>
          <a:xfrm>
            <a:off x="6537960" y="2916936"/>
            <a:ext cx="5468112" cy="640080"/>
          </a:xfrm>
          <a:prstGeom prst="rect">
            <a:avLst/>
          </a:prstGeom>
          <a:noFill/>
          <a:ln/>
        </p:spPr>
        <p:txBody>
          <a:bodyPr wrap="square" lIns="0" tIns="0" rIns="0" bIns="0" rtlCol="0" anchor="ctr">
            <a:normAutofit/>
          </a:bodyPr>
          <a:lstStyle/>
          <a:p>
            <a:pPr indent="0" marL="0">
              <a:buNone/>
            </a:pPr>
            <a:r>
              <a:rPr lang="en-US" sz="1680" b="1" dirty="0">
                <a:solidFill>
                  <a:srgbClr val="51D8B9"/>
                </a:solidFill>
                <a:latin typeface="Aptos" pitchFamily="34" charset="0"/>
                <a:ea typeface="Aptos" pitchFamily="34" charset="-122"/>
                <a:cs typeface="Aptos" pitchFamily="34" charset="-120"/>
              </a:rPr>
              <a:t>Q6  C — Voiceover communicates spoken information; music supports the mood.</a:t>
            </a:r>
            <a:endParaRPr lang="en-US" sz="1680" dirty="0"/>
          </a:p>
        </p:txBody>
      </p:sp>
      <p:sp>
        <p:nvSpPr>
          <p:cNvPr id="12" name="Text 9"/>
          <p:cNvSpPr/>
          <p:nvPr/>
        </p:nvSpPr>
        <p:spPr>
          <a:xfrm>
            <a:off x="6537960" y="3877056"/>
            <a:ext cx="5468112" cy="640080"/>
          </a:xfrm>
          <a:prstGeom prst="rect">
            <a:avLst/>
          </a:prstGeom>
          <a:noFill/>
          <a:ln/>
        </p:spPr>
        <p:txBody>
          <a:bodyPr wrap="square" lIns="0" tIns="0" rIns="0" bIns="0" rtlCol="0" anchor="ctr">
            <a:normAutofit/>
          </a:bodyPr>
          <a:lstStyle/>
          <a:p>
            <a:pPr indent="0" marL="0">
              <a:buNone/>
            </a:pPr>
            <a:r>
              <a:rPr lang="en-US" sz="1680" b="1" dirty="0">
                <a:solidFill>
                  <a:srgbClr val="49D3E1"/>
                </a:solidFill>
                <a:latin typeface="Aptos" pitchFamily="34" charset="0"/>
                <a:ea typeface="Aptos" pitchFamily="34" charset="-122"/>
                <a:cs typeface="Aptos" pitchFamily="34" charset="-120"/>
              </a:rPr>
              <a:t>Q7  B — Test key interactions, calculations and data handling.</a:t>
            </a:r>
            <a:endParaRPr lang="en-US" sz="1680" dirty="0"/>
          </a:p>
        </p:txBody>
      </p:sp>
      <p:sp>
        <p:nvSpPr>
          <p:cNvPr id="13" name="Text 10"/>
          <p:cNvSpPr/>
          <p:nvPr/>
        </p:nvSpPr>
        <p:spPr>
          <a:xfrm>
            <a:off x="6537960" y="4837176"/>
            <a:ext cx="5468112" cy="640080"/>
          </a:xfrm>
          <a:prstGeom prst="rect">
            <a:avLst/>
          </a:prstGeom>
          <a:noFill/>
          <a:ln/>
        </p:spPr>
        <p:txBody>
          <a:bodyPr wrap="square" lIns="0" tIns="0" rIns="0" bIns="0" rtlCol="0" anchor="ctr">
            <a:normAutofit/>
          </a:bodyPr>
          <a:lstStyle/>
          <a:p>
            <a:pPr indent="0" marL="0">
              <a:buNone/>
            </a:pPr>
            <a:r>
              <a:rPr lang="en-US" sz="1680" b="1" dirty="0">
                <a:solidFill>
                  <a:srgbClr val="51D8B9"/>
                </a:solidFill>
                <a:latin typeface="Aptos" pitchFamily="34" charset="0"/>
                <a:ea typeface="Aptos" pitchFamily="34" charset="-122"/>
                <a:cs typeface="Aptos" pitchFamily="34" charset="-120"/>
              </a:rPr>
              <a:t>Q8  D — Verifying outputs and protecting private or sensitive information</a:t>
            </a: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07162F"/>
        </a:solidFill>
      </p:bgPr>
    </p:bg>
    <p:spTree>
      <p:nvGrpSpPr>
        <p:cNvPr id="1" name=""/>
        <p:cNvGrpSpPr/>
        <p:nvPr/>
      </p:nvGrpSpPr>
      <p:grpSpPr>
        <a:xfrm>
          <a:off x="0" y="0"/>
          <a:ext cx="0" cy="0"/>
          <a:chOff x="0" y="0"/>
          <a:chExt cx="0" cy="0"/>
        </a:xfrm>
      </p:grpSpPr>
      <p:pic>
        <p:nvPicPr>
          <p:cNvPr id="2" name="Image 0" descr="/mnt/data/_module5_work/bg_plain.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76072" y="493776"/>
            <a:ext cx="2553005" cy="292608"/>
          </a:xfrm>
          <a:prstGeom prst="roundRect">
            <a:avLst>
              <a:gd name="adj" fmla="val 31250"/>
            </a:avLst>
          </a:prstGeom>
          <a:solidFill>
            <a:srgbClr val="49D3E1">
              <a:alpha val="18000"/>
            </a:srgbClr>
          </a:solidFill>
          <a:ln w="10160">
            <a:solidFill>
              <a:srgbClr val="49D3E1">
                <a:alpha val="55000"/>
              </a:srgbClr>
            </a:solidFill>
            <a:prstDash val="solid"/>
          </a:ln>
        </p:spPr>
      </p:sp>
      <p:sp>
        <p:nvSpPr>
          <p:cNvPr id="4" name="Text 1"/>
          <p:cNvSpPr/>
          <p:nvPr/>
        </p:nvSpPr>
        <p:spPr>
          <a:xfrm>
            <a:off x="685800" y="562356"/>
            <a:ext cx="2324405" cy="137160"/>
          </a:xfrm>
          <a:prstGeom prst="rect">
            <a:avLst/>
          </a:prstGeom>
          <a:noFill/>
          <a:ln/>
        </p:spPr>
        <p:txBody>
          <a:bodyPr wrap="square" lIns="0" tIns="0" rIns="0" bIns="0" rtlCol="0" anchor="ctr">
            <a:normAutofit/>
          </a:bodyPr>
          <a:lstStyle/>
          <a:p>
            <a:pPr indent="0" marL="0">
              <a:buNone/>
            </a:pPr>
            <a:r>
              <a:rPr lang="en-US" sz="1000" b="1" spc="115" kern="0" dirty="0">
                <a:solidFill>
                  <a:srgbClr val="49D3E1"/>
                </a:solidFill>
                <a:latin typeface="Aptos" pitchFamily="34" charset="0"/>
                <a:ea typeface="Aptos" pitchFamily="34" charset="-122"/>
                <a:cs typeface="Aptos" pitchFamily="34" charset="-120"/>
              </a:rPr>
              <a:t>PRIVATE — FACILITATOR ONLY</a:t>
            </a:r>
            <a:endParaRPr lang="en-US" sz="1000" dirty="0"/>
          </a:p>
        </p:txBody>
      </p:sp>
      <p:sp>
        <p:nvSpPr>
          <p:cNvPr id="5" name="Text 2"/>
          <p:cNvSpPr/>
          <p:nvPr/>
        </p:nvSpPr>
        <p:spPr>
          <a:xfrm>
            <a:off x="566928" y="941832"/>
            <a:ext cx="10698480" cy="603504"/>
          </a:xfrm>
          <a:prstGeom prst="rect">
            <a:avLst/>
          </a:prstGeom>
          <a:noFill/>
          <a:ln/>
        </p:spPr>
        <p:txBody>
          <a:bodyPr wrap="square" lIns="0" tIns="0" rIns="0" bIns="0" rtlCol="0" anchor="ctr">
            <a:normAutofit/>
          </a:bodyPr>
          <a:lstStyle/>
          <a:p>
            <a:pPr indent="0" marL="0">
              <a:buNone/>
            </a:pPr>
            <a:r>
              <a:rPr lang="en-US" sz="3500" b="1" dirty="0">
                <a:solidFill>
                  <a:srgbClr val="F6FAFF"/>
                </a:solidFill>
                <a:latin typeface="Aptos" pitchFamily="34" charset="0"/>
                <a:ea typeface="Aptos" pitchFamily="34" charset="-122"/>
                <a:cs typeface="Aptos" pitchFamily="34" charset="-120"/>
              </a:rPr>
              <a:t>Readiness checklist</a:t>
            </a:r>
            <a:endParaRPr lang="en-US" sz="3500" dirty="0"/>
          </a:p>
        </p:txBody>
      </p:sp>
      <p:sp>
        <p:nvSpPr>
          <p:cNvPr id="6" name="Shape 3"/>
          <p:cNvSpPr/>
          <p:nvPr/>
        </p:nvSpPr>
        <p:spPr>
          <a:xfrm>
            <a:off x="731520" y="1828800"/>
            <a:ext cx="10588752" cy="502920"/>
          </a:xfrm>
          <a:prstGeom prst="roundRect">
            <a:avLst/>
          </a:prstGeom>
          <a:solidFill>
            <a:srgbClr val="142C51">
              <a:alpha val="82000"/>
            </a:srgbClr>
          </a:solidFill>
          <a:ln w="12700">
            <a:solidFill>
              <a:srgbClr val="345477">
                <a:alpha val="33000"/>
              </a:srgbClr>
            </a:solidFill>
            <a:prstDash val="solid"/>
          </a:ln>
        </p:spPr>
      </p:sp>
      <p:sp>
        <p:nvSpPr>
          <p:cNvPr id="7" name="Text 4"/>
          <p:cNvSpPr/>
          <p:nvPr/>
        </p:nvSpPr>
        <p:spPr>
          <a:xfrm>
            <a:off x="950976" y="1952244"/>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Google Form published and independently tested</a:t>
            </a:r>
            <a:endParaRPr lang="en-US" sz="1700" dirty="0"/>
          </a:p>
        </p:txBody>
      </p:sp>
      <p:sp>
        <p:nvSpPr>
          <p:cNvPr id="8" name="Shape 5"/>
          <p:cNvSpPr/>
          <p:nvPr/>
        </p:nvSpPr>
        <p:spPr>
          <a:xfrm>
            <a:off x="731520" y="2459736"/>
            <a:ext cx="10588752" cy="502920"/>
          </a:xfrm>
          <a:prstGeom prst="roundRect">
            <a:avLst/>
          </a:prstGeom>
          <a:solidFill>
            <a:srgbClr val="142C51">
              <a:alpha val="82000"/>
            </a:srgbClr>
          </a:solidFill>
          <a:ln w="12700">
            <a:solidFill>
              <a:srgbClr val="345477">
                <a:alpha val="33000"/>
              </a:srgbClr>
            </a:solidFill>
            <a:prstDash val="solid"/>
          </a:ln>
        </p:spPr>
      </p:sp>
      <p:sp>
        <p:nvSpPr>
          <p:cNvPr id="9" name="Text 6"/>
          <p:cNvSpPr/>
          <p:nvPr/>
        </p:nvSpPr>
        <p:spPr>
          <a:xfrm>
            <a:off x="950976" y="2583180"/>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QR generated only from the actual responder link</a:t>
            </a:r>
            <a:endParaRPr lang="en-US" sz="1700" dirty="0"/>
          </a:p>
        </p:txBody>
      </p:sp>
      <p:sp>
        <p:nvSpPr>
          <p:cNvPr id="10" name="Shape 7"/>
          <p:cNvSpPr/>
          <p:nvPr/>
        </p:nvSpPr>
        <p:spPr>
          <a:xfrm>
            <a:off x="731520" y="3090672"/>
            <a:ext cx="10588752" cy="502920"/>
          </a:xfrm>
          <a:prstGeom prst="roundRect">
            <a:avLst/>
          </a:prstGeom>
          <a:solidFill>
            <a:srgbClr val="142C51">
              <a:alpha val="82000"/>
            </a:srgbClr>
          </a:solidFill>
          <a:ln w="12700">
            <a:solidFill>
              <a:srgbClr val="345477">
                <a:alpha val="33000"/>
              </a:srgbClr>
            </a:solidFill>
            <a:prstDash val="solid"/>
          </a:ln>
        </p:spPr>
      </p:sp>
      <p:sp>
        <p:nvSpPr>
          <p:cNvPr id="11" name="Text 8"/>
          <p:cNvSpPr/>
          <p:nvPr/>
        </p:nvSpPr>
        <p:spPr>
          <a:xfrm>
            <a:off x="950976" y="3214116"/>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Audience deck has no notes, timings, or hidden slides</a:t>
            </a:r>
            <a:endParaRPr lang="en-US" sz="1700" dirty="0"/>
          </a:p>
        </p:txBody>
      </p:sp>
      <p:sp>
        <p:nvSpPr>
          <p:cNvPr id="12" name="Shape 9"/>
          <p:cNvSpPr/>
          <p:nvPr/>
        </p:nvSpPr>
        <p:spPr>
          <a:xfrm>
            <a:off x="731520" y="3721608"/>
            <a:ext cx="10588752" cy="502920"/>
          </a:xfrm>
          <a:prstGeom prst="roundRect">
            <a:avLst/>
          </a:prstGeom>
          <a:solidFill>
            <a:srgbClr val="142C51">
              <a:alpha val="82000"/>
            </a:srgbClr>
          </a:solidFill>
          <a:ln w="12700">
            <a:solidFill>
              <a:srgbClr val="345477">
                <a:alpha val="33000"/>
              </a:srgbClr>
            </a:solidFill>
            <a:prstDash val="solid"/>
          </a:ln>
        </p:spPr>
      </p:sp>
      <p:sp>
        <p:nvSpPr>
          <p:cNvPr id="13" name="Text 10"/>
          <p:cNvSpPr/>
          <p:nvPr/>
        </p:nvSpPr>
        <p:spPr>
          <a:xfrm>
            <a:off x="950976" y="3845052"/>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Eight correct answers reviewed against the guide</a:t>
            </a:r>
            <a:endParaRPr lang="en-US" sz="1700" dirty="0"/>
          </a:p>
        </p:txBody>
      </p:sp>
      <p:sp>
        <p:nvSpPr>
          <p:cNvPr id="14" name="Shape 11"/>
          <p:cNvSpPr/>
          <p:nvPr/>
        </p:nvSpPr>
        <p:spPr>
          <a:xfrm>
            <a:off x="731520" y="4352544"/>
            <a:ext cx="10588752" cy="502920"/>
          </a:xfrm>
          <a:prstGeom prst="roundRect">
            <a:avLst/>
          </a:prstGeom>
          <a:solidFill>
            <a:srgbClr val="142C51">
              <a:alpha val="82000"/>
            </a:srgbClr>
          </a:solidFill>
          <a:ln w="12700">
            <a:solidFill>
              <a:srgbClr val="345477">
                <a:alpha val="33000"/>
              </a:srgbClr>
            </a:solidFill>
            <a:prstDash val="solid"/>
          </a:ln>
        </p:spPr>
      </p:sp>
      <p:sp>
        <p:nvSpPr>
          <p:cNvPr id="15" name="Text 12"/>
          <p:cNvSpPr/>
          <p:nvPr/>
        </p:nvSpPr>
        <p:spPr>
          <a:xfrm>
            <a:off x="950976" y="4475988"/>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Offline fallback ready: hand votes or printed slips</a:t>
            </a:r>
            <a:endParaRPr lang="en-US" sz="1700" dirty="0"/>
          </a:p>
        </p:txBody>
      </p:sp>
      <p:sp>
        <p:nvSpPr>
          <p:cNvPr id="16" name="Shape 13"/>
          <p:cNvSpPr/>
          <p:nvPr/>
        </p:nvSpPr>
        <p:spPr>
          <a:xfrm>
            <a:off x="731520" y="4983480"/>
            <a:ext cx="10588752" cy="502920"/>
          </a:xfrm>
          <a:prstGeom prst="roundRect">
            <a:avLst/>
          </a:prstGeom>
          <a:solidFill>
            <a:srgbClr val="142C51">
              <a:alpha val="82000"/>
            </a:srgbClr>
          </a:solidFill>
          <a:ln w="12700">
            <a:solidFill>
              <a:srgbClr val="345477">
                <a:alpha val="33000"/>
              </a:srgbClr>
            </a:solidFill>
            <a:prstDash val="solid"/>
          </a:ln>
        </p:spPr>
      </p:sp>
      <p:sp>
        <p:nvSpPr>
          <p:cNvPr id="17" name="Text 14"/>
          <p:cNvSpPr/>
          <p:nvPr/>
        </p:nvSpPr>
        <p:spPr>
          <a:xfrm>
            <a:off x="950976" y="5106924"/>
            <a:ext cx="9966960" cy="256032"/>
          </a:xfrm>
          <a:prstGeom prst="rect">
            <a:avLst/>
          </a:prstGeom>
          <a:noFill/>
          <a:ln/>
        </p:spPr>
        <p:txBody>
          <a:bodyPr wrap="square" lIns="0" tIns="0" rIns="0" bIns="0" rtlCol="0" anchor="ctr">
            <a:normAutofit/>
          </a:bodyPr>
          <a:lstStyle/>
          <a:p>
            <a:pPr indent="0" marL="0">
              <a:buNone/>
            </a:pPr>
            <a:r>
              <a:rPr lang="en-US" sz="1700" dirty="0">
                <a:solidFill>
                  <a:srgbClr val="F6FAFF"/>
                </a:solidFill>
                <a:latin typeface="Aptos" pitchFamily="34" charset="0"/>
                <a:ea typeface="Aptos" pitchFamily="34" charset="-122"/>
                <a:cs typeface="Aptos" pitchFamily="34" charset="-120"/>
              </a:rPr>
              <a:t>☐  Participant feedback anonymous by default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AI Journey Starts Here</dc:title>
  <dc:subject>Reusable Module 5 audience and facilitator materials</dc:subject>
  <dc:creator>AI in Action — Learning Workshop</dc:creator>
  <cp:lastModifiedBy>AI in Action — Learning Workshop</cp:lastModifiedBy>
  <cp:revision>1</cp:revision>
  <dcterms:created xsi:type="dcterms:W3CDTF">2026-10-22T03:42:01Z</dcterms:created>
  <dcterms:modified xsi:type="dcterms:W3CDTF">2026-10-22T03:42:01Z</dcterms:modified>
</cp:coreProperties>
</file>