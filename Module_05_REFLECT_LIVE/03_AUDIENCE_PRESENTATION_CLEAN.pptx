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" y="758952"/>
            <a:ext cx="3959352" cy="292608"/>
          </a:xfrm>
          <a:prstGeom prst="roundRect">
            <a:avLst>
              <a:gd name="adj" fmla="val 31250"/>
            </a:avLst>
          </a:prstGeom>
          <a:solidFill>
            <a:srgbClr val="49D3E1">
              <a:alpha val="18000"/>
            </a:srgbClr>
          </a:solidFill>
          <a:ln w="10160">
            <a:solidFill>
              <a:srgbClr val="49D3E1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7240" y="827532"/>
            <a:ext cx="3730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05  •  INTERACTIVE CONCLUSION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76656" y="1527048"/>
            <a:ext cx="80010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AI Journey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Starts Here!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94944" y="34015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8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  •  Test Your Knowledge  •  Share Your Feedback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76656" y="4142232"/>
            <a:ext cx="6099048" cy="932688"/>
          </a:xfrm>
          <a:prstGeom prst="roundRect">
            <a:avLst/>
          </a:prstGeom>
          <a:solidFill>
            <a:srgbClr val="092444">
              <a:alpha val="82000"/>
            </a:srgbClr>
          </a:solidFill>
          <a:ln w="12700">
            <a:solidFill>
              <a:srgbClr val="3F7298">
                <a:alpha val="4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4453128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E4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  →   LEARN   →   CREATE   →   BUILD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pl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072" y="493776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49D3E1">
              <a:alpha val="18000"/>
            </a:srgbClr>
          </a:solidFill>
          <a:ln w="10160">
            <a:solidFill>
              <a:srgbClr val="49D3E1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56235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JOURNEY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941832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experiences. One new perspective.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576072" y="2148840"/>
            <a:ext cx="2761488" cy="3182112"/>
          </a:xfrm>
          <a:prstGeom prst="roundRect">
            <a:avLst/>
          </a:prstGeom>
          <a:solidFill>
            <a:srgbClr val="142C51">
              <a:alpha val="87000"/>
            </a:srgbClr>
          </a:solidFill>
          <a:ln w="12700">
            <a:solidFill>
              <a:srgbClr val="49D3E1">
                <a:alpha val="3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2423160"/>
            <a:ext cx="713232" cy="713232"/>
          </a:xfrm>
          <a:prstGeom prst="ellipse">
            <a:avLst/>
          </a:prstGeom>
          <a:solidFill>
            <a:srgbClr val="49D3E1">
              <a:alpha val="23000"/>
            </a:srgbClr>
          </a:solidFill>
          <a:ln w="12700">
            <a:solidFill>
              <a:srgbClr val="49D3E1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615184"/>
            <a:ext cx="420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" y="3429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40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5528" y="3840480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what AI can do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32104" y="4663440"/>
            <a:ext cx="2258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Everyday applications &amp; prompt quality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2148840"/>
            <a:ext cx="2761488" cy="3182112"/>
          </a:xfrm>
          <a:prstGeom prst="roundRect">
            <a:avLst/>
          </a:prstGeom>
          <a:solidFill>
            <a:srgbClr val="142C51">
              <a:alpha val="87000"/>
            </a:srgbClr>
          </a:solidFill>
          <a:ln w="12700">
            <a:solidFill>
              <a:srgbClr val="51D8B9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48456" y="2423160"/>
            <a:ext cx="713232" cy="713232"/>
          </a:xfrm>
          <a:prstGeom prst="ellipse">
            <a:avLst/>
          </a:prstGeom>
          <a:solidFill>
            <a:srgbClr val="51D8B9">
              <a:alpha val="23000"/>
            </a:srgbClr>
          </a:solidFill>
          <a:ln w="12700">
            <a:solidFill>
              <a:srgbClr val="51D8B9">
                <a:alpha val="8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94760" y="2615184"/>
            <a:ext cx="420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703320" y="3429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40" kern="0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94176" y="3840480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from trusted sources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730752" y="4663440"/>
            <a:ext cx="2258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Notebook summaries &amp; citations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73368" y="2148840"/>
            <a:ext cx="2761488" cy="3182112"/>
          </a:xfrm>
          <a:prstGeom prst="roundRect">
            <a:avLst/>
          </a:prstGeom>
          <a:solidFill>
            <a:srgbClr val="142C51">
              <a:alpha val="87000"/>
            </a:srgbClr>
          </a:solidFill>
          <a:ln w="12700">
            <a:solidFill>
              <a:srgbClr val="A8A0FE">
                <a:alpha val="38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47104" y="2423160"/>
            <a:ext cx="713232" cy="713232"/>
          </a:xfrm>
          <a:prstGeom prst="ellipse">
            <a:avLst/>
          </a:prstGeom>
          <a:solidFill>
            <a:srgbClr val="A8A0FE">
              <a:alpha val="23000"/>
            </a:srgbClr>
          </a:solidFill>
          <a:ln w="12700">
            <a:solidFill>
              <a:srgbClr val="A8A0FE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2615184"/>
            <a:ext cx="420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601968" y="3429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40" kern="0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592824" y="3840480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ideas into stories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6629400" y="4663440"/>
            <a:ext cx="2258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imagery, motion, narration &amp; music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272016" y="2148840"/>
            <a:ext cx="2761488" cy="3182112"/>
          </a:xfrm>
          <a:prstGeom prst="roundRect">
            <a:avLst/>
          </a:prstGeom>
          <a:solidFill>
            <a:srgbClr val="142C51">
              <a:alpha val="87000"/>
            </a:srgbClr>
          </a:solidFill>
          <a:ln w="12700">
            <a:solidFill>
              <a:srgbClr val="F3C56B">
                <a:alpha val="38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445752" y="2423160"/>
            <a:ext cx="713232" cy="713232"/>
          </a:xfrm>
          <a:prstGeom prst="ellipse">
            <a:avLst/>
          </a:prstGeom>
          <a:solidFill>
            <a:srgbClr val="F3C56B">
              <a:alpha val="23000"/>
            </a:srgbClr>
          </a:solidFill>
          <a:ln w="12700">
            <a:solidFill>
              <a:srgbClr val="F3C56B">
                <a:alpha val="8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92056" y="2615184"/>
            <a:ext cx="420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9500616" y="3429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40" kern="0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491472" y="3840480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ideas into working tools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9528048" y="4663440"/>
            <a:ext cx="2258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Planner, testing &amp; iteration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qui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072" y="493776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49D3E1">
              <a:alpha val="18000"/>
            </a:srgbClr>
          </a:solidFill>
          <a:ln w="10160">
            <a:solidFill>
              <a:srgbClr val="49D3E1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56235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LET’S PLAY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941832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Knowledge Challenge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621792" y="2212848"/>
            <a:ext cx="6995160" cy="2496312"/>
          </a:xfrm>
          <a:prstGeom prst="roundRect">
            <a:avLst/>
          </a:prstGeom>
          <a:solidFill>
            <a:srgbClr val="142C51">
              <a:alpha val="88000"/>
            </a:srgbClr>
          </a:solidFill>
          <a:ln w="12700">
            <a:solidFill>
              <a:srgbClr val="4A739A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8408" y="2578608"/>
            <a:ext cx="6217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questions   •   4 options   •   1 best answer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87552" y="3300984"/>
            <a:ext cx="60716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first. Choose an answer.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what makes it correct.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8631936" y="2039112"/>
            <a:ext cx="2377440" cy="2377440"/>
          </a:xfrm>
          <a:prstGeom prst="ellipse">
            <a:avLst/>
          </a:prstGeom>
          <a:solidFill>
            <a:srgbClr val="468DEF">
              <a:alpha val="23000"/>
            </a:srgbClr>
          </a:solidFill>
          <a:ln w="15240">
            <a:solidFill>
              <a:srgbClr val="49D3E1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62872" y="2295144"/>
            <a:ext cx="10424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400" dirty="0"/>
          </a:p>
        </p:txBody>
      </p:sp>
      <p:sp>
        <p:nvSpPr>
          <p:cNvPr id="11" name="Shape 8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qui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" y="484632"/>
            <a:ext cx="2834640" cy="292608"/>
          </a:xfrm>
          <a:prstGeom prst="roundRect">
            <a:avLst>
              <a:gd name="adj" fmla="val 31250"/>
            </a:avLst>
          </a:prstGeom>
          <a:solidFill>
            <a:srgbClr val="49D3E1">
              <a:alpha val="18000"/>
            </a:srgbClr>
          </a:solidFill>
          <a:ln w="10160">
            <a:solidFill>
              <a:srgbClr val="49D3E1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4944" y="553212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DAILY LIFE   •   Q1 / 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85216" y="941832"/>
            <a:ext cx="11045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Q1. Which is a familiar example of AI in everyday life?</a:t>
            </a:r>
            <a:endParaRPr lang="en-US" sz="2970" dirty="0"/>
          </a:p>
        </p:txBody>
      </p:sp>
      <p:sp>
        <p:nvSpPr>
          <p:cNvPr id="6" name="Shape 3"/>
          <p:cNvSpPr/>
          <p:nvPr/>
        </p:nvSpPr>
        <p:spPr>
          <a:xfrm>
            <a:off x="612648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" y="2660904"/>
            <a:ext cx="530352" cy="530352"/>
          </a:xfrm>
          <a:prstGeom prst="ellipse">
            <a:avLst/>
          </a:prstGeom>
          <a:solidFill>
            <a:srgbClr val="49D3E1">
              <a:alpha val="17000"/>
            </a:srgbClr>
          </a:solidFill>
          <a:ln w="12700">
            <a:solidFill>
              <a:srgbClr val="49D3E1">
                <a:alpha val="7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40" dirty="0"/>
          </a:p>
        </p:txBody>
      </p:sp>
      <p:sp>
        <p:nvSpPr>
          <p:cNvPr id="9" name="Text 6"/>
          <p:cNvSpPr/>
          <p:nvPr/>
        </p:nvSpPr>
        <p:spPr>
          <a:xfrm>
            <a:off x="1508760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USB drive storing a document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6400800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660904"/>
            <a:ext cx="530352" cy="530352"/>
          </a:xfrm>
          <a:prstGeom prst="ellipse">
            <a:avLst/>
          </a:prstGeom>
          <a:solidFill>
            <a:srgbClr val="49D3E1">
              <a:alpha val="17000"/>
            </a:srgbClr>
          </a:solidFill>
          <a:ln w="12700">
            <a:solidFill>
              <a:srgbClr val="49D3E1">
                <a:alpha val="7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296912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recommendations based on viewing interests</a:t>
            </a:r>
            <a:endParaRPr lang="en-US" sz="1820" dirty="0"/>
          </a:p>
        </p:txBody>
      </p:sp>
      <p:sp>
        <p:nvSpPr>
          <p:cNvPr id="14" name="Shape 11"/>
          <p:cNvSpPr/>
          <p:nvPr/>
        </p:nvSpPr>
        <p:spPr>
          <a:xfrm>
            <a:off x="612648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4187952"/>
            <a:ext cx="530352" cy="530352"/>
          </a:xfrm>
          <a:prstGeom prst="ellipse">
            <a:avLst/>
          </a:prstGeom>
          <a:solidFill>
            <a:srgbClr val="49D3E1">
              <a:alpha val="17000"/>
            </a:srgbClr>
          </a:solidFill>
          <a:ln w="12700">
            <a:solidFill>
              <a:srgbClr val="49D3E1">
                <a:alpha val="7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40" dirty="0"/>
          </a:p>
        </p:txBody>
      </p:sp>
      <p:sp>
        <p:nvSpPr>
          <p:cNvPr id="17" name="Text 14"/>
          <p:cNvSpPr/>
          <p:nvPr/>
        </p:nvSpPr>
        <p:spPr>
          <a:xfrm>
            <a:off x="1508760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printer printing a PDF</a:t>
            </a:r>
            <a:endParaRPr lang="en-US" sz="1820" dirty="0"/>
          </a:p>
        </p:txBody>
      </p:sp>
      <p:sp>
        <p:nvSpPr>
          <p:cNvPr id="18" name="Shape 15"/>
          <p:cNvSpPr/>
          <p:nvPr/>
        </p:nvSpPr>
        <p:spPr>
          <a:xfrm>
            <a:off x="6400800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4187952"/>
            <a:ext cx="530352" cy="530352"/>
          </a:xfrm>
          <a:prstGeom prst="ellipse">
            <a:avLst/>
          </a:prstGeom>
          <a:solidFill>
            <a:srgbClr val="49D3E1">
              <a:alpha val="17000"/>
            </a:srgbClr>
          </a:solidFill>
          <a:ln w="12700">
            <a:solidFill>
              <a:srgbClr val="49D3E1">
                <a:alpha val="7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740" dirty="0"/>
          </a:p>
        </p:txBody>
      </p:sp>
      <p:sp>
        <p:nvSpPr>
          <p:cNvPr id="21" name="Text 18"/>
          <p:cNvSpPr/>
          <p:nvPr/>
        </p:nvSpPr>
        <p:spPr>
          <a:xfrm>
            <a:off x="7296912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keyboard typing a message</a:t>
            </a:r>
            <a:endParaRPr lang="en-US" sz="1820" dirty="0"/>
          </a:p>
        </p:txBody>
      </p:sp>
      <p:sp>
        <p:nvSpPr>
          <p:cNvPr id="22" name="Text 19"/>
          <p:cNvSpPr/>
          <p:nvPr/>
        </p:nvSpPr>
        <p:spPr>
          <a:xfrm>
            <a:off x="676656" y="59070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qui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" y="484632"/>
            <a:ext cx="3017520" cy="292608"/>
          </a:xfrm>
          <a:prstGeom prst="roundRect">
            <a:avLst>
              <a:gd name="adj" fmla="val 31250"/>
            </a:avLst>
          </a:prstGeom>
          <a:solidFill>
            <a:srgbClr val="51D8B9">
              <a:alpha val="18000"/>
            </a:srgbClr>
          </a:solidFill>
          <a:ln w="10160">
            <a:solidFill>
              <a:srgbClr val="51D8B9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4944" y="553212"/>
            <a:ext cx="2788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ENGINEERING   •   Q2 / 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85216" y="941832"/>
            <a:ext cx="11045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Q2. Which instruction is most likely to produce a useful AI response?</a:t>
            </a:r>
            <a:endParaRPr lang="en-US" sz="2970" dirty="0"/>
          </a:p>
        </p:txBody>
      </p:sp>
      <p:sp>
        <p:nvSpPr>
          <p:cNvPr id="6" name="Shape 3"/>
          <p:cNvSpPr/>
          <p:nvPr/>
        </p:nvSpPr>
        <p:spPr>
          <a:xfrm>
            <a:off x="612648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" y="2660904"/>
            <a:ext cx="530352" cy="530352"/>
          </a:xfrm>
          <a:prstGeom prst="ellipse">
            <a:avLst/>
          </a:prstGeom>
          <a:solidFill>
            <a:srgbClr val="51D8B9">
              <a:alpha val="17000"/>
            </a:srgbClr>
          </a:solidFill>
          <a:ln w="12700">
            <a:solidFill>
              <a:srgbClr val="51D8B9">
                <a:alpha val="7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40" dirty="0"/>
          </a:p>
        </p:txBody>
      </p:sp>
      <p:sp>
        <p:nvSpPr>
          <p:cNvPr id="9" name="Text 6"/>
          <p:cNvSpPr/>
          <p:nvPr/>
        </p:nvSpPr>
        <p:spPr>
          <a:xfrm>
            <a:off x="1508760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it.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6400800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660904"/>
            <a:ext cx="530352" cy="530352"/>
          </a:xfrm>
          <a:prstGeom prst="ellipse">
            <a:avLst/>
          </a:prstGeom>
          <a:solidFill>
            <a:srgbClr val="51D8B9">
              <a:alpha val="17000"/>
            </a:srgbClr>
          </a:solidFill>
          <a:ln w="12700">
            <a:solidFill>
              <a:srgbClr val="51D8B9">
                <a:alpha val="7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296912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about computers, and make it nice.</a:t>
            </a:r>
            <a:endParaRPr lang="en-US" sz="1820" dirty="0"/>
          </a:p>
        </p:txBody>
      </p:sp>
      <p:sp>
        <p:nvSpPr>
          <p:cNvPr id="14" name="Shape 11"/>
          <p:cNvSpPr/>
          <p:nvPr/>
        </p:nvSpPr>
        <p:spPr>
          <a:xfrm>
            <a:off x="612648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4187952"/>
            <a:ext cx="530352" cy="530352"/>
          </a:xfrm>
          <a:prstGeom prst="ellipse">
            <a:avLst/>
          </a:prstGeom>
          <a:solidFill>
            <a:srgbClr val="51D8B9">
              <a:alpha val="17000"/>
            </a:srgbClr>
          </a:solidFill>
          <a:ln w="12700">
            <a:solidFill>
              <a:srgbClr val="51D8B9">
                <a:alpha val="7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40" dirty="0"/>
          </a:p>
        </p:txBody>
      </p:sp>
      <p:sp>
        <p:nvSpPr>
          <p:cNvPr id="17" name="Text 14"/>
          <p:cNvSpPr/>
          <p:nvPr/>
        </p:nvSpPr>
        <p:spPr>
          <a:xfrm>
            <a:off x="1508760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computer memory to a beginner with an example and three key points.</a:t>
            </a:r>
            <a:endParaRPr lang="en-US" sz="1820" dirty="0"/>
          </a:p>
        </p:txBody>
      </p:sp>
      <p:sp>
        <p:nvSpPr>
          <p:cNvPr id="18" name="Shape 15"/>
          <p:cNvSpPr/>
          <p:nvPr/>
        </p:nvSpPr>
        <p:spPr>
          <a:xfrm>
            <a:off x="6400800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4187952"/>
            <a:ext cx="530352" cy="530352"/>
          </a:xfrm>
          <a:prstGeom prst="ellipse">
            <a:avLst/>
          </a:prstGeom>
          <a:solidFill>
            <a:srgbClr val="51D8B9">
              <a:alpha val="17000"/>
            </a:srgbClr>
          </a:solidFill>
          <a:ln w="12700">
            <a:solidFill>
              <a:srgbClr val="51D8B9">
                <a:alpha val="7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740" dirty="0"/>
          </a:p>
        </p:txBody>
      </p:sp>
      <p:sp>
        <p:nvSpPr>
          <p:cNvPr id="21" name="Text 18"/>
          <p:cNvSpPr/>
          <p:nvPr/>
        </p:nvSpPr>
        <p:spPr>
          <a:xfrm>
            <a:off x="7296912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me everything you know.</a:t>
            </a:r>
            <a:endParaRPr lang="en-US" sz="1820" dirty="0"/>
          </a:p>
        </p:txBody>
      </p:sp>
      <p:sp>
        <p:nvSpPr>
          <p:cNvPr id="22" name="Text 19"/>
          <p:cNvSpPr/>
          <p:nvPr/>
        </p:nvSpPr>
        <p:spPr>
          <a:xfrm>
            <a:off x="676656" y="59070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qui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" y="484632"/>
            <a:ext cx="2743200" cy="292608"/>
          </a:xfrm>
          <a:prstGeom prst="roundRect">
            <a:avLst>
              <a:gd name="adj" fmla="val 31250"/>
            </a:avLst>
          </a:prstGeom>
          <a:solidFill>
            <a:srgbClr val="A8A0FE">
              <a:alpha val="18000"/>
            </a:srgbClr>
          </a:solidFill>
          <a:ln w="10160">
            <a:solidFill>
              <a:srgbClr val="A8A0FE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4944" y="553212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WITH AI   •   Q3 / 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85216" y="941832"/>
            <a:ext cx="11045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Q3. What makes Gemini Notebook particularly useful for source-based learning?</a:t>
            </a:r>
            <a:endParaRPr lang="en-US" sz="2970" dirty="0"/>
          </a:p>
        </p:txBody>
      </p:sp>
      <p:sp>
        <p:nvSpPr>
          <p:cNvPr id="6" name="Shape 3"/>
          <p:cNvSpPr/>
          <p:nvPr/>
        </p:nvSpPr>
        <p:spPr>
          <a:xfrm>
            <a:off x="612648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" y="2660904"/>
            <a:ext cx="530352" cy="530352"/>
          </a:xfrm>
          <a:prstGeom prst="ellipse">
            <a:avLst/>
          </a:prstGeom>
          <a:solidFill>
            <a:srgbClr val="A8A0FE">
              <a:alpha val="17000"/>
            </a:srgbClr>
          </a:solidFill>
          <a:ln w="12700">
            <a:solidFill>
              <a:srgbClr val="A8A0FE">
                <a:alpha val="7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40" dirty="0"/>
          </a:p>
        </p:txBody>
      </p:sp>
      <p:sp>
        <p:nvSpPr>
          <p:cNvPr id="9" name="Text 6"/>
          <p:cNvSpPr/>
          <p:nvPr/>
        </p:nvSpPr>
        <p:spPr>
          <a:xfrm>
            <a:off x="1508760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supplied sources and links answers to supporting passages.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6400800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660904"/>
            <a:ext cx="530352" cy="530352"/>
          </a:xfrm>
          <a:prstGeom prst="ellipse">
            <a:avLst/>
          </a:prstGeom>
          <a:solidFill>
            <a:srgbClr val="A8A0FE">
              <a:alpha val="17000"/>
            </a:srgbClr>
          </a:solidFill>
          <a:ln w="12700">
            <a:solidFill>
              <a:srgbClr val="A8A0FE">
                <a:alpha val="7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296912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guarantees every uploaded document is accurate.</a:t>
            </a:r>
            <a:endParaRPr lang="en-US" sz="1820" dirty="0"/>
          </a:p>
        </p:txBody>
      </p:sp>
      <p:sp>
        <p:nvSpPr>
          <p:cNvPr id="14" name="Shape 11"/>
          <p:cNvSpPr/>
          <p:nvPr/>
        </p:nvSpPr>
        <p:spPr>
          <a:xfrm>
            <a:off x="612648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4187952"/>
            <a:ext cx="530352" cy="530352"/>
          </a:xfrm>
          <a:prstGeom prst="ellipse">
            <a:avLst/>
          </a:prstGeom>
          <a:solidFill>
            <a:srgbClr val="A8A0FE">
              <a:alpha val="17000"/>
            </a:srgbClr>
          </a:solidFill>
          <a:ln w="12700">
            <a:solidFill>
              <a:srgbClr val="A8A0FE">
                <a:alpha val="7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40" dirty="0"/>
          </a:p>
        </p:txBody>
      </p:sp>
      <p:sp>
        <p:nvSpPr>
          <p:cNvPr id="17" name="Text 14"/>
          <p:cNvSpPr/>
          <p:nvPr/>
        </p:nvSpPr>
        <p:spPr>
          <a:xfrm>
            <a:off x="1508760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replaces the need to read original sources.</a:t>
            </a:r>
            <a:endParaRPr lang="en-US" sz="1820" dirty="0"/>
          </a:p>
        </p:txBody>
      </p:sp>
      <p:sp>
        <p:nvSpPr>
          <p:cNvPr id="18" name="Shape 15"/>
          <p:cNvSpPr/>
          <p:nvPr/>
        </p:nvSpPr>
        <p:spPr>
          <a:xfrm>
            <a:off x="6400800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4187952"/>
            <a:ext cx="530352" cy="530352"/>
          </a:xfrm>
          <a:prstGeom prst="ellipse">
            <a:avLst/>
          </a:prstGeom>
          <a:solidFill>
            <a:srgbClr val="A8A0FE">
              <a:alpha val="17000"/>
            </a:srgbClr>
          </a:solidFill>
          <a:ln w="12700">
            <a:solidFill>
              <a:srgbClr val="A8A0FE">
                <a:alpha val="7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740" dirty="0"/>
          </a:p>
        </p:txBody>
      </p:sp>
      <p:sp>
        <p:nvSpPr>
          <p:cNvPr id="21" name="Text 18"/>
          <p:cNvSpPr/>
          <p:nvPr/>
        </p:nvSpPr>
        <p:spPr>
          <a:xfrm>
            <a:off x="7296912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checks every claim against the entire internet automatically.</a:t>
            </a:r>
            <a:endParaRPr lang="en-US" sz="1820" dirty="0"/>
          </a:p>
        </p:txBody>
      </p:sp>
      <p:sp>
        <p:nvSpPr>
          <p:cNvPr id="22" name="Text 19"/>
          <p:cNvSpPr/>
          <p:nvPr/>
        </p:nvSpPr>
        <p:spPr>
          <a:xfrm>
            <a:off x="676656" y="59070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qui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" y="484632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F3C56B">
              <a:alpha val="18000"/>
            </a:srgbClr>
          </a:solidFill>
          <a:ln w="10160">
            <a:solidFill>
              <a:srgbClr val="F3C56B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4944" y="553212"/>
            <a:ext cx="2697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THINKING   •   Q4 / 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85216" y="941832"/>
            <a:ext cx="11045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Q4. Why should we verify important answers generated by AI?</a:t>
            </a:r>
            <a:endParaRPr lang="en-US" sz="2970" dirty="0"/>
          </a:p>
        </p:txBody>
      </p:sp>
      <p:sp>
        <p:nvSpPr>
          <p:cNvPr id="6" name="Shape 3"/>
          <p:cNvSpPr/>
          <p:nvPr/>
        </p:nvSpPr>
        <p:spPr>
          <a:xfrm>
            <a:off x="612648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" y="2660904"/>
            <a:ext cx="530352" cy="530352"/>
          </a:xfrm>
          <a:prstGeom prst="ellipse">
            <a:avLst/>
          </a:prstGeom>
          <a:solidFill>
            <a:srgbClr val="F3C56B">
              <a:alpha val="17000"/>
            </a:srgbClr>
          </a:solidFill>
          <a:ln w="12700">
            <a:solidFill>
              <a:srgbClr val="F3C56B">
                <a:alpha val="7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40" dirty="0"/>
          </a:p>
        </p:txBody>
      </p:sp>
      <p:sp>
        <p:nvSpPr>
          <p:cNvPr id="9" name="Text 6"/>
          <p:cNvSpPr/>
          <p:nvPr/>
        </p:nvSpPr>
        <p:spPr>
          <a:xfrm>
            <a:off x="1508760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never provides factual information.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6400800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660904"/>
            <a:ext cx="530352" cy="530352"/>
          </a:xfrm>
          <a:prstGeom prst="ellipse">
            <a:avLst/>
          </a:prstGeom>
          <a:solidFill>
            <a:srgbClr val="F3C56B">
              <a:alpha val="17000"/>
            </a:srgbClr>
          </a:solidFill>
          <a:ln w="12700">
            <a:solidFill>
              <a:srgbClr val="F3C56B">
                <a:alpha val="7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296912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responses are always verified automatically.</a:t>
            </a:r>
            <a:endParaRPr lang="en-US" sz="1820" dirty="0"/>
          </a:p>
        </p:txBody>
      </p:sp>
      <p:sp>
        <p:nvSpPr>
          <p:cNvPr id="14" name="Shape 11"/>
          <p:cNvSpPr/>
          <p:nvPr/>
        </p:nvSpPr>
        <p:spPr>
          <a:xfrm>
            <a:off x="612648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4187952"/>
            <a:ext cx="530352" cy="530352"/>
          </a:xfrm>
          <a:prstGeom prst="ellipse">
            <a:avLst/>
          </a:prstGeom>
          <a:solidFill>
            <a:srgbClr val="F3C56B">
              <a:alpha val="17000"/>
            </a:srgbClr>
          </a:solidFill>
          <a:ln w="12700">
            <a:solidFill>
              <a:srgbClr val="F3C56B">
                <a:alpha val="7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40" dirty="0"/>
          </a:p>
        </p:txBody>
      </p:sp>
      <p:sp>
        <p:nvSpPr>
          <p:cNvPr id="17" name="Text 14"/>
          <p:cNvSpPr/>
          <p:nvPr/>
        </p:nvSpPr>
        <p:spPr>
          <a:xfrm>
            <a:off x="1508760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confident tone proves a statement is correct.</a:t>
            </a:r>
            <a:endParaRPr lang="en-US" sz="1820" dirty="0"/>
          </a:p>
        </p:txBody>
      </p:sp>
      <p:sp>
        <p:nvSpPr>
          <p:cNvPr id="18" name="Shape 15"/>
          <p:cNvSpPr/>
          <p:nvPr/>
        </p:nvSpPr>
        <p:spPr>
          <a:xfrm>
            <a:off x="6400800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4187952"/>
            <a:ext cx="530352" cy="530352"/>
          </a:xfrm>
          <a:prstGeom prst="ellipse">
            <a:avLst/>
          </a:prstGeom>
          <a:solidFill>
            <a:srgbClr val="F3C56B">
              <a:alpha val="17000"/>
            </a:srgbClr>
          </a:solidFill>
          <a:ln w="12700">
            <a:solidFill>
              <a:srgbClr val="F3C56B">
                <a:alpha val="7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740" dirty="0"/>
          </a:p>
        </p:txBody>
      </p:sp>
      <p:sp>
        <p:nvSpPr>
          <p:cNvPr id="21" name="Text 18"/>
          <p:cNvSpPr/>
          <p:nvPr/>
        </p:nvSpPr>
        <p:spPr>
          <a:xfrm>
            <a:off x="7296912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response can sound convincing while containing errors.</a:t>
            </a:r>
            <a:endParaRPr lang="en-US" sz="1820" dirty="0"/>
          </a:p>
        </p:txBody>
      </p:sp>
      <p:sp>
        <p:nvSpPr>
          <p:cNvPr id="22" name="Text 19"/>
          <p:cNvSpPr/>
          <p:nvPr/>
        </p:nvSpPr>
        <p:spPr>
          <a:xfrm>
            <a:off x="676656" y="59070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qui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" y="484632"/>
            <a:ext cx="2743200" cy="292608"/>
          </a:xfrm>
          <a:prstGeom prst="roundRect">
            <a:avLst>
              <a:gd name="adj" fmla="val 31250"/>
            </a:avLst>
          </a:prstGeom>
          <a:solidFill>
            <a:srgbClr val="49D3E1">
              <a:alpha val="18000"/>
            </a:srgbClr>
          </a:solidFill>
          <a:ln w="10160">
            <a:solidFill>
              <a:srgbClr val="49D3E1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4944" y="553212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WITH AI   •   Q5 / 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85216" y="941832"/>
            <a:ext cx="11045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Q5. In AI video production, what does image-to-video mean?</a:t>
            </a:r>
            <a:endParaRPr lang="en-US" sz="2970" dirty="0"/>
          </a:p>
        </p:txBody>
      </p:sp>
      <p:sp>
        <p:nvSpPr>
          <p:cNvPr id="6" name="Shape 3"/>
          <p:cNvSpPr/>
          <p:nvPr/>
        </p:nvSpPr>
        <p:spPr>
          <a:xfrm>
            <a:off x="612648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" y="2660904"/>
            <a:ext cx="530352" cy="530352"/>
          </a:xfrm>
          <a:prstGeom prst="ellipse">
            <a:avLst/>
          </a:prstGeom>
          <a:solidFill>
            <a:srgbClr val="49D3E1">
              <a:alpha val="17000"/>
            </a:srgbClr>
          </a:solidFill>
          <a:ln w="12700">
            <a:solidFill>
              <a:srgbClr val="49D3E1">
                <a:alpha val="7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40" dirty="0"/>
          </a:p>
        </p:txBody>
      </p:sp>
      <p:sp>
        <p:nvSpPr>
          <p:cNvPr id="9" name="Text 6"/>
          <p:cNvSpPr/>
          <p:nvPr/>
        </p:nvSpPr>
        <p:spPr>
          <a:xfrm>
            <a:off x="1508760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Animating a reference image into moving footage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6400800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660904"/>
            <a:ext cx="530352" cy="530352"/>
          </a:xfrm>
          <a:prstGeom prst="ellipse">
            <a:avLst/>
          </a:prstGeom>
          <a:solidFill>
            <a:srgbClr val="49D3E1">
              <a:alpha val="17000"/>
            </a:srgbClr>
          </a:solidFill>
          <a:ln w="12700">
            <a:solidFill>
              <a:srgbClr val="49D3E1">
                <a:alpha val="7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296912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Exporting one still frame from a movie</a:t>
            </a:r>
            <a:endParaRPr lang="en-US" sz="1820" dirty="0"/>
          </a:p>
        </p:txBody>
      </p:sp>
      <p:sp>
        <p:nvSpPr>
          <p:cNvPr id="14" name="Shape 11"/>
          <p:cNvSpPr/>
          <p:nvPr/>
        </p:nvSpPr>
        <p:spPr>
          <a:xfrm>
            <a:off x="612648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4187952"/>
            <a:ext cx="530352" cy="530352"/>
          </a:xfrm>
          <a:prstGeom prst="ellipse">
            <a:avLst/>
          </a:prstGeom>
          <a:solidFill>
            <a:srgbClr val="49D3E1">
              <a:alpha val="17000"/>
            </a:srgbClr>
          </a:solidFill>
          <a:ln w="12700">
            <a:solidFill>
              <a:srgbClr val="49D3E1">
                <a:alpha val="7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40" dirty="0"/>
          </a:p>
        </p:txBody>
      </p:sp>
      <p:sp>
        <p:nvSpPr>
          <p:cNvPr id="17" name="Text 14"/>
          <p:cNvSpPr/>
          <p:nvPr/>
        </p:nvSpPr>
        <p:spPr>
          <a:xfrm>
            <a:off x="1508760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Shrinking an image file</a:t>
            </a:r>
            <a:endParaRPr lang="en-US" sz="1820" dirty="0"/>
          </a:p>
        </p:txBody>
      </p:sp>
      <p:sp>
        <p:nvSpPr>
          <p:cNvPr id="18" name="Shape 15"/>
          <p:cNvSpPr/>
          <p:nvPr/>
        </p:nvSpPr>
        <p:spPr>
          <a:xfrm>
            <a:off x="6400800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4187952"/>
            <a:ext cx="530352" cy="530352"/>
          </a:xfrm>
          <a:prstGeom prst="ellipse">
            <a:avLst/>
          </a:prstGeom>
          <a:solidFill>
            <a:srgbClr val="49D3E1">
              <a:alpha val="17000"/>
            </a:srgbClr>
          </a:solidFill>
          <a:ln w="12700">
            <a:solidFill>
              <a:srgbClr val="49D3E1">
                <a:alpha val="7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740" dirty="0"/>
          </a:p>
        </p:txBody>
      </p:sp>
      <p:sp>
        <p:nvSpPr>
          <p:cNvPr id="21" name="Text 18"/>
          <p:cNvSpPr/>
          <p:nvPr/>
        </p:nvSpPr>
        <p:spPr>
          <a:xfrm>
            <a:off x="7296912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Converting a photo to a text document</a:t>
            </a:r>
            <a:endParaRPr lang="en-US" sz="1820" dirty="0"/>
          </a:p>
        </p:txBody>
      </p:sp>
      <p:sp>
        <p:nvSpPr>
          <p:cNvPr id="22" name="Text 19"/>
          <p:cNvSpPr/>
          <p:nvPr/>
        </p:nvSpPr>
        <p:spPr>
          <a:xfrm>
            <a:off x="676656" y="59070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qui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" y="484632"/>
            <a:ext cx="3017520" cy="292608"/>
          </a:xfrm>
          <a:prstGeom prst="roundRect">
            <a:avLst>
              <a:gd name="adj" fmla="val 31250"/>
            </a:avLst>
          </a:prstGeom>
          <a:solidFill>
            <a:srgbClr val="51D8B9">
              <a:alpha val="18000"/>
            </a:srgbClr>
          </a:solidFill>
          <a:ln w="10160">
            <a:solidFill>
              <a:srgbClr val="51D8B9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4944" y="553212"/>
            <a:ext cx="2788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STORYTELLING   •   Q6 / 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85216" y="941832"/>
            <a:ext cx="11045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Q6. In a product advertisement, what is the main role of voiceover compared with background music?</a:t>
            </a:r>
            <a:endParaRPr lang="en-US" sz="2970" dirty="0"/>
          </a:p>
        </p:txBody>
      </p:sp>
      <p:sp>
        <p:nvSpPr>
          <p:cNvPr id="6" name="Shape 3"/>
          <p:cNvSpPr/>
          <p:nvPr/>
        </p:nvSpPr>
        <p:spPr>
          <a:xfrm>
            <a:off x="612648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" y="2660904"/>
            <a:ext cx="530352" cy="530352"/>
          </a:xfrm>
          <a:prstGeom prst="ellipse">
            <a:avLst/>
          </a:prstGeom>
          <a:solidFill>
            <a:srgbClr val="51D8B9">
              <a:alpha val="17000"/>
            </a:srgbClr>
          </a:solidFill>
          <a:ln w="12700">
            <a:solidFill>
              <a:srgbClr val="51D8B9">
                <a:alpha val="7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40" dirty="0"/>
          </a:p>
        </p:txBody>
      </p:sp>
      <p:sp>
        <p:nvSpPr>
          <p:cNvPr id="9" name="Text 6"/>
          <p:cNvSpPr/>
          <p:nvPr/>
        </p:nvSpPr>
        <p:spPr>
          <a:xfrm>
            <a:off x="1508760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Voiceover controls camera motion; music controls focus.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6400800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660904"/>
            <a:ext cx="530352" cy="530352"/>
          </a:xfrm>
          <a:prstGeom prst="ellipse">
            <a:avLst/>
          </a:prstGeom>
          <a:solidFill>
            <a:srgbClr val="51D8B9">
              <a:alpha val="17000"/>
            </a:srgbClr>
          </a:solidFill>
          <a:ln w="12700">
            <a:solidFill>
              <a:srgbClr val="51D8B9">
                <a:alpha val="7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296912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both replace the need for visual storytelling.</a:t>
            </a:r>
            <a:endParaRPr lang="en-US" sz="1820" dirty="0"/>
          </a:p>
        </p:txBody>
      </p:sp>
      <p:sp>
        <p:nvSpPr>
          <p:cNvPr id="14" name="Shape 11"/>
          <p:cNvSpPr/>
          <p:nvPr/>
        </p:nvSpPr>
        <p:spPr>
          <a:xfrm>
            <a:off x="612648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4187952"/>
            <a:ext cx="530352" cy="530352"/>
          </a:xfrm>
          <a:prstGeom prst="ellipse">
            <a:avLst/>
          </a:prstGeom>
          <a:solidFill>
            <a:srgbClr val="51D8B9">
              <a:alpha val="17000"/>
            </a:srgbClr>
          </a:solidFill>
          <a:ln w="12700">
            <a:solidFill>
              <a:srgbClr val="51D8B9">
                <a:alpha val="7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40" dirty="0"/>
          </a:p>
        </p:txBody>
      </p:sp>
      <p:sp>
        <p:nvSpPr>
          <p:cNvPr id="17" name="Text 14"/>
          <p:cNvSpPr/>
          <p:nvPr/>
        </p:nvSpPr>
        <p:spPr>
          <a:xfrm>
            <a:off x="1508760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Voiceover communicates spoken information; music supports the mood.</a:t>
            </a:r>
            <a:endParaRPr lang="en-US" sz="1820" dirty="0"/>
          </a:p>
        </p:txBody>
      </p:sp>
      <p:sp>
        <p:nvSpPr>
          <p:cNvPr id="18" name="Shape 15"/>
          <p:cNvSpPr/>
          <p:nvPr/>
        </p:nvSpPr>
        <p:spPr>
          <a:xfrm>
            <a:off x="6400800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4187952"/>
            <a:ext cx="530352" cy="530352"/>
          </a:xfrm>
          <a:prstGeom prst="ellipse">
            <a:avLst/>
          </a:prstGeom>
          <a:solidFill>
            <a:srgbClr val="51D8B9">
              <a:alpha val="17000"/>
            </a:srgbClr>
          </a:solidFill>
          <a:ln w="12700">
            <a:solidFill>
              <a:srgbClr val="51D8B9">
                <a:alpha val="7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740" dirty="0"/>
          </a:p>
        </p:txBody>
      </p:sp>
      <p:sp>
        <p:nvSpPr>
          <p:cNvPr id="21" name="Text 18"/>
          <p:cNvSpPr/>
          <p:nvPr/>
        </p:nvSpPr>
        <p:spPr>
          <a:xfrm>
            <a:off x="7296912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music automatically verifies product claims.</a:t>
            </a:r>
            <a:endParaRPr lang="en-US" sz="1820" dirty="0"/>
          </a:p>
        </p:txBody>
      </p:sp>
      <p:sp>
        <p:nvSpPr>
          <p:cNvPr id="22" name="Text 19"/>
          <p:cNvSpPr/>
          <p:nvPr/>
        </p:nvSpPr>
        <p:spPr>
          <a:xfrm>
            <a:off x="676656" y="59070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qui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" y="484632"/>
            <a:ext cx="2743200" cy="292608"/>
          </a:xfrm>
          <a:prstGeom prst="roundRect">
            <a:avLst>
              <a:gd name="adj" fmla="val 31250"/>
            </a:avLst>
          </a:prstGeom>
          <a:solidFill>
            <a:srgbClr val="A8A0FE">
              <a:alpha val="18000"/>
            </a:srgbClr>
          </a:solidFill>
          <a:ln w="10160">
            <a:solidFill>
              <a:srgbClr val="A8A0FE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4944" y="553212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WITH AI   •   Q7 / 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85216" y="941832"/>
            <a:ext cx="11045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Q7. What should you do after an AI tool generates a task-planning app?</a:t>
            </a:r>
            <a:endParaRPr lang="en-US" sz="2970" dirty="0"/>
          </a:p>
        </p:txBody>
      </p:sp>
      <p:sp>
        <p:nvSpPr>
          <p:cNvPr id="6" name="Shape 3"/>
          <p:cNvSpPr/>
          <p:nvPr/>
        </p:nvSpPr>
        <p:spPr>
          <a:xfrm>
            <a:off x="612648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" y="2660904"/>
            <a:ext cx="530352" cy="530352"/>
          </a:xfrm>
          <a:prstGeom prst="ellipse">
            <a:avLst/>
          </a:prstGeom>
          <a:solidFill>
            <a:srgbClr val="A8A0FE">
              <a:alpha val="17000"/>
            </a:srgbClr>
          </a:solidFill>
          <a:ln w="12700">
            <a:solidFill>
              <a:srgbClr val="A8A0FE">
                <a:alpha val="7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40" dirty="0"/>
          </a:p>
        </p:txBody>
      </p:sp>
      <p:sp>
        <p:nvSpPr>
          <p:cNvPr id="9" name="Text 6"/>
          <p:cNvSpPr/>
          <p:nvPr/>
        </p:nvSpPr>
        <p:spPr>
          <a:xfrm>
            <a:off x="1508760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it immediately without using it.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6400800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660904"/>
            <a:ext cx="530352" cy="530352"/>
          </a:xfrm>
          <a:prstGeom prst="ellipse">
            <a:avLst/>
          </a:prstGeom>
          <a:solidFill>
            <a:srgbClr val="A8A0FE">
              <a:alpha val="17000"/>
            </a:srgbClr>
          </a:solidFill>
          <a:ln w="12700">
            <a:solidFill>
              <a:srgbClr val="A8A0FE">
                <a:alpha val="7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296912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key interactions, calculations and data handling.</a:t>
            </a:r>
            <a:endParaRPr lang="en-US" sz="1820" dirty="0"/>
          </a:p>
        </p:txBody>
      </p:sp>
      <p:sp>
        <p:nvSpPr>
          <p:cNvPr id="14" name="Shape 11"/>
          <p:cNvSpPr/>
          <p:nvPr/>
        </p:nvSpPr>
        <p:spPr>
          <a:xfrm>
            <a:off x="612648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4187952"/>
            <a:ext cx="530352" cy="530352"/>
          </a:xfrm>
          <a:prstGeom prst="ellipse">
            <a:avLst/>
          </a:prstGeom>
          <a:solidFill>
            <a:srgbClr val="A8A0FE">
              <a:alpha val="17000"/>
            </a:srgbClr>
          </a:solidFill>
          <a:ln w="12700">
            <a:solidFill>
              <a:srgbClr val="A8A0FE">
                <a:alpha val="7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40" dirty="0"/>
          </a:p>
        </p:txBody>
      </p:sp>
      <p:sp>
        <p:nvSpPr>
          <p:cNvPr id="17" name="Text 14"/>
          <p:cNvSpPr/>
          <p:nvPr/>
        </p:nvSpPr>
        <p:spPr>
          <a:xfrm>
            <a:off x="1508760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input validation to make it simpler.</a:t>
            </a:r>
            <a:endParaRPr lang="en-US" sz="1820" dirty="0"/>
          </a:p>
        </p:txBody>
      </p:sp>
      <p:sp>
        <p:nvSpPr>
          <p:cNvPr id="18" name="Shape 15"/>
          <p:cNvSpPr/>
          <p:nvPr/>
        </p:nvSpPr>
        <p:spPr>
          <a:xfrm>
            <a:off x="6400800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4187952"/>
            <a:ext cx="530352" cy="530352"/>
          </a:xfrm>
          <a:prstGeom prst="ellipse">
            <a:avLst/>
          </a:prstGeom>
          <a:solidFill>
            <a:srgbClr val="A8A0FE">
              <a:alpha val="17000"/>
            </a:srgbClr>
          </a:solidFill>
          <a:ln w="12700">
            <a:solidFill>
              <a:srgbClr val="A8A0FE">
                <a:alpha val="7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740" dirty="0"/>
          </a:p>
        </p:txBody>
      </p:sp>
      <p:sp>
        <p:nvSpPr>
          <p:cNvPr id="21" name="Text 18"/>
          <p:cNvSpPr/>
          <p:nvPr/>
        </p:nvSpPr>
        <p:spPr>
          <a:xfrm>
            <a:off x="7296912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requesting improvements to the design.</a:t>
            </a:r>
            <a:endParaRPr lang="en-US" sz="1820" dirty="0"/>
          </a:p>
        </p:txBody>
      </p:sp>
      <p:sp>
        <p:nvSpPr>
          <p:cNvPr id="22" name="Text 19"/>
          <p:cNvSpPr/>
          <p:nvPr/>
        </p:nvSpPr>
        <p:spPr>
          <a:xfrm>
            <a:off x="676656" y="59070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qui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" y="484632"/>
            <a:ext cx="2743200" cy="292608"/>
          </a:xfrm>
          <a:prstGeom prst="roundRect">
            <a:avLst>
              <a:gd name="adj" fmla="val 31250"/>
            </a:avLst>
          </a:prstGeom>
          <a:solidFill>
            <a:srgbClr val="F3C56B">
              <a:alpha val="18000"/>
            </a:srgbClr>
          </a:solidFill>
          <a:ln w="10160">
            <a:solidFill>
              <a:srgbClr val="F3C56B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4944" y="553212"/>
            <a:ext cx="2514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AI   •   Q8 / 8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85216" y="941832"/>
            <a:ext cx="11045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Q8. Which choice best demonstrates responsible AI use?</a:t>
            </a:r>
            <a:endParaRPr lang="en-US" sz="2970" dirty="0"/>
          </a:p>
        </p:txBody>
      </p:sp>
      <p:sp>
        <p:nvSpPr>
          <p:cNvPr id="6" name="Shape 3"/>
          <p:cNvSpPr/>
          <p:nvPr/>
        </p:nvSpPr>
        <p:spPr>
          <a:xfrm>
            <a:off x="612648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" y="2660904"/>
            <a:ext cx="530352" cy="530352"/>
          </a:xfrm>
          <a:prstGeom prst="ellipse">
            <a:avLst/>
          </a:prstGeom>
          <a:solidFill>
            <a:srgbClr val="F3C56B">
              <a:alpha val="17000"/>
            </a:srgbClr>
          </a:solidFill>
          <a:ln w="12700">
            <a:solidFill>
              <a:srgbClr val="F3C56B">
                <a:alpha val="7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740" dirty="0"/>
          </a:p>
        </p:txBody>
      </p:sp>
      <p:sp>
        <p:nvSpPr>
          <p:cNvPr id="9" name="Text 6"/>
          <p:cNvSpPr/>
          <p:nvPr/>
        </p:nvSpPr>
        <p:spPr>
          <a:xfrm>
            <a:off x="1508760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Sharing passwords to get more personalised answers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6400800" y="2331720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660904"/>
            <a:ext cx="530352" cy="530352"/>
          </a:xfrm>
          <a:prstGeom prst="ellipse">
            <a:avLst/>
          </a:prstGeom>
          <a:solidFill>
            <a:srgbClr val="F3C56B">
              <a:alpha val="17000"/>
            </a:srgbClr>
          </a:solidFill>
          <a:ln w="12700">
            <a:solidFill>
              <a:srgbClr val="F3C56B">
                <a:alpha val="72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7752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740" dirty="0"/>
          </a:p>
        </p:txBody>
      </p:sp>
      <p:sp>
        <p:nvSpPr>
          <p:cNvPr id="13" name="Text 10"/>
          <p:cNvSpPr/>
          <p:nvPr/>
        </p:nvSpPr>
        <p:spPr>
          <a:xfrm>
            <a:off x="7296912" y="2569464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Publishing generated claims without checking them</a:t>
            </a:r>
            <a:endParaRPr lang="en-US" sz="1820" dirty="0"/>
          </a:p>
        </p:txBody>
      </p:sp>
      <p:sp>
        <p:nvSpPr>
          <p:cNvPr id="14" name="Shape 11"/>
          <p:cNvSpPr/>
          <p:nvPr/>
        </p:nvSpPr>
        <p:spPr>
          <a:xfrm>
            <a:off x="612648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" y="4187952"/>
            <a:ext cx="530352" cy="530352"/>
          </a:xfrm>
          <a:prstGeom prst="ellipse">
            <a:avLst/>
          </a:prstGeom>
          <a:solidFill>
            <a:srgbClr val="F3C56B">
              <a:alpha val="17000"/>
            </a:srgbClr>
          </a:solidFill>
          <a:ln w="12700">
            <a:solidFill>
              <a:srgbClr val="F3C56B">
                <a:alpha val="72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5256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740" dirty="0"/>
          </a:p>
        </p:txBody>
      </p:sp>
      <p:sp>
        <p:nvSpPr>
          <p:cNvPr id="17" name="Text 14"/>
          <p:cNvSpPr/>
          <p:nvPr/>
        </p:nvSpPr>
        <p:spPr>
          <a:xfrm>
            <a:off x="1508760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Uploading confidential information to every AI tool</a:t>
            </a:r>
            <a:endParaRPr lang="en-US" sz="1820" dirty="0"/>
          </a:p>
        </p:txBody>
      </p:sp>
      <p:sp>
        <p:nvSpPr>
          <p:cNvPr id="18" name="Shape 15"/>
          <p:cNvSpPr/>
          <p:nvPr/>
        </p:nvSpPr>
        <p:spPr>
          <a:xfrm>
            <a:off x="6400800" y="3858768"/>
            <a:ext cx="5522976" cy="1234440"/>
          </a:xfrm>
          <a:prstGeom prst="roundRect">
            <a:avLst/>
          </a:prstGeom>
          <a:solidFill>
            <a:srgbClr val="142C51">
              <a:alpha val="91000"/>
            </a:srgbClr>
          </a:solidFill>
          <a:ln w="12700">
            <a:solidFill>
              <a:srgbClr val="43749A">
                <a:alpha val="47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4187952"/>
            <a:ext cx="530352" cy="530352"/>
          </a:xfrm>
          <a:prstGeom prst="ellipse">
            <a:avLst/>
          </a:prstGeom>
          <a:solidFill>
            <a:srgbClr val="F3C56B">
              <a:alpha val="17000"/>
            </a:srgbClr>
          </a:solidFill>
          <a:ln w="12700">
            <a:solidFill>
              <a:srgbClr val="F3C56B">
                <a:alpha val="7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4302252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740" dirty="0"/>
          </a:p>
        </p:txBody>
      </p:sp>
      <p:sp>
        <p:nvSpPr>
          <p:cNvPr id="21" name="Text 18"/>
          <p:cNvSpPr/>
          <p:nvPr/>
        </p:nvSpPr>
        <p:spPr>
          <a:xfrm>
            <a:off x="7296912" y="4096512"/>
            <a:ext cx="43891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Verifying outputs and protecting private or sensitive information</a:t>
            </a:r>
            <a:endParaRPr lang="en-US" sz="1820" dirty="0"/>
          </a:p>
        </p:txBody>
      </p:sp>
      <p:sp>
        <p:nvSpPr>
          <p:cNvPr id="22" name="Text 19"/>
          <p:cNvSpPr/>
          <p:nvPr/>
        </p:nvSpPr>
        <p:spPr>
          <a:xfrm>
            <a:off x="676656" y="59070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70" kern="0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BEST ANSWER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pl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072" y="493776"/>
            <a:ext cx="1880006" cy="292608"/>
          </a:xfrm>
          <a:prstGeom prst="roundRect">
            <a:avLst>
              <a:gd name="adj" fmla="val 31250"/>
            </a:avLst>
          </a:prstGeom>
          <a:solidFill>
            <a:srgbClr val="49D3E1">
              <a:alpha val="18000"/>
            </a:srgbClr>
          </a:solidFill>
          <a:ln w="10160">
            <a:solidFill>
              <a:srgbClr val="49D3E1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562356"/>
            <a:ext cx="16514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VOICE MATTERS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941832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make the next session even better.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713232" y="2304288"/>
            <a:ext cx="3520440" cy="1828800"/>
          </a:xfrm>
          <a:prstGeom prst="roundRect">
            <a:avLst/>
          </a:prstGeom>
          <a:solidFill>
            <a:srgbClr val="142C51">
              <a:alpha val="87000"/>
            </a:srgbClr>
          </a:solidFill>
          <a:ln w="12700">
            <a:solidFill>
              <a:srgbClr val="49D3E1">
                <a:alpha val="4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78408" y="25968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78408" y="3172968"/>
            <a:ext cx="2944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most useful?</a:t>
            </a:r>
            <a:endParaRPr lang="en-US" sz="2170" dirty="0"/>
          </a:p>
        </p:txBody>
      </p:sp>
      <p:sp>
        <p:nvSpPr>
          <p:cNvPr id="9" name="Shape 6"/>
          <p:cNvSpPr/>
          <p:nvPr/>
        </p:nvSpPr>
        <p:spPr>
          <a:xfrm>
            <a:off x="4544568" y="2304288"/>
            <a:ext cx="3520440" cy="1828800"/>
          </a:xfrm>
          <a:prstGeom prst="roundRect">
            <a:avLst/>
          </a:prstGeom>
          <a:solidFill>
            <a:srgbClr val="142C51">
              <a:alpha val="87000"/>
            </a:srgbClr>
          </a:solidFill>
          <a:ln w="12700">
            <a:solidFill>
              <a:srgbClr val="51D8B9">
                <a:alpha val="4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9744" y="25968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809744" y="3172968"/>
            <a:ext cx="2944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confident do you feel?</a:t>
            </a:r>
            <a:endParaRPr lang="en-US" sz="2170" dirty="0"/>
          </a:p>
        </p:txBody>
      </p:sp>
      <p:sp>
        <p:nvSpPr>
          <p:cNvPr id="12" name="Shape 9"/>
          <p:cNvSpPr/>
          <p:nvPr/>
        </p:nvSpPr>
        <p:spPr>
          <a:xfrm>
            <a:off x="8375904" y="2304288"/>
            <a:ext cx="3520440" cy="1828800"/>
          </a:xfrm>
          <a:prstGeom prst="roundRect">
            <a:avLst/>
          </a:prstGeom>
          <a:solidFill>
            <a:srgbClr val="142C51">
              <a:alpha val="87000"/>
            </a:srgbClr>
          </a:solidFill>
          <a:ln w="12700">
            <a:solidFill>
              <a:srgbClr val="A8A0FE">
                <a:alpha val="4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0" y="25968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A8A0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641080" y="3172968"/>
            <a:ext cx="2944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7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we improve?</a:t>
            </a:r>
            <a:endParaRPr lang="en-US" sz="2170" dirty="0"/>
          </a:p>
        </p:txBody>
      </p:sp>
      <p:sp>
        <p:nvSpPr>
          <p:cNvPr id="15" name="Shape 12"/>
          <p:cNvSpPr/>
          <p:nvPr/>
        </p:nvSpPr>
        <p:spPr>
          <a:xfrm>
            <a:off x="749808" y="4736592"/>
            <a:ext cx="10698480" cy="585216"/>
          </a:xfrm>
          <a:prstGeom prst="roundRect">
            <a:avLst/>
          </a:prstGeom>
          <a:solidFill>
            <a:srgbClr val="173C64">
              <a:alpha val="90000"/>
            </a:srgbClr>
          </a:solidFill>
          <a:ln w="12700">
            <a:solidFill>
              <a:srgbClr val="49D3E1">
                <a:alpha val="27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93776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feedback form shared by your organiser. Responses help improve future programmes.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pl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6072" y="493776"/>
            <a:ext cx="1880006" cy="292608"/>
          </a:xfrm>
          <a:prstGeom prst="roundRect">
            <a:avLst>
              <a:gd name="adj" fmla="val 31250"/>
            </a:avLst>
          </a:prstGeom>
          <a:solidFill>
            <a:srgbClr val="49D3E1">
              <a:alpha val="18000"/>
            </a:srgbClr>
          </a:solidFill>
          <a:ln w="10160">
            <a:solidFill>
              <a:srgbClr val="49D3E1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562356"/>
            <a:ext cx="165140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NEXT?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66928" y="941832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small habits. Meaningful progress.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731520" y="2176272"/>
            <a:ext cx="3483864" cy="2615184"/>
          </a:xfrm>
          <a:prstGeom prst="roundRect">
            <a:avLst/>
          </a:prstGeom>
          <a:solidFill>
            <a:srgbClr val="142C51">
              <a:alpha val="88000"/>
            </a:srgbClr>
          </a:solidFill>
          <a:ln w="12700">
            <a:solidFill>
              <a:srgbClr val="49D3E1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24505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1024128" y="305409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24128" y="3776472"/>
            <a:ext cx="2889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task and experiment with an AI tool.</a:t>
            </a:r>
            <a:endParaRPr lang="en-US" sz="1730" dirty="0"/>
          </a:p>
        </p:txBody>
      </p:sp>
      <p:sp>
        <p:nvSpPr>
          <p:cNvPr id="10" name="Shape 7"/>
          <p:cNvSpPr/>
          <p:nvPr/>
        </p:nvSpPr>
        <p:spPr>
          <a:xfrm>
            <a:off x="4535424" y="2176272"/>
            <a:ext cx="3483864" cy="2615184"/>
          </a:xfrm>
          <a:prstGeom prst="roundRect">
            <a:avLst/>
          </a:prstGeom>
          <a:solidFill>
            <a:srgbClr val="142C51">
              <a:alpha val="88000"/>
            </a:srgbClr>
          </a:solidFill>
          <a:ln w="12700">
            <a:solidFill>
              <a:srgbClr val="51D8B9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8032" y="24505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1D8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4828032" y="305409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828032" y="3776472"/>
            <a:ext cx="2889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important claims against trusted sources.</a:t>
            </a:r>
            <a:endParaRPr lang="en-US" sz="1730" dirty="0"/>
          </a:p>
        </p:txBody>
      </p:sp>
      <p:sp>
        <p:nvSpPr>
          <p:cNvPr id="14" name="Shape 11"/>
          <p:cNvSpPr/>
          <p:nvPr/>
        </p:nvSpPr>
        <p:spPr>
          <a:xfrm>
            <a:off x="8339328" y="2176272"/>
            <a:ext cx="3483864" cy="2615184"/>
          </a:xfrm>
          <a:prstGeom prst="roundRect">
            <a:avLst/>
          </a:prstGeom>
          <a:solidFill>
            <a:srgbClr val="142C51">
              <a:alpha val="88000"/>
            </a:srgbClr>
          </a:solidFill>
          <a:ln w="12700">
            <a:solidFill>
              <a:srgbClr val="F3C56B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31936" y="24505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3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8631936" y="305409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631936" y="3776472"/>
            <a:ext cx="2889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your prompt, test the result and try again.</a:t>
            </a:r>
            <a:endParaRPr lang="en-US" sz="173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37392" cy="0"/>
          </a:xfrm>
          <a:prstGeom prst="line">
            <a:avLst/>
          </a:prstGeom>
          <a:noFill/>
          <a:ln w="8890">
            <a:solidFill>
              <a:srgbClr val="345477">
                <a:alpha val="6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6528816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spc="200" kern="0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   •   LEARN  /  CREATE  /  BUILD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11082528" y="64968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1C4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6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module5_work/bg_cl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777240"/>
            <a:ext cx="1892808" cy="292608"/>
          </a:xfrm>
          <a:prstGeom prst="roundRect">
            <a:avLst>
              <a:gd name="adj" fmla="val 31250"/>
            </a:avLst>
          </a:prstGeom>
          <a:solidFill>
            <a:srgbClr val="49D3E1">
              <a:alpha val="18000"/>
            </a:srgbClr>
          </a:solidFill>
          <a:ln w="10160">
            <a:solidFill>
              <a:srgbClr val="49D3E1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95528" y="845820"/>
            <a:ext cx="1664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15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ACTION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7512" y="1527048"/>
            <a:ext cx="822960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Learning.</a:t>
            </a:r>
            <a:endParaRPr lang="en-US" sz="4700" dirty="0"/>
          </a:p>
          <a:p>
            <a:pPr indent="0" marL="0">
              <a:buNone/>
            </a:pPr>
            <a:r>
              <a:rPr lang="en-US" sz="47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Creating.</a:t>
            </a:r>
            <a:endParaRPr lang="en-US" sz="4700" dirty="0"/>
          </a:p>
          <a:p>
            <a:pPr indent="0" marL="0">
              <a:buNone/>
            </a:pPr>
            <a:r>
              <a:rPr lang="en-US" sz="47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Building.</a:t>
            </a:r>
            <a:endParaRPr lang="en-US" sz="4700" dirty="0"/>
          </a:p>
        </p:txBody>
      </p:sp>
      <p:sp>
        <p:nvSpPr>
          <p:cNvPr id="6" name="Shape 3"/>
          <p:cNvSpPr/>
          <p:nvPr/>
        </p:nvSpPr>
        <p:spPr>
          <a:xfrm>
            <a:off x="713232" y="4709160"/>
            <a:ext cx="6903720" cy="0"/>
          </a:xfrm>
          <a:prstGeom prst="line">
            <a:avLst/>
          </a:prstGeom>
          <a:noFill/>
          <a:ln w="27940">
            <a:solidFill>
              <a:srgbClr val="49D3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" y="4965192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D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real power of AI lies in your curiosity, creativity and judgement.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3232" y="6007608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spc="180" kern="0" dirty="0">
                <a:solidFill>
                  <a:srgbClr val="49D3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YOU!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AI Journey Starts Here</dc:title>
  <dc:subject>Reusable Module 5 audience and facilitator materials</dc:subject>
  <dc:creator>AI in Action — Learning Workshop</dc:creator>
  <cp:lastModifiedBy>AI in Action — Learning Workshop</cp:lastModifiedBy>
  <cp:revision>1</cp:revision>
  <dcterms:created xsi:type="dcterms:W3CDTF">2026-10-22T03:42:01Z</dcterms:created>
  <dcterms:modified xsi:type="dcterms:W3CDTF">2026-10-22T03:42:01Z</dcterms:modified>
</cp:coreProperties>
</file>